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421" r:id="rId2"/>
    <p:sldId id="422" r:id="rId3"/>
    <p:sldId id="451" r:id="rId4"/>
    <p:sldId id="452" r:id="rId5"/>
    <p:sldId id="425" r:id="rId6"/>
    <p:sldId id="426" r:id="rId7"/>
    <p:sldId id="427" r:id="rId8"/>
    <p:sldId id="453" r:id="rId9"/>
    <p:sldId id="454" r:id="rId10"/>
    <p:sldId id="455" r:id="rId11"/>
    <p:sldId id="456" r:id="rId12"/>
    <p:sldId id="457" r:id="rId13"/>
    <p:sldId id="458" r:id="rId14"/>
    <p:sldId id="459" r:id="rId15"/>
    <p:sldId id="435"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43170" autoAdjust="0"/>
  </p:normalViewPr>
  <p:slideViewPr>
    <p:cSldViewPr snapToGrid="0">
      <p:cViewPr varScale="1">
        <p:scale>
          <a:sx n="36" d="100"/>
          <a:sy n="36" d="100"/>
        </p:scale>
        <p:origin x="2232" y="29"/>
      </p:cViewPr>
      <p:guideLst/>
    </p:cSldViewPr>
  </p:slideViewPr>
  <p:notesTextViewPr>
    <p:cViewPr>
      <p:scale>
        <a:sx n="1" d="1"/>
        <a:sy n="1" d="1"/>
      </p:scale>
      <p:origin x="0" y="0"/>
    </p:cViewPr>
  </p:notesTextViewPr>
  <p:sorterViewPr>
    <p:cViewPr>
      <p:scale>
        <a:sx n="100" d="100"/>
        <a:sy n="100" d="100"/>
      </p:scale>
      <p:origin x="0" y="-571"/>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615BC-7A88-4D83-9F2B-20CCFE4900C9}" type="datetimeFigureOut">
              <a:rPr lang="it-IT" smtClean="0"/>
              <a:t>10/09/2026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647BF3-C0E8-4726-9F4E-958B9BCA2232}" type="slidenum">
              <a:rPr lang="it-IT" smtClean="0"/>
              <a:t>‹N›</a:t>
            </a:fld>
            <a:endParaRPr lang="it-IT"/>
          </a:p>
        </p:txBody>
      </p:sp>
    </p:spTree>
    <p:extLst>
      <p:ext uri="{BB962C8B-B14F-4D97-AF65-F5344CB8AC3E}">
        <p14:creationId xmlns:p14="http://schemas.microsoft.com/office/powerpoint/2010/main" val="832752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Buongiorno a tutti. Sono Dylan Magliano e vi presento la mia tesi, intitolata “Dai pixel ai portafogli finanziari: generare scenari di mercato realistici tramite variational </a:t>
            </a:r>
            <a:r>
              <a:rPr lang="it-IT" dirty="0" err="1"/>
              <a:t>autoencoder</a:t>
            </a:r>
            <a:r>
              <a:rPr lang="it-IT" dirty="0"/>
              <a:t>”, svolta in collaborazione con Intesa Sanpaolo, con il professor Flavio Giobergia come relatore e i dottori Sergio Caprioli ed Emanuele Cagliero come correlatori.</a:t>
            </a:r>
          </a:p>
          <a:p>
            <a:endParaRPr lang="it-IT" dirty="0"/>
          </a:p>
          <a:p>
            <a:r>
              <a:rPr lang="it-IT" dirty="0"/>
              <a:t>L’idea è già nel titolo: prendere una famiglia di modelli nata per generare immagini, i variational autoencoder, e applicarla alle matrici di correlazione dei mercati finanziari.</a:t>
            </a:r>
          </a:p>
        </p:txBody>
      </p:sp>
      <p:sp>
        <p:nvSpPr>
          <p:cNvPr id="4" name="Segnaposto numero diapositiva 3"/>
          <p:cNvSpPr>
            <a:spLocks noGrp="1"/>
          </p:cNvSpPr>
          <p:nvPr>
            <p:ph type="sldNum" sz="quarter" idx="5"/>
          </p:nvPr>
        </p:nvSpPr>
        <p:spPr/>
        <p:txBody>
          <a:bodyPr/>
          <a:lstStyle/>
          <a:p>
            <a:fld id="{D9647BF3-C0E8-4726-9F4E-958B9BCA2232}" type="slidenum">
              <a:rPr lang="it-IT" smtClean="0"/>
              <a:t>1</a:t>
            </a:fld>
            <a:endParaRPr lang="it-IT"/>
          </a:p>
        </p:txBody>
      </p:sp>
    </p:spTree>
    <p:extLst>
      <p:ext uri="{BB962C8B-B14F-4D97-AF65-F5344CB8AC3E}">
        <p14:creationId xmlns:p14="http://schemas.microsoft.com/office/powerpoint/2010/main" val="2038533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Seguirò dunque questo indice. </a:t>
            </a:r>
          </a:p>
          <a:p>
            <a:endParaRPr lang="it-IT" dirty="0"/>
          </a:p>
          <a:p>
            <a:r>
              <a:rPr lang="it-IT" dirty="0"/>
              <a:t>Partirò dal problema e dalla definizione dell’obiettivo, descriverò poi la matrice di correlazione finanziaria e le sue proprietà. </a:t>
            </a:r>
          </a:p>
          <a:p>
            <a:endParaRPr lang="it-IT" dirty="0"/>
          </a:p>
          <a:p>
            <a:r>
              <a:rPr lang="it-IT" dirty="0"/>
              <a:t>Parlerò poi del dataset e del </a:t>
            </a:r>
            <a:r>
              <a:rPr lang="it-IT" dirty="0" err="1"/>
              <a:t>pre</a:t>
            </a:r>
            <a:r>
              <a:rPr lang="it-IT" dirty="0"/>
              <a:t>-processing applicato, passerò poi al confronto tra i modelli ricostruttivi analizzati e alla generazione di scenari sintetici tramite VAE. </a:t>
            </a:r>
          </a:p>
          <a:p>
            <a:endParaRPr lang="it-IT" dirty="0"/>
          </a:p>
          <a:p>
            <a:r>
              <a:rPr lang="it-IT" dirty="0"/>
              <a:t>Chiuderò infine con validazione dei risultati, limiti e conclusioni del mio lavoro.</a:t>
            </a:r>
          </a:p>
        </p:txBody>
      </p:sp>
      <p:sp>
        <p:nvSpPr>
          <p:cNvPr id="4" name="Segnaposto numero diapositiva 3"/>
          <p:cNvSpPr>
            <a:spLocks noGrp="1"/>
          </p:cNvSpPr>
          <p:nvPr>
            <p:ph type="sldNum" sz="quarter" idx="5"/>
          </p:nvPr>
        </p:nvSpPr>
        <p:spPr/>
        <p:txBody>
          <a:bodyPr/>
          <a:lstStyle/>
          <a:p>
            <a:fld id="{D9647BF3-C0E8-4726-9F4E-958B9BCA2232}" type="slidenum">
              <a:rPr lang="it-IT" smtClean="0"/>
              <a:t>2</a:t>
            </a:fld>
            <a:endParaRPr lang="it-IT"/>
          </a:p>
        </p:txBody>
      </p:sp>
    </p:spTree>
    <p:extLst>
      <p:ext uri="{BB962C8B-B14F-4D97-AF65-F5344CB8AC3E}">
        <p14:creationId xmlns:p14="http://schemas.microsoft.com/office/powerpoint/2010/main" val="2327486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Bene, da Markowitz sappiamo che il rischio di un portafoglio non dipende solo dai rendimenti dei singoli titoli, ma da come si muovono insieme: cioè dalla matrice di correlazione.</a:t>
            </a:r>
          </a:p>
          <a:p>
            <a:endParaRPr lang="it-IT" dirty="0"/>
          </a:p>
          <a:p>
            <a:r>
              <a:rPr lang="it-IT" dirty="0"/>
              <a:t>Questa matrice, però, pone tre problemi. </a:t>
            </a:r>
          </a:p>
          <a:p>
            <a:endParaRPr lang="it-IT" dirty="0"/>
          </a:p>
          <a:p>
            <a:r>
              <a:rPr lang="it-IT" dirty="0"/>
              <a:t>In primo luogo è una stima rumorosa; infatti quando il numero di titoli è paragonabile alla lunghezza della serie storica dei rendimenti, lo spettro degli autovalori si distorce. </a:t>
            </a:r>
          </a:p>
          <a:p>
            <a:r>
              <a:rPr lang="it-IT" dirty="0"/>
              <a:t>In secondo luogo la storia ci consegna una sola traiettoria e nasconde configurazioni plausibili ma mai realizzate. </a:t>
            </a:r>
          </a:p>
          <a:p>
            <a:r>
              <a:rPr lang="it-IT" dirty="0"/>
              <a:t>Infine i Monte Carlo tradizionali usano un’unica matrice fissa, mentre, come sappiamo, le correlazioni cambiano in base ai regimi di mercato.</a:t>
            </a:r>
          </a:p>
          <a:p>
            <a:endParaRPr lang="it-IT" dirty="0"/>
          </a:p>
          <a:p>
            <a:r>
              <a:rPr lang="en-US" sz="1200" kern="1200" dirty="0">
                <a:solidFill>
                  <a:schemeClr val="tx1"/>
                </a:solidFill>
                <a:effectLst/>
                <a:latin typeface="+mn-lt"/>
                <a:ea typeface="+mn-ea"/>
                <a:cs typeface="+mn-cs"/>
              </a:rPr>
              <a:t>Da qui </a:t>
            </a:r>
            <a:r>
              <a:rPr lang="en-US" sz="1200" kern="1200" dirty="0" err="1">
                <a:solidFill>
                  <a:schemeClr val="tx1"/>
                </a:solidFill>
                <a:effectLst/>
                <a:latin typeface="+mn-lt"/>
                <a:ea typeface="+mn-ea"/>
                <a:cs typeface="+mn-cs"/>
              </a:rPr>
              <a:t>nasce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l'obiettivo</a:t>
            </a:r>
            <a:r>
              <a:rPr lang="en-US" sz="1200" kern="1200" dirty="0">
                <a:solidFill>
                  <a:schemeClr val="tx1"/>
                </a:solidFill>
                <a:effectLst/>
                <a:latin typeface="+mn-lt"/>
                <a:ea typeface="+mn-ea"/>
                <a:cs typeface="+mn-cs"/>
              </a:rPr>
              <a:t> della </a:t>
            </a:r>
            <a:r>
              <a:rPr lang="en-US" sz="1200" kern="1200" dirty="0" err="1">
                <a:solidFill>
                  <a:schemeClr val="tx1"/>
                </a:solidFill>
                <a:effectLst/>
                <a:latin typeface="+mn-lt"/>
                <a:ea typeface="+mn-ea"/>
                <a:cs typeface="+mn-cs"/>
              </a:rPr>
              <a:t>tesi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generare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distribuzione</a:t>
            </a:r>
            <a:r>
              <a:rPr lang="en-US" sz="1200" kern="1200" dirty="0">
                <a:solidFill>
                  <a:schemeClr val="tx1"/>
                </a:solidFill>
                <a:effectLst/>
                <a:latin typeface="+mn-lt"/>
                <a:ea typeface="+mn-ea"/>
                <a:cs typeface="+mn-cs"/>
              </a:rPr>
              <a:t> di </a:t>
            </a:r>
            <a:r>
              <a:rPr lang="en-US" sz="1200" kern="1200" dirty="0" err="1">
                <a:solidFill>
                  <a:schemeClr val="tx1"/>
                </a:solidFill>
                <a:effectLst/>
                <a:latin typeface="+mn-lt"/>
                <a:ea typeface="+mn-ea"/>
                <a:cs typeface="+mn-cs"/>
              </a:rPr>
              <a:t>scenari</a:t>
            </a:r>
            <a:r>
              <a:rPr lang="en-US" sz="1200" kern="1200" dirty="0">
                <a:solidFill>
                  <a:schemeClr val="tx1"/>
                </a:solidFill>
                <a:effectLst/>
                <a:latin typeface="+mn-lt"/>
                <a:ea typeface="+mn-ea"/>
                <a:cs typeface="+mn-cs"/>
              </a:rPr>
              <a:t> di </a:t>
            </a:r>
            <a:r>
              <a:rPr lang="en-US" sz="1200" kern="1200" dirty="0" err="1">
                <a:solidFill>
                  <a:schemeClr val="tx1"/>
                </a:solidFill>
                <a:effectLst/>
                <a:latin typeface="+mn-lt"/>
                <a:ea typeface="+mn-ea"/>
                <a:cs typeface="+mn-cs"/>
              </a:rPr>
              <a:t>correlazione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sintetici</a:t>
            </a:r>
            <a:r>
              <a:rPr lang="en-US" sz="1200" kern="1200" dirty="0">
                <a:solidFill>
                  <a:schemeClr val="tx1"/>
                </a:solidFill>
                <a:effectLst/>
                <a:latin typeface="+mn-lt"/>
                <a:ea typeface="+mn-ea"/>
                <a:cs typeface="+mn-cs"/>
              </a:rPr>
              <a:t> ma </a:t>
            </a:r>
            <a:r>
              <a:rPr lang="en-US" sz="1200" kern="1200" dirty="0" err="1">
                <a:solidFill>
                  <a:schemeClr val="tx1"/>
                </a:solidFill>
                <a:effectLst/>
                <a:latin typeface="+mn-lt"/>
                <a:ea typeface="+mn-ea"/>
                <a:cs typeface="+mn-cs"/>
              </a:rPr>
              <a:t>realistici</a:t>
            </a:r>
            <a:r>
              <a:rPr lang="en-US" sz="1200" kern="1200" dirty="0">
                <a:solidFill>
                  <a:schemeClr val="tx1"/>
                </a:solidFill>
                <a:effectLst/>
                <a:latin typeface="+mn-lt"/>
                <a:ea typeface="+mn-ea"/>
                <a:cs typeface="+mn-cs"/>
              </a:rPr>
              <a:t>, a un </a:t>
            </a:r>
            <a:r>
              <a:rPr lang="en-US" sz="1200" kern="1200" dirty="0" err="1">
                <a:solidFill>
                  <a:schemeClr val="tx1"/>
                </a:solidFill>
                <a:effectLst/>
                <a:latin typeface="+mn-lt"/>
                <a:ea typeface="+mn-ea"/>
                <a:cs typeface="+mn-cs"/>
              </a:rPr>
              <a:t>orizzonte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nominale</a:t>
            </a:r>
            <a:r>
              <a:rPr lang="en-US" sz="1200" kern="1200" dirty="0">
                <a:solidFill>
                  <a:schemeClr val="tx1"/>
                </a:solidFill>
                <a:effectLst/>
                <a:latin typeface="+mn-lt"/>
                <a:ea typeface="+mn-ea"/>
                <a:cs typeface="+mn-cs"/>
              </a:rPr>
              <a:t> di 21 </a:t>
            </a:r>
            <a:r>
              <a:rPr lang="en-US" sz="1200" kern="1200" dirty="0" err="1">
                <a:solidFill>
                  <a:schemeClr val="tx1"/>
                </a:solidFill>
                <a:effectLst/>
                <a:latin typeface="+mn-lt"/>
                <a:ea typeface="+mn-ea"/>
                <a:cs typeface="+mn-cs"/>
              </a:rPr>
              <a:t>giorni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lavorativi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ricampionando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transizioni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storiche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dello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spazio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latente</a:t>
            </a:r>
            <a:r>
              <a:rPr lang="en-US" sz="1200" kern="1200" dirty="0">
                <a:solidFill>
                  <a:schemeClr val="tx1"/>
                </a:solidFill>
                <a:effectLst/>
                <a:latin typeface="+mn-lt"/>
                <a:ea typeface="+mn-ea"/>
                <a:cs typeface="+mn-cs"/>
              </a:rPr>
              <a:t> di un VAE,</a:t>
            </a:r>
          </a:p>
        </p:txBody>
      </p:sp>
      <p:sp>
        <p:nvSpPr>
          <p:cNvPr id="4" name="Segnaposto numero diapositiva 3"/>
          <p:cNvSpPr>
            <a:spLocks noGrp="1"/>
          </p:cNvSpPr>
          <p:nvPr>
            <p:ph type="sldNum" sz="quarter" idx="5"/>
          </p:nvPr>
        </p:nvSpPr>
        <p:spPr/>
        <p:txBody>
          <a:bodyPr/>
          <a:lstStyle/>
          <a:p>
            <a:fld id="{D9647BF3-C0E8-4726-9F4E-958B9BCA2232}" type="slidenum">
              <a:rPr lang="it-IT" smtClean="0"/>
              <a:t>3</a:t>
            </a:fld>
            <a:endParaRPr lang="it-IT"/>
          </a:p>
        </p:txBody>
      </p:sp>
    </p:spTree>
    <p:extLst>
      <p:ext uri="{BB962C8B-B14F-4D97-AF65-F5344CB8AC3E}">
        <p14:creationId xmlns:p14="http://schemas.microsoft.com/office/powerpoint/2010/main" val="4240134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kern="1200" dirty="0">
                <a:solidFill>
                  <a:schemeClr val="tx1"/>
                </a:solidFill>
                <a:effectLst/>
                <a:latin typeface="+mn-lt"/>
                <a:ea typeface="+mn-ea"/>
                <a:cs typeface="+mn-cs"/>
              </a:rPr>
              <a:t>Andiamo </a:t>
            </a:r>
            <a:r>
              <a:rPr lang="en-US" sz="1200" kern="1200" dirty="0" err="1">
                <a:solidFill>
                  <a:schemeClr val="tx1"/>
                </a:solidFill>
                <a:effectLst/>
                <a:latin typeface="+mn-lt"/>
                <a:ea typeface="+mn-ea"/>
                <a:cs typeface="+mn-cs"/>
              </a:rPr>
              <a:t>dunque</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capire</a:t>
            </a:r>
            <a:r>
              <a:rPr lang="en-US" sz="1200" kern="1200" dirty="0">
                <a:solidFill>
                  <a:schemeClr val="tx1"/>
                </a:solidFill>
                <a:effectLst/>
                <a:latin typeface="+mn-lt"/>
                <a:ea typeface="+mn-ea"/>
                <a:cs typeface="+mn-cs"/>
              </a:rPr>
              <a:t> come è </a:t>
            </a:r>
            <a:r>
              <a:rPr lang="en-US" sz="1200" kern="1200" dirty="0" err="1">
                <a:solidFill>
                  <a:schemeClr val="tx1"/>
                </a:solidFill>
                <a:effectLst/>
                <a:latin typeface="+mn-lt"/>
                <a:ea typeface="+mn-ea"/>
                <a:cs typeface="+mn-cs"/>
              </a:rPr>
              <a:t>fatta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matrice</a:t>
            </a:r>
            <a:r>
              <a:rPr lang="en-US" sz="1200" kern="1200" dirty="0">
                <a:solidFill>
                  <a:schemeClr val="tx1"/>
                </a:solidFill>
                <a:effectLst/>
                <a:latin typeface="+mn-lt"/>
                <a:ea typeface="+mn-ea"/>
                <a:cs typeface="+mn-cs"/>
              </a:rPr>
              <a:t> di </a:t>
            </a:r>
            <a:r>
              <a:rPr lang="en-US" sz="1200" kern="1200" dirty="0" err="1">
                <a:solidFill>
                  <a:schemeClr val="tx1"/>
                </a:solidFill>
                <a:effectLst/>
                <a:latin typeface="+mn-lt"/>
                <a:ea typeface="+mn-ea"/>
                <a:cs typeface="+mn-cs"/>
              </a:rPr>
              <a:t>correlazione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finanziaria</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 </a:t>
            </a:r>
            <a:r>
              <a:rPr lang="en-US" sz="1200" kern="1200" dirty="0" err="1">
                <a:solidFill>
                  <a:schemeClr val="tx1"/>
                </a:solidFill>
                <a:effectLst/>
                <a:latin typeface="+mn-lt"/>
                <a:ea typeface="+mn-ea"/>
                <a:cs typeface="+mn-cs"/>
              </a:rPr>
              <a:t>matrice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nasce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dalla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correlazione</a:t>
            </a:r>
            <a:r>
              <a:rPr lang="en-US" sz="1200" kern="1200" dirty="0">
                <a:solidFill>
                  <a:schemeClr val="tx1"/>
                </a:solidFill>
                <a:effectLst/>
                <a:latin typeface="+mn-lt"/>
                <a:ea typeface="+mn-ea"/>
                <a:cs typeface="+mn-cs"/>
              </a:rPr>
              <a:t> di Pearson </a:t>
            </a:r>
            <a:r>
              <a:rPr lang="en-US" sz="1200" kern="1200" dirty="0" err="1">
                <a:solidFill>
                  <a:schemeClr val="tx1"/>
                </a:solidFill>
                <a:effectLst/>
                <a:latin typeface="+mn-lt"/>
                <a:ea typeface="+mn-ea"/>
                <a:cs typeface="+mn-cs"/>
              </a:rPr>
              <a:t>calcolata</a:t>
            </a:r>
            <a:r>
              <a:rPr lang="en-US" sz="1200" kern="1200" dirty="0">
                <a:solidFill>
                  <a:schemeClr val="tx1"/>
                </a:solidFill>
                <a:effectLst/>
                <a:latin typeface="+mn-lt"/>
                <a:ea typeface="+mn-ea"/>
                <a:cs typeface="+mn-cs"/>
              </a:rPr>
              <a:t> sui </a:t>
            </a:r>
            <a:r>
              <a:rPr lang="en-US" sz="1200" kern="1200" dirty="0" err="1">
                <a:solidFill>
                  <a:schemeClr val="tx1"/>
                </a:solidFill>
                <a:effectLst/>
                <a:latin typeface="+mn-lt"/>
                <a:ea typeface="+mn-ea"/>
                <a:cs typeface="+mn-cs"/>
              </a:rPr>
              <a:t>rendimenti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logaritmici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coppie</a:t>
            </a:r>
            <a:r>
              <a:rPr lang="en-US" sz="1200" kern="1200" dirty="0">
                <a:solidFill>
                  <a:schemeClr val="tx1"/>
                </a:solidFill>
                <a:effectLst/>
                <a:latin typeface="+mn-lt"/>
                <a:ea typeface="+mn-ea"/>
                <a:cs typeface="+mn-cs"/>
              </a:rPr>
              <a:t> di </a:t>
            </a:r>
            <a:r>
              <a:rPr lang="en-US" sz="1200" kern="1200" dirty="0" err="1">
                <a:solidFill>
                  <a:schemeClr val="tx1"/>
                </a:solidFill>
                <a:effectLst/>
                <a:latin typeface="+mn-lt"/>
                <a:ea typeface="+mn-ea"/>
                <a:cs typeface="+mn-cs"/>
              </a:rPr>
              <a:t>titoli</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Valgono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dunque</a:t>
            </a:r>
            <a:r>
              <a:rPr lang="en-US" sz="1200" kern="1200" dirty="0">
                <a:solidFill>
                  <a:schemeClr val="tx1"/>
                </a:solidFill>
                <a:effectLst/>
                <a:latin typeface="+mn-lt"/>
                <a:ea typeface="+mn-ea"/>
                <a:cs typeface="+mn-cs"/>
              </a:rPr>
              <a:t> le </a:t>
            </a:r>
            <a:r>
              <a:rPr lang="en-US" sz="1200" kern="1200" dirty="0" err="1">
                <a:solidFill>
                  <a:schemeClr val="tx1"/>
                </a:solidFill>
                <a:effectLst/>
                <a:latin typeface="+mn-lt"/>
                <a:ea typeface="+mn-ea"/>
                <a:cs typeface="+mn-cs"/>
              </a:rPr>
              <a:t>seguenti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proprietà</a:t>
            </a:r>
            <a:r>
              <a:rPr lang="en-US" sz="1200" kern="1200" dirty="0">
                <a:solidFill>
                  <a:schemeClr val="tx1"/>
                </a:solidFill>
                <a:effectLst/>
                <a:latin typeface="+mn-lt"/>
                <a:ea typeface="+mn-ea"/>
                <a:cs typeface="+mn-cs"/>
              </a:rPr>
              <a:t>: è </a:t>
            </a:r>
            <a:r>
              <a:rPr lang="en-US" sz="1200" kern="1200" dirty="0" err="1">
                <a:solidFill>
                  <a:schemeClr val="tx1"/>
                </a:solidFill>
                <a:effectLst/>
                <a:latin typeface="+mn-lt"/>
                <a:ea typeface="+mn-ea"/>
                <a:cs typeface="+mn-cs"/>
              </a:rPr>
              <a:t>simmetrica</a:t>
            </a:r>
            <a:r>
              <a:rPr lang="en-US" sz="1200" kern="1200" dirty="0">
                <a:solidFill>
                  <a:schemeClr val="tx1"/>
                </a:solidFill>
                <a:effectLst/>
                <a:latin typeface="+mn-lt"/>
                <a:ea typeface="+mn-ea"/>
                <a:cs typeface="+mn-cs"/>
              </a:rPr>
              <a:t>, è semidefinite </a:t>
            </a:r>
            <a:r>
              <a:rPr lang="en-US" sz="1200" kern="1200" dirty="0" err="1">
                <a:solidFill>
                  <a:schemeClr val="tx1"/>
                </a:solidFill>
                <a:effectLst/>
                <a:latin typeface="+mn-lt"/>
                <a:ea typeface="+mn-ea"/>
                <a:cs typeface="+mn-cs"/>
              </a:rPr>
              <a:t>positiva</a:t>
            </a:r>
            <a:r>
              <a:rPr lang="en-US" sz="1200" kern="1200" dirty="0">
                <a:solidFill>
                  <a:schemeClr val="tx1"/>
                </a:solidFill>
                <a:effectLst/>
                <a:latin typeface="+mn-lt"/>
                <a:ea typeface="+mn-ea"/>
                <a:cs typeface="+mn-cs"/>
              </a:rPr>
              <a:t>, con </a:t>
            </a:r>
            <a:r>
              <a:rPr lang="en-US" sz="1200" kern="1200" dirty="0" err="1">
                <a:solidFill>
                  <a:schemeClr val="tx1"/>
                </a:solidFill>
                <a:effectLst/>
                <a:latin typeface="+mn-lt"/>
                <a:ea typeface="+mn-ea"/>
                <a:cs typeface="+mn-cs"/>
              </a:rPr>
              <a:t>diagonale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unitaria</a:t>
            </a:r>
            <a:r>
              <a:rPr lang="en-US" sz="1200" kern="1200" dirty="0">
                <a:solidFill>
                  <a:schemeClr val="tx1"/>
                </a:solidFill>
                <a:effectLst/>
                <a:latin typeface="+mn-lt"/>
                <a:ea typeface="+mn-ea"/>
                <a:cs typeface="+mn-cs"/>
              </a:rPr>
              <a:t> e </a:t>
            </a:r>
            <a:r>
              <a:rPr lang="en-US" sz="1200" kern="1200" dirty="0" err="1">
                <a:solidFill>
                  <a:schemeClr val="tx1"/>
                </a:solidFill>
                <a:effectLst/>
                <a:latin typeface="+mn-lt"/>
                <a:ea typeface="+mn-ea"/>
                <a:cs typeface="+mn-cs"/>
              </a:rPr>
              <a:t>valori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-1 e +1. </a:t>
            </a:r>
          </a:p>
          <a:p>
            <a:r>
              <a:rPr lang="it-IT" dirty="0"/>
              <a:t>
Validità formale, però, non significa realismo: dunque come facciamo a giudicare se una matrice somiglia o meno ad un mercato realistico? 
La letteratura risponde con cinque regolarità, i fatti stilizzati, che confronterò ora con una matrice di controllo generata da rendimenti di puro rumore.</a:t>
            </a:r>
          </a:p>
        </p:txBody>
      </p:sp>
      <p:sp>
        <p:nvSpPr>
          <p:cNvPr id="4" name="Segnaposto numero diapositiva 3"/>
          <p:cNvSpPr>
            <a:spLocks noGrp="1"/>
          </p:cNvSpPr>
          <p:nvPr>
            <p:ph type="sldNum" sz="quarter" idx="5"/>
          </p:nvPr>
        </p:nvSpPr>
        <p:spPr/>
        <p:txBody>
          <a:bodyPr/>
          <a:lstStyle/>
          <a:p>
            <a:fld id="{D9647BF3-C0E8-4726-9F4E-958B9BCA2232}" type="slidenum">
              <a:rPr lang="it-IT" smtClean="0"/>
              <a:t>4</a:t>
            </a:fld>
            <a:endParaRPr lang="it-IT"/>
          </a:p>
        </p:txBody>
      </p:sp>
    </p:spTree>
    <p:extLst>
      <p:ext uri="{BB962C8B-B14F-4D97-AF65-F5344CB8AC3E}">
        <p14:creationId xmlns:p14="http://schemas.microsoft.com/office/powerpoint/2010/main" val="288200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Partiamo dal Fatto n°1: la distribuzione delle correlazioni (in un mercato reale, come potete osservare sulla sx) è spostata verso valori positivi, mentre nella matrice di controllo (sulla dx) è centrata in zero.</a:t>
            </a:r>
          </a:p>
        </p:txBody>
      </p:sp>
      <p:sp>
        <p:nvSpPr>
          <p:cNvPr id="4" name="Segnaposto numero diapositiva 3"/>
          <p:cNvSpPr>
            <a:spLocks noGrp="1"/>
          </p:cNvSpPr>
          <p:nvPr>
            <p:ph type="sldNum" sz="quarter" idx="5"/>
          </p:nvPr>
        </p:nvSpPr>
        <p:spPr/>
        <p:txBody>
          <a:bodyPr/>
          <a:lstStyle/>
          <a:p>
            <a:fld id="{D9647BF3-C0E8-4726-9F4E-958B9BCA2232}" type="slidenum">
              <a:rPr lang="it-IT" smtClean="0"/>
              <a:t>5</a:t>
            </a:fld>
            <a:endParaRPr lang="it-IT"/>
          </a:p>
        </p:txBody>
      </p:sp>
    </p:spTree>
    <p:extLst>
      <p:ext uri="{BB962C8B-B14F-4D97-AF65-F5344CB8AC3E}">
        <p14:creationId xmlns:p14="http://schemas.microsoft.com/office/powerpoint/2010/main" val="650571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Passiamo ora al Fatto n°2, il quale afferma che, a differenza della matrice di controllo, lo spettro degli autovalori esce dalla banda di rumore di Marchenko-</a:t>
            </a:r>
            <a:r>
              <a:rPr lang="it-IT" dirty="0" err="1"/>
              <a:t>Pastur</a:t>
            </a:r>
            <a:r>
              <a:rPr lang="it-IT" dirty="0"/>
              <a:t> tramite un autovalore dominante e alcuni modi settoriali, anch’essi fuori banda.</a:t>
            </a:r>
            <a:endParaRPr lang="it-IT" sz="1200" kern="1200" dirty="0">
              <a:solidFill>
                <a:schemeClr val="tx1"/>
              </a:solidFill>
              <a:effectLst/>
              <a:latin typeface="+mn-lt"/>
              <a:ea typeface="+mn-ea"/>
              <a:cs typeface="+mn-cs"/>
            </a:endParaRPr>
          </a:p>
        </p:txBody>
      </p:sp>
      <p:sp>
        <p:nvSpPr>
          <p:cNvPr id="4" name="Segnaposto numero diapositiva 3"/>
          <p:cNvSpPr>
            <a:spLocks noGrp="1"/>
          </p:cNvSpPr>
          <p:nvPr>
            <p:ph type="sldNum" sz="quarter" idx="5"/>
          </p:nvPr>
        </p:nvSpPr>
        <p:spPr/>
        <p:txBody>
          <a:bodyPr/>
          <a:lstStyle/>
          <a:p>
            <a:fld id="{D9647BF3-C0E8-4726-9F4E-958B9BCA2232}" type="slidenum">
              <a:rPr lang="it-IT" smtClean="0"/>
              <a:t>6</a:t>
            </a:fld>
            <a:endParaRPr lang="it-IT"/>
          </a:p>
        </p:txBody>
      </p:sp>
    </p:spTree>
    <p:extLst>
      <p:ext uri="{BB962C8B-B14F-4D97-AF65-F5344CB8AC3E}">
        <p14:creationId xmlns:p14="http://schemas.microsoft.com/office/powerpoint/2010/main" val="3091403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Passiamo ora al Fatto n°3 (legato alla Proprietà di Perron-Frobenius empirica), essa afferma che il primo autovalore è positivo (con molteplicità unitaria) e il suo autovettore, il </a:t>
            </a:r>
            <a:r>
              <a:rPr lang="it-IT" i="1" dirty="0"/>
              <a:t>market mode</a:t>
            </a:r>
            <a:r>
              <a:rPr lang="it-IT" dirty="0"/>
              <a:t>, ha componenti dello stesso segno. Nella matrice di controllo, invece, tali segni sono casuali.</a:t>
            </a:r>
          </a:p>
        </p:txBody>
      </p:sp>
      <p:sp>
        <p:nvSpPr>
          <p:cNvPr id="4" name="Segnaposto numero diapositiva 3"/>
          <p:cNvSpPr>
            <a:spLocks noGrp="1"/>
          </p:cNvSpPr>
          <p:nvPr>
            <p:ph type="sldNum" sz="quarter" idx="5"/>
          </p:nvPr>
        </p:nvSpPr>
        <p:spPr/>
        <p:txBody>
          <a:bodyPr/>
          <a:lstStyle/>
          <a:p>
            <a:fld id="{D9647BF3-C0E8-4726-9F4E-958B9BCA2232}" type="slidenum">
              <a:rPr lang="it-IT" smtClean="0"/>
              <a:t>7</a:t>
            </a:fld>
            <a:endParaRPr lang="it-IT"/>
          </a:p>
        </p:txBody>
      </p:sp>
    </p:spTree>
    <p:extLst>
      <p:ext uri="{BB962C8B-B14F-4D97-AF65-F5344CB8AC3E}">
        <p14:creationId xmlns:p14="http://schemas.microsoft.com/office/powerpoint/2010/main" val="1689986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Passiamo ora al Fatto n°4, il quale afferma che il clustering gerarchico applicato sulla matrice delle distanze di Mantegna, calcolata a partire dalla matrice di correlazione, produce un dendrogramma con una chiara struttura a blocchi settoriali (come potete osservare nel grafico in alto); nella matrice di controllo invece tale struttura non compare (come potete osservare nel grafico sottostante).</a:t>
            </a:r>
            <a:endParaRPr lang="it-IT" dirty="0"/>
          </a:p>
        </p:txBody>
      </p:sp>
      <p:sp>
        <p:nvSpPr>
          <p:cNvPr id="4" name="Segnaposto numero diapositiva 3"/>
          <p:cNvSpPr>
            <a:spLocks noGrp="1"/>
          </p:cNvSpPr>
          <p:nvPr>
            <p:ph type="sldNum" sz="quarter" idx="5"/>
          </p:nvPr>
        </p:nvSpPr>
        <p:spPr/>
        <p:txBody>
          <a:bodyPr/>
          <a:lstStyle/>
          <a:p>
            <a:fld id="{D9647BF3-C0E8-4726-9F4E-958B9BCA2232}" type="slidenum">
              <a:rPr lang="it-IT" smtClean="0"/>
              <a:t>8</a:t>
            </a:fld>
            <a:endParaRPr lang="it-IT"/>
          </a:p>
        </p:txBody>
      </p:sp>
    </p:spTree>
    <p:extLst>
      <p:ext uri="{BB962C8B-B14F-4D97-AF65-F5344CB8AC3E}">
        <p14:creationId xmlns:p14="http://schemas.microsoft.com/office/powerpoint/2010/main" val="2032587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Passiamo infine al Fatto n°5, l’ultimo, che afferma che il minimum </a:t>
            </a:r>
            <a:r>
              <a:rPr lang="it-IT" sz="1200" kern="1200" dirty="0" err="1">
                <a:solidFill>
                  <a:schemeClr val="tx1"/>
                </a:solidFill>
                <a:effectLst/>
                <a:latin typeface="+mn-lt"/>
                <a:ea typeface="+mn-ea"/>
                <a:cs typeface="+mn-cs"/>
              </a:rPr>
              <a:t>spanning</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tree</a:t>
            </a:r>
            <a:r>
              <a:rPr lang="it-IT" sz="1200" kern="1200" dirty="0">
                <a:solidFill>
                  <a:schemeClr val="tx1"/>
                </a:solidFill>
                <a:effectLst/>
                <a:latin typeface="+mn-lt"/>
                <a:ea typeface="+mn-ea"/>
                <a:cs typeface="+mn-cs"/>
              </a:rPr>
              <a:t>, costruito sulla matrice delle distanze di Mantegna (che ho citato poco fa), è dominato da pochi hub centrali, con gradi dei nodi distribuiti secondo una legge di potenza (come potte osservare nel grafico logaritmico di sx); nella matrice di controllo (sulla dx) invece questo non accade.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La matrice di controllo non supera nessuno dei cinque fatti stilizzati: per questo li adotto come protocollo di validazione in fase di ricostruzione e generazione dei modelli.</a:t>
            </a:r>
          </a:p>
        </p:txBody>
      </p:sp>
      <p:sp>
        <p:nvSpPr>
          <p:cNvPr id="4" name="Segnaposto numero diapositiva 3"/>
          <p:cNvSpPr>
            <a:spLocks noGrp="1"/>
          </p:cNvSpPr>
          <p:nvPr>
            <p:ph type="sldNum" sz="quarter" idx="5"/>
          </p:nvPr>
        </p:nvSpPr>
        <p:spPr/>
        <p:txBody>
          <a:bodyPr/>
          <a:lstStyle/>
          <a:p>
            <a:fld id="{D9647BF3-C0E8-4726-9F4E-958B9BCA2232}" type="slidenum">
              <a:rPr lang="it-IT" smtClean="0"/>
              <a:t>9</a:t>
            </a:fld>
            <a:endParaRPr lang="it-IT"/>
          </a:p>
        </p:txBody>
      </p:sp>
    </p:spTree>
    <p:extLst>
      <p:ext uri="{BB962C8B-B14F-4D97-AF65-F5344CB8AC3E}">
        <p14:creationId xmlns:p14="http://schemas.microsoft.com/office/powerpoint/2010/main" val="2670963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Segnaposto note 2"/>
              <p:cNvSpPr>
                <a:spLocks noGrp="1"/>
              </p:cNvSpPr>
              <p:nvPr>
                <p:ph type="body" idx="1"/>
              </p:nvPr>
            </p:nvSpPr>
            <p:spPr/>
            <p:txBody>
              <a:bodyPr/>
              <a:lstStyle/>
              <a:p>
                <a:r>
                  <a:rPr lang="it-IT" dirty="0">
                    <a:latin typeface="+mn-lt"/>
                  </a:rPr>
                  <a:t>Riguardo ai dati, ho analizzato i rendimenti giornalieri di 362 titoli dell'S&amp;P 500 aventi quotazioni ininterrotte dal</a:t>
                </a:r>
                <a:r>
                  <a:rPr lang="it-IT" baseline="0" dirty="0">
                    <a:latin typeface="+mn-lt"/>
                  </a:rPr>
                  <a:t> </a:t>
                </a:r>
                <a:r>
                  <a:rPr lang="it-IT" dirty="0">
                    <a:latin typeface="+mn-lt"/>
                  </a:rPr>
                  <a:t>2000</a:t>
                </a:r>
                <a:r>
                  <a:rPr lang="it-IT" baseline="0" dirty="0">
                    <a:latin typeface="+mn-lt"/>
                  </a:rPr>
                  <a:t> al </a:t>
                </a:r>
                <a:r>
                  <a:rPr lang="it-IT" dirty="0">
                    <a:latin typeface="+mn-lt"/>
                  </a:rPr>
                  <a:t>2020. </a:t>
                </a:r>
              </a:p>
              <a:p>
                <a:endParaRPr lang="it-IT" dirty="0">
                  <a:latin typeface="+mn-lt"/>
                </a:endParaRPr>
              </a:p>
              <a:p>
                <a:r>
                  <a:rPr lang="it-IT" dirty="0">
                    <a:latin typeface="+mn-lt"/>
                  </a:rPr>
                  <a:t>Tramite una finestra mobile ho ottenuto 461 matrici di correlazione, ovvero 1 per finestra, ridotte poi a 412 dopo aver applicato un filtro basato su Perron-Frobenius per mantenere l’analisi su regimi di mercato standard. </a:t>
                </a:r>
              </a:p>
              <a:p>
                <a:endParaRPr lang="it-IT" dirty="0">
                  <a:latin typeface="+mn-lt"/>
                </a:endParaRPr>
              </a:p>
              <a:p>
                <a:r>
                  <a:rPr lang="it-IT" dirty="0" err="1">
                    <a:latin typeface="+mn-lt"/>
                  </a:rPr>
                  <a:t>Dopodichè</a:t>
                </a:r>
                <a:r>
                  <a:rPr lang="it-IT" dirty="0">
                    <a:latin typeface="+mn-lt"/>
                  </a:rPr>
                  <a:t>,</a:t>
                </a:r>
                <a:r>
                  <a:rPr lang="it-IT" baseline="0" dirty="0">
                    <a:latin typeface="+mn-lt"/>
                  </a:rPr>
                  <a:t> ho diviso casualmente l</a:t>
                </a:r>
                <a:r>
                  <a:rPr lang="it-IT" dirty="0">
                    <a:latin typeface="+mn-lt"/>
                  </a:rPr>
                  <a:t>e matrici</a:t>
                </a:r>
                <a:r>
                  <a:rPr lang="it-IT" baseline="0" dirty="0">
                    <a:latin typeface="+mn-lt"/>
                  </a:rPr>
                  <a:t> </a:t>
                </a:r>
                <a:r>
                  <a:rPr lang="it-IT" dirty="0">
                    <a:latin typeface="+mn-lt"/>
                  </a:rPr>
                  <a:t>in training, </a:t>
                </a:r>
                <a:r>
                  <a:rPr lang="it-IT" dirty="0" err="1">
                    <a:latin typeface="+mn-lt"/>
                  </a:rPr>
                  <a:t>validation</a:t>
                </a:r>
                <a:r>
                  <a:rPr lang="it-IT" dirty="0">
                    <a:latin typeface="+mn-lt"/>
                  </a:rPr>
                  <a:t> e test set (così</a:t>
                </a:r>
                <a:r>
                  <a:rPr lang="it-IT" baseline="0" dirty="0">
                    <a:latin typeface="+mn-lt"/>
                  </a:rPr>
                  <a:t> da poter effettuare l’addestramento dei modelli)</a:t>
                </a:r>
                <a:r>
                  <a:rPr lang="it-IT" dirty="0">
                    <a:latin typeface="+mn-lt"/>
                  </a:rPr>
                  <a:t>, e per ciascuna di esse ho calcolato il fattore di </a:t>
                </a:r>
                <a:r>
                  <a:rPr lang="it-IT" dirty="0" err="1">
                    <a:latin typeface="+mn-lt"/>
                  </a:rPr>
                  <a:t>Cholesky</a:t>
                </a:r>
                <a:r>
                  <a:rPr lang="it-IT" dirty="0">
                    <a:latin typeface="+mn-lt"/>
                  </a:rPr>
                  <a:t> </a:t>
                </a:r>
                <a14:m>
                  <m:oMath xmlns:m="http://schemas.openxmlformats.org/officeDocument/2006/math">
                    <m:r>
                      <a:rPr lang="it-IT" sz="1200" i="1" kern="1200" smtClean="0">
                        <a:solidFill>
                          <a:schemeClr val="tx1"/>
                        </a:solidFill>
                        <a:latin typeface="+mn-lt"/>
                        <a:ea typeface="+mn-ea"/>
                        <a:cs typeface="+mn-cs"/>
                      </a:rPr>
                      <m:t>𝐿</m:t>
                    </m:r>
                    <m:r>
                      <a:rPr lang="it-IT" sz="1200" b="0" i="0" kern="1200" smtClean="0">
                        <a:solidFill>
                          <a:schemeClr val="tx1"/>
                        </a:solidFill>
                        <a:latin typeface="+mn-lt"/>
                        <a:ea typeface="+mn-ea"/>
                        <a:cs typeface="+mn-cs"/>
                      </a:rPr>
                      <m:t>, </m:t>
                    </m:r>
                    <m:r>
                      <m:rPr>
                        <m:sty m:val="p"/>
                      </m:rPr>
                      <a:rPr lang="it-IT" sz="1200" b="0" i="0" kern="1200" smtClean="0">
                        <a:solidFill>
                          <a:schemeClr val="tx1"/>
                        </a:solidFill>
                        <a:latin typeface="+mn-lt"/>
                        <a:ea typeface="+mn-ea"/>
                        <a:cs typeface="+mn-cs"/>
                      </a:rPr>
                      <m:t>tramite</m:t>
                    </m:r>
                    <m:r>
                      <a:rPr lang="it-IT" sz="1200" b="0" i="0" kern="1200" smtClean="0">
                        <a:solidFill>
                          <a:schemeClr val="tx1"/>
                        </a:solidFill>
                        <a:latin typeface="+mn-lt"/>
                        <a:ea typeface="+mn-ea"/>
                        <a:cs typeface="+mn-cs"/>
                      </a:rPr>
                      <m:t> </m:t>
                    </m:r>
                    <m:r>
                      <m:rPr>
                        <m:sty m:val="p"/>
                      </m:rPr>
                      <a:rPr lang="it-IT" sz="1200" b="0" i="0" kern="1200" smtClean="0">
                        <a:solidFill>
                          <a:schemeClr val="tx1"/>
                        </a:solidFill>
                        <a:latin typeface="+mn-lt"/>
                        <a:ea typeface="+mn-ea"/>
                        <a:cs typeface="+mn-cs"/>
                      </a:rPr>
                      <m:t>opportuna</m:t>
                    </m:r>
                    <m:r>
                      <a:rPr lang="it-IT" sz="1200" b="0" i="0" kern="1200" smtClean="0">
                        <a:solidFill>
                          <a:schemeClr val="tx1"/>
                        </a:solidFill>
                        <a:latin typeface="+mn-lt"/>
                        <a:ea typeface="+mn-ea"/>
                        <a:cs typeface="+mn-cs"/>
                      </a:rPr>
                      <m:t> </m:t>
                    </m:r>
                    <m:r>
                      <m:rPr>
                        <m:sty m:val="p"/>
                      </m:rPr>
                      <a:rPr lang="it-IT" sz="1200" b="0" i="0" kern="1200" smtClean="0">
                        <a:solidFill>
                          <a:schemeClr val="tx1"/>
                        </a:solidFill>
                        <a:latin typeface="+mn-lt"/>
                        <a:ea typeface="+mn-ea"/>
                        <a:cs typeface="+mn-cs"/>
                      </a:rPr>
                      <m:t>decomposizione</m:t>
                    </m:r>
                  </m:oMath>
                </a14:m>
                <a:r>
                  <a:rPr lang="it-IT" dirty="0">
                    <a:latin typeface="+mn-lt"/>
                  </a:rPr>
                  <a:t>. </a:t>
                </a:r>
              </a:p>
              <a:p>
                <a:endParaRPr lang="it-IT" dirty="0">
                  <a:latin typeface="+mn-lt"/>
                </a:endParaRPr>
              </a:p>
              <a:p>
                <a:r>
                  <a:rPr lang="it-IT" dirty="0">
                    <a:latin typeface="+mn-lt"/>
                  </a:rPr>
                  <a:t>I modelli sono stati addestrati per ricostruire tali fattori vettorizzati poiché la ricomposizione </a:t>
                </a:r>
                <a14:m>
                  <m:oMath xmlns:m="http://schemas.openxmlformats.org/officeDocument/2006/math">
                    <m:r>
                      <a:rPr lang="it-IT" sz="1200" i="1" kern="1200" smtClean="0">
                        <a:solidFill>
                          <a:schemeClr val="tx1"/>
                        </a:solidFill>
                        <a:latin typeface="+mn-lt"/>
                        <a:ea typeface="+mn-ea"/>
                        <a:cs typeface="+mn-cs"/>
                      </a:rPr>
                      <m:t>𝐿</m:t>
                    </m:r>
                    <m:sSup>
                      <m:sSupPr>
                        <m:ctrlPr>
                          <a:rPr lang="it-IT" sz="1200" i="1" kern="1200">
                            <a:solidFill>
                              <a:schemeClr val="tx1"/>
                            </a:solidFill>
                            <a:latin typeface="+mn-lt"/>
                            <a:ea typeface="+mn-ea"/>
                            <a:cs typeface="+mn-cs"/>
                          </a:rPr>
                        </m:ctrlPr>
                      </m:sSupPr>
                      <m:e>
                        <m:r>
                          <a:rPr lang="it-IT" sz="1200" i="1" kern="1200">
                            <a:solidFill>
                              <a:schemeClr val="tx1"/>
                            </a:solidFill>
                            <a:latin typeface="+mn-lt"/>
                            <a:ea typeface="+mn-ea"/>
                            <a:cs typeface="+mn-cs"/>
                          </a:rPr>
                          <m:t>𝐿</m:t>
                        </m:r>
                      </m:e>
                      <m:sup>
                        <m:r>
                          <a:rPr lang="it-IT" sz="1200" i="1" kern="1200">
                            <a:solidFill>
                              <a:schemeClr val="tx1"/>
                            </a:solidFill>
                            <a:latin typeface="+mn-lt"/>
                            <a:ea typeface="+mn-ea"/>
                            <a:cs typeface="+mn-cs"/>
                          </a:rPr>
                          <m:t>𝑇</m:t>
                        </m:r>
                      </m:sup>
                    </m:sSup>
                  </m:oMath>
                </a14:m>
                <a:r>
                  <a:rPr lang="it-IT" dirty="0">
                    <a:latin typeface="+mn-lt"/>
                  </a:rPr>
                  <a:t> dell’output, unita alla normalizzazione finale, garantisce per costruzione la produzione di matrici </a:t>
                </a:r>
                <a:r>
                  <a:rPr lang="it-IT" dirty="0" err="1">
                    <a:latin typeface="+mn-lt"/>
                  </a:rPr>
                  <a:t>semidefinite</a:t>
                </a:r>
                <a:r>
                  <a:rPr lang="it-IT" dirty="0">
                    <a:latin typeface="+mn-lt"/>
                  </a:rPr>
                  <a:t> positive, vincolo imprescindibile per qualsiasi matrice di correlazione.</a:t>
                </a:r>
              </a:p>
            </p:txBody>
          </p:sp>
        </mc:Choice>
        <mc:Fallback>
          <p:sp>
            <p:nvSpPr>
              <p:cNvPr id="3" name="Segnaposto note 2"/>
              <p:cNvSpPr>
                <a:spLocks noGrp="1"/>
              </p:cNvSpPr>
              <p:nvPr>
                <p:ph type="body" idx="1"/>
              </p:nvPr>
            </p:nvSpPr>
            <p:spPr/>
            <p:txBody>
              <a:bodyPr/>
              <a:lstStyle/>
              <a:p>
                <a:r>
                  <a:rPr lang="it-IT" dirty="0">
                    <a:latin typeface="+mn-lt"/>
                  </a:rPr>
                  <a:t>Riguardo ai dati, ho analizzato i rendimenti giornalieri di 362 titoli dell'S&amp;P 500 aventi quotazioni ininterrotte dal</a:t>
                </a:r>
                <a:r>
                  <a:rPr lang="it-IT" baseline="0" dirty="0">
                    <a:latin typeface="+mn-lt"/>
                  </a:rPr>
                  <a:t> </a:t>
                </a:r>
                <a:r>
                  <a:rPr lang="it-IT" dirty="0">
                    <a:latin typeface="+mn-lt"/>
                  </a:rPr>
                  <a:t>2000</a:t>
                </a:r>
                <a:r>
                  <a:rPr lang="it-IT" baseline="0" dirty="0">
                    <a:latin typeface="+mn-lt"/>
                  </a:rPr>
                  <a:t> al </a:t>
                </a:r>
                <a:r>
                  <a:rPr lang="it-IT" dirty="0">
                    <a:latin typeface="+mn-lt"/>
                  </a:rPr>
                  <a:t>2020. </a:t>
                </a:r>
              </a:p>
              <a:p>
                <a:endParaRPr lang="it-IT" dirty="0">
                  <a:latin typeface="+mn-lt"/>
                </a:endParaRPr>
              </a:p>
              <a:p>
                <a:r>
                  <a:rPr lang="it-IT" dirty="0">
                    <a:latin typeface="+mn-lt"/>
                  </a:rPr>
                  <a:t>Tramite una finestra mobile ho ottenuto 461 matrici di correlazione, ovvero 1 per finestra, ridotte poi a 412 dopo aver applicato un filtro basato su Perron-Frobenius per mantenere l’analisi su regimi di mercato standard. </a:t>
                </a:r>
              </a:p>
              <a:p>
                <a:endParaRPr lang="it-IT" dirty="0">
                  <a:latin typeface="+mn-lt"/>
                </a:endParaRPr>
              </a:p>
              <a:p>
                <a:r>
                  <a:rPr lang="it-IT" dirty="0" err="1">
                    <a:latin typeface="+mn-lt"/>
                  </a:rPr>
                  <a:t>Dopodichè</a:t>
                </a:r>
                <a:r>
                  <a:rPr lang="it-IT" dirty="0">
                    <a:latin typeface="+mn-lt"/>
                  </a:rPr>
                  <a:t>,</a:t>
                </a:r>
                <a:r>
                  <a:rPr lang="it-IT" baseline="0" dirty="0">
                    <a:latin typeface="+mn-lt"/>
                  </a:rPr>
                  <a:t> ho diviso casualmente l</a:t>
                </a:r>
                <a:r>
                  <a:rPr lang="it-IT" dirty="0">
                    <a:latin typeface="+mn-lt"/>
                  </a:rPr>
                  <a:t>e matrici</a:t>
                </a:r>
                <a:r>
                  <a:rPr lang="it-IT" baseline="0" dirty="0">
                    <a:latin typeface="+mn-lt"/>
                  </a:rPr>
                  <a:t> </a:t>
                </a:r>
                <a:r>
                  <a:rPr lang="it-IT" dirty="0">
                    <a:latin typeface="+mn-lt"/>
                  </a:rPr>
                  <a:t>in training, </a:t>
                </a:r>
                <a:r>
                  <a:rPr lang="it-IT" dirty="0" err="1">
                    <a:latin typeface="+mn-lt"/>
                  </a:rPr>
                  <a:t>validation</a:t>
                </a:r>
                <a:r>
                  <a:rPr lang="it-IT" dirty="0">
                    <a:latin typeface="+mn-lt"/>
                  </a:rPr>
                  <a:t> e test set (così</a:t>
                </a:r>
                <a:r>
                  <a:rPr lang="it-IT" baseline="0" dirty="0">
                    <a:latin typeface="+mn-lt"/>
                  </a:rPr>
                  <a:t> da poter effettuare l’addestramento dei modelli)</a:t>
                </a:r>
                <a:r>
                  <a:rPr lang="it-IT" dirty="0">
                    <a:latin typeface="+mn-lt"/>
                  </a:rPr>
                  <a:t>, e per ciascuna di esse ho calcolato il fattore di </a:t>
                </a:r>
                <a:r>
                  <a:rPr lang="it-IT" dirty="0" err="1">
                    <a:latin typeface="+mn-lt"/>
                  </a:rPr>
                  <a:t>Cholesky</a:t>
                </a:r>
                <a:r>
                  <a:rPr lang="it-IT" dirty="0">
                    <a:latin typeface="+mn-lt"/>
                  </a:rPr>
                  <a:t> </a:t>
                </a:r>
                <a:r>
                  <a:rPr lang="it-IT" sz="1200" i="0" kern="1200">
                    <a:solidFill>
                      <a:schemeClr val="tx1"/>
                    </a:solidFill>
                    <a:latin typeface="+mn-lt"/>
                    <a:ea typeface="+mn-ea"/>
                    <a:cs typeface="+mn-cs"/>
                  </a:rPr>
                  <a:t>𝐿</a:t>
                </a:r>
                <a:r>
                  <a:rPr lang="it-IT" sz="1200" b="0" i="0" kern="1200">
                    <a:solidFill>
                      <a:schemeClr val="tx1"/>
                    </a:solidFill>
                    <a:latin typeface="+mn-lt"/>
                    <a:ea typeface="+mn-ea"/>
                    <a:cs typeface="+mn-cs"/>
                  </a:rPr>
                  <a:t>, tramite opportuna decomposizione</a:t>
                </a:r>
                <a:r>
                  <a:rPr lang="it-IT" dirty="0">
                    <a:latin typeface="+mn-lt"/>
                  </a:rPr>
                  <a:t>. </a:t>
                </a:r>
              </a:p>
              <a:p>
                <a:endParaRPr lang="it-IT" dirty="0">
                  <a:latin typeface="+mn-lt"/>
                </a:endParaRPr>
              </a:p>
              <a:p>
                <a:r>
                  <a:rPr lang="it-IT" dirty="0">
                    <a:latin typeface="+mn-lt"/>
                  </a:rPr>
                  <a:t>I modelli sono stati addestrati per ricostruire tali fattori vettorizzati poiché la ricomposizione </a:t>
                </a:r>
                <a:r>
                  <a:rPr lang="it-IT" sz="1200" i="0" kern="1200">
                    <a:solidFill>
                      <a:schemeClr val="tx1"/>
                    </a:solidFill>
                    <a:latin typeface="+mn-lt"/>
                    <a:ea typeface="+mn-ea"/>
                    <a:cs typeface="+mn-cs"/>
                  </a:rPr>
                  <a:t>𝐿𝐿^𝑇</a:t>
                </a:r>
                <a:r>
                  <a:rPr lang="it-IT" dirty="0">
                    <a:latin typeface="+mn-lt"/>
                  </a:rPr>
                  <a:t> dell’output, unita alla normalizzazione finale, garantisce per costruzione la produzione di matrici </a:t>
                </a:r>
                <a:r>
                  <a:rPr lang="it-IT" dirty="0" err="1">
                    <a:latin typeface="+mn-lt"/>
                  </a:rPr>
                  <a:t>semidefinite</a:t>
                </a:r>
                <a:r>
                  <a:rPr lang="it-IT" dirty="0">
                    <a:latin typeface="+mn-lt"/>
                  </a:rPr>
                  <a:t> positive, vincolo imprescindibile per qualsiasi matrice di correlazione.</a:t>
                </a:r>
              </a:p>
            </p:txBody>
          </p:sp>
        </mc:Fallback>
      </mc:AlternateContent>
      <p:sp>
        <p:nvSpPr>
          <p:cNvPr id="4" name="Segnaposto numero diapositiva 3"/>
          <p:cNvSpPr>
            <a:spLocks noGrp="1"/>
          </p:cNvSpPr>
          <p:nvPr>
            <p:ph type="sldNum" sz="quarter" idx="5"/>
          </p:nvPr>
        </p:nvSpPr>
        <p:spPr/>
        <p:txBody>
          <a:bodyPr/>
          <a:lstStyle/>
          <a:p>
            <a:fld id="{D9647BF3-C0E8-4726-9F4E-958B9BCA2232}" type="slidenum">
              <a:rPr lang="it-IT" smtClean="0"/>
              <a:t>10</a:t>
            </a:fld>
            <a:endParaRPr lang="it-IT"/>
          </a:p>
        </p:txBody>
      </p:sp>
    </p:spTree>
    <p:extLst>
      <p:ext uri="{BB962C8B-B14F-4D97-AF65-F5344CB8AC3E}">
        <p14:creationId xmlns:p14="http://schemas.microsoft.com/office/powerpoint/2010/main" val="1940006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Passando ai modelli, li ho confrontati sul test set valutando l'errore di ricostruzione MSE e la percentuale di archi conservati del MST</a:t>
            </a:r>
            <a:r>
              <a:rPr lang="it-IT" i="1" dirty="0"/>
              <a:t> </a:t>
            </a:r>
            <a:r>
              <a:rPr lang="it-IT" i="0" dirty="0"/>
              <a:t>entrambi </a:t>
            </a:r>
            <a:r>
              <a:rPr lang="it-IT" dirty="0"/>
              <a:t>al variare della dimensione latente.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percorso è partito sfruttando la capacità di compressione lineare dalla PCA come baseline verso l'AE lineare, che convergendo alla PCA ha confermato il setup sperimentale.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In seguito, per catturare le non linearità presenti nei dati ho introdotto delle funzioni di attivazione non lineari andando a creare degli AE profondi, i quali migliorano la ricostruzione ma presentano spazi latenti con ampie zone vuote e risultando dunque inadatti alla generazione di matrici di correlazione sintetiche.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Di conseguenza, sono passato al VAE, che, tramite l’introduzione di una componente probabilistica, addensa lo spazio latente, rendendo il modello generativo, a fronte di una minore accuratezza di ricostruzione.</a:t>
            </a:r>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Infine, lo studio del VAE si è limitato a uno spazio latente di 20 dimensioni, scelto poiché oltre tale soglia l'errore dell'AE profondo smette di diminuire in modo apprezzabile, formando una sorta di curva a gomito.</a:t>
            </a:r>
          </a:p>
        </p:txBody>
      </p:sp>
      <p:sp>
        <p:nvSpPr>
          <p:cNvPr id="4" name="Segnaposto numero diapositiva 3"/>
          <p:cNvSpPr>
            <a:spLocks noGrp="1"/>
          </p:cNvSpPr>
          <p:nvPr>
            <p:ph type="sldNum" sz="quarter" idx="5"/>
          </p:nvPr>
        </p:nvSpPr>
        <p:spPr/>
        <p:txBody>
          <a:bodyPr/>
          <a:lstStyle/>
          <a:p>
            <a:fld id="{D9647BF3-C0E8-4726-9F4E-958B9BCA2232}" type="slidenum">
              <a:rPr lang="it-IT" smtClean="0"/>
              <a:t>11</a:t>
            </a:fld>
            <a:endParaRPr lang="it-IT"/>
          </a:p>
        </p:txBody>
      </p:sp>
    </p:spTree>
    <p:extLst>
      <p:ext uri="{BB962C8B-B14F-4D97-AF65-F5344CB8AC3E}">
        <p14:creationId xmlns:p14="http://schemas.microsoft.com/office/powerpoint/2010/main" val="2147672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rtl="0"/>
            <a:r>
              <a:rPr lang="it-IT" dirty="0"/>
              <a:t>La funzione di costo per l’addestramento del VAE si basa su due termini: la divergenza di </a:t>
            </a:r>
            <a:r>
              <a:rPr lang="it-IT" dirty="0" err="1"/>
              <a:t>Kullback-Leibler</a:t>
            </a:r>
            <a:r>
              <a:rPr lang="it-IT" dirty="0"/>
              <a:t> verso un </a:t>
            </a:r>
            <a:r>
              <a:rPr lang="it-IT" dirty="0" err="1"/>
              <a:t>prior</a:t>
            </a:r>
            <a:r>
              <a:rPr lang="it-IT" dirty="0"/>
              <a:t> gaussiano, che addensa lo spazio latente riducendo le zone vuote, e la divergenza di Jeffreys per la ricostruzione. </a:t>
            </a:r>
          </a:p>
          <a:p>
            <a:pPr rtl="0"/>
            <a:endParaRPr lang="it-IT" dirty="0"/>
          </a:p>
          <a:p>
            <a:pPr rtl="0"/>
            <a:r>
              <a:rPr lang="it-IT" dirty="0"/>
              <a:t>Quest'ultima è stata preferita all’MSE poiché pesa uniformemente gli errori su tutto lo spettro della matrice, senza trascurare gli autovalori più piccoli. </a:t>
            </a:r>
          </a:p>
          <a:p>
            <a:pPr rtl="0"/>
            <a:endParaRPr lang="it-IT" dirty="0"/>
          </a:p>
          <a:p>
            <a:pPr rtl="0"/>
            <a:r>
              <a:rPr lang="it-IT" dirty="0"/>
              <a:t>Infine, come mostrato in figura, la varianza dei codici del training set nello spazio latente rivela che le dimensioni realmente attive sono meno di 9 sulle 20 disponibili, mostrando il famoso effetto noto con il nome di </a:t>
            </a:r>
            <a:r>
              <a:rPr lang="it-IT" dirty="0" err="1"/>
              <a:t>Posterior</a:t>
            </a:r>
            <a:r>
              <a:rPr lang="it-IT" dirty="0"/>
              <a:t> </a:t>
            </a:r>
            <a:r>
              <a:rPr lang="it-IT" dirty="0" err="1"/>
              <a:t>Collapse</a:t>
            </a:r>
            <a:r>
              <a:rPr lang="it-IT" dirty="0"/>
              <a:t>.</a:t>
            </a:r>
          </a:p>
        </p:txBody>
      </p:sp>
      <p:sp>
        <p:nvSpPr>
          <p:cNvPr id="4" name="Segnaposto numero diapositiva 3"/>
          <p:cNvSpPr>
            <a:spLocks noGrp="1"/>
          </p:cNvSpPr>
          <p:nvPr>
            <p:ph type="sldNum" sz="quarter" idx="5"/>
          </p:nvPr>
        </p:nvSpPr>
        <p:spPr/>
        <p:txBody>
          <a:bodyPr/>
          <a:lstStyle/>
          <a:p>
            <a:fld id="{D9647BF3-C0E8-4726-9F4E-958B9BCA2232}" type="slidenum">
              <a:rPr lang="it-IT" smtClean="0"/>
              <a:t>12</a:t>
            </a:fld>
            <a:endParaRPr lang="it-IT"/>
          </a:p>
        </p:txBody>
      </p:sp>
    </p:spTree>
    <p:extLst>
      <p:ext uri="{BB962C8B-B14F-4D97-AF65-F5344CB8AC3E}">
        <p14:creationId xmlns:p14="http://schemas.microsoft.com/office/powerpoint/2010/main" val="660090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Passiamo ora alla generazione delle matrici sintetiche tramite VAE.</a:t>
            </a:r>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Per ancorare la generazione allo stato di mercato attuale ho applicato un </a:t>
            </a:r>
            <a:r>
              <a:rPr lang="it-IT" i="1" dirty="0" err="1"/>
              <a:t>block</a:t>
            </a:r>
            <a:r>
              <a:rPr lang="it-IT" i="1" dirty="0"/>
              <a:t> bootstrap</a:t>
            </a:r>
            <a:r>
              <a:rPr lang="it-IT" dirty="0"/>
              <a:t> storico nello spazio latente.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processo si articola in tre fasi, ovvero:</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it-IT" dirty="0"/>
              <a:t>codifica delle matrici storiche a passo giornaliero;</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it-IT" dirty="0"/>
              <a:t>estrazione di blocchi da 21 incrementi giornalieri consecutivi sullo spazio latente;</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it-IT" dirty="0"/>
              <a:t>somma di questi blocchi allo stato latente odierno con successiva decodifica.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Come potete osservare in figura, ho ripetuto l'operazione 1000 volte, generando 1000 scenari ad un orizzonte nominale di 21 giorni lavorativi, tutti ancorati al presente ma diversificati dalla variabilità storica, offrendo così una stima empirica di come il mercato potrebbe evolvere.</a:t>
            </a:r>
          </a:p>
        </p:txBody>
      </p:sp>
      <p:sp>
        <p:nvSpPr>
          <p:cNvPr id="4" name="Segnaposto numero diapositiva 3"/>
          <p:cNvSpPr>
            <a:spLocks noGrp="1"/>
          </p:cNvSpPr>
          <p:nvPr>
            <p:ph type="sldNum" sz="quarter" idx="5"/>
          </p:nvPr>
        </p:nvSpPr>
        <p:spPr/>
        <p:txBody>
          <a:bodyPr/>
          <a:lstStyle/>
          <a:p>
            <a:fld id="{D9647BF3-C0E8-4726-9F4E-958B9BCA2232}" type="slidenum">
              <a:rPr lang="it-IT" smtClean="0"/>
              <a:t>13</a:t>
            </a:fld>
            <a:endParaRPr lang="it-IT"/>
          </a:p>
        </p:txBody>
      </p:sp>
    </p:spTree>
    <p:extLst>
      <p:ext uri="{BB962C8B-B14F-4D97-AF65-F5344CB8AC3E}">
        <p14:creationId xmlns:p14="http://schemas.microsoft.com/office/powerpoint/2010/main" val="626715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Passiamo ora alle conclusioni.</a:t>
            </a:r>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Tutte le matrici generate sono risultate </a:t>
            </a:r>
            <a:r>
              <a:rPr lang="it-IT" dirty="0" err="1"/>
              <a:t>semidefinite</a:t>
            </a:r>
            <a:r>
              <a:rPr lang="it-IT" dirty="0"/>
              <a:t> positive, per costruzione, e conformi ai 5 fatti stilizzati.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modello presenta però dei limiti: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dirty="0"/>
              <a:t>a monte, ricordiamo il </a:t>
            </a:r>
            <a:r>
              <a:rPr lang="it-IT" dirty="0" err="1"/>
              <a:t>bias</a:t>
            </a:r>
            <a:r>
              <a:rPr lang="it-IT" dirty="0"/>
              <a:t> di sopravvivenza dei titoli, l'elevata sovrapposizione tra finestre mobili adiacenti e l’assenza di separazione temporale tra i set di addestramento;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dirty="0"/>
              <a:t>a valle, ricordiamo invece la validazione ristretta a un unico stato iniziale e ai soli regimi di mercato standard.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Gli sviluppi futuri mirano a risolvere queste criticità per estendere infine la metodologia ad altre </a:t>
            </a:r>
            <a:r>
              <a:rPr lang="it-IT" i="1" dirty="0"/>
              <a:t>asset class</a:t>
            </a:r>
            <a:r>
              <a:rPr lang="it-IT" dirty="0"/>
              <a:t> e all'analisi del rischio su portafogli reali.</a:t>
            </a:r>
          </a:p>
        </p:txBody>
      </p:sp>
      <p:sp>
        <p:nvSpPr>
          <p:cNvPr id="4" name="Segnaposto numero diapositiva 3"/>
          <p:cNvSpPr>
            <a:spLocks noGrp="1"/>
          </p:cNvSpPr>
          <p:nvPr>
            <p:ph type="sldNum" sz="quarter" idx="5"/>
          </p:nvPr>
        </p:nvSpPr>
        <p:spPr/>
        <p:txBody>
          <a:bodyPr/>
          <a:lstStyle/>
          <a:p>
            <a:fld id="{D9647BF3-C0E8-4726-9F4E-958B9BCA2232}" type="slidenum">
              <a:rPr lang="it-IT" smtClean="0"/>
              <a:t>14</a:t>
            </a:fld>
            <a:endParaRPr lang="it-IT"/>
          </a:p>
        </p:txBody>
      </p:sp>
    </p:spTree>
    <p:extLst>
      <p:ext uri="{BB962C8B-B14F-4D97-AF65-F5344CB8AC3E}">
        <p14:creationId xmlns:p14="http://schemas.microsoft.com/office/powerpoint/2010/main" val="1667949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Il mio lavoro di tesi si conclude qui, ringrazio il professor Giobergia, i dottori Caprioli, Cagliero e Crupi di Intesa Sanpaolo, e tutti voi per l’attenzione. </a:t>
            </a:r>
          </a:p>
          <a:p>
            <a:r>
              <a:rPr lang="it-IT" dirty="0"/>
              <a:t>Sono a disposizione per le vostre domande.</a:t>
            </a:r>
          </a:p>
        </p:txBody>
      </p:sp>
      <p:sp>
        <p:nvSpPr>
          <p:cNvPr id="4" name="Segnaposto numero diapositiva 3"/>
          <p:cNvSpPr>
            <a:spLocks noGrp="1"/>
          </p:cNvSpPr>
          <p:nvPr>
            <p:ph type="sldNum" sz="quarter" idx="10"/>
          </p:nvPr>
        </p:nvSpPr>
        <p:spPr/>
        <p:txBody>
          <a:bodyPr/>
          <a:lstStyle/>
          <a:p>
            <a:fld id="{B6F15528-21DE-4FAA-801E-634DDDAF4B2B}" type="slidenum">
              <a:rPr lang="it-IT"/>
              <a:t>15</a:t>
            </a:fld>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7A146A-8AD1-27F2-906A-B0D2C1AC11B0}"/>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040FBCA-F252-2E80-0409-F7F3F1BD76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3EF3899-953D-32F8-DA97-FC7785585205}"/>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8C12EB44-C748-9FBC-1E96-FA344B39A89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074A694-B063-0C00-A6E0-D36A5CCDD45B}"/>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1424296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CD86DD-E8EF-3497-6E0B-5EE43D01541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5195826-F71A-F038-8724-92CFF03FB12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D977D21-8096-A501-A520-4336A81F91D9}"/>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051C1A76-8E75-1352-38B2-E0E559C7EF4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ECD60BA-8E69-C98C-D375-4336E35FFF64}"/>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4110851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264A2E-29FD-86EB-E84D-702AF10ABC0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168C3B7-A518-BD30-BE20-B99B2522CC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99A2A34-546E-C741-849A-07559188DFEC}"/>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22DA7312-4DD6-67DF-42E8-A13660EBF90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733C157-F8FA-DD9C-DFB1-F6036A9D47AB}"/>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1999865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7F5EC9-B654-BBE5-70DC-EA497452BF4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E417663-FBB3-5485-6918-7B94A417F68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CA72DD4-01AF-E33F-7DB0-8E28E3FC1F9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CCEB025-C6D9-CB9D-A3CF-9D7EA361DAE6}"/>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6" name="Segnaposto piè di pagina 5">
            <a:extLst>
              <a:ext uri="{FF2B5EF4-FFF2-40B4-BE49-F238E27FC236}">
                <a16:creationId xmlns:a16="http://schemas.microsoft.com/office/drawing/2014/main" id="{6EC7E106-156C-2024-80C7-AFA6947DAF0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17795F-24B9-6C9D-F253-1C9FCFB5A348}"/>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1011466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B7E271-78FC-84ED-C1D2-6FAEFB1FCE39}"/>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48D2E9F-770E-F4C7-858C-F68E5C389D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3661BFF5-AB1F-D0EF-DF9A-8187FA31126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1085315-21D7-4B81-C453-F2FCC6043E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55F9C3C5-E43C-493D-B05A-802E59ADE4C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096712-80D6-1410-A0B4-1AAF746E2239}"/>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8" name="Segnaposto piè di pagina 7">
            <a:extLst>
              <a:ext uri="{FF2B5EF4-FFF2-40B4-BE49-F238E27FC236}">
                <a16:creationId xmlns:a16="http://schemas.microsoft.com/office/drawing/2014/main" id="{DC7D4EA2-CB88-2479-12BC-C40A1BA9252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A290C57-EB7C-4EDB-FB5C-CCB54F61BB34}"/>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3287246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FE154D-CE24-1725-526D-1159886351C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5F5082F1-200C-5D13-F403-6F4F525F4DCE}"/>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4" name="Segnaposto piè di pagina 3">
            <a:extLst>
              <a:ext uri="{FF2B5EF4-FFF2-40B4-BE49-F238E27FC236}">
                <a16:creationId xmlns:a16="http://schemas.microsoft.com/office/drawing/2014/main" id="{D464E4C9-FBD1-1BB1-2A61-F153B252B5FE}"/>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D2E3766-5AFD-048C-7254-1C5BECF249BF}"/>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176758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48EC499-A02F-FFF0-52E9-2CE0A583D606}"/>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3" name="Segnaposto piè di pagina 2">
            <a:extLst>
              <a:ext uri="{FF2B5EF4-FFF2-40B4-BE49-F238E27FC236}">
                <a16:creationId xmlns:a16="http://schemas.microsoft.com/office/drawing/2014/main" id="{1498C719-39B7-A216-AF13-BF57A762E2B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B13C37A-3D21-F3DF-5774-E8EE1D0C32E7}"/>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129203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9AF2C3-BA2E-94A4-93AC-E95EE1C816F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3DA31E6-C856-D1A5-61DE-0E99C5C151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990AA4A1-CCDD-29A5-72C3-D9EA1A129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57992D4-7486-2365-076E-5EAA679A97FD}"/>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6" name="Segnaposto piè di pagina 5">
            <a:extLst>
              <a:ext uri="{FF2B5EF4-FFF2-40B4-BE49-F238E27FC236}">
                <a16:creationId xmlns:a16="http://schemas.microsoft.com/office/drawing/2014/main" id="{B8F2F939-869D-C49E-04A5-02F0795C145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516BB05-CD77-4D18-F05D-2313A8890703}"/>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804989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FEA94D-9CCA-B522-1411-5FB37355D62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87BC9DB-E058-E7A7-2661-E6CDBC4977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B714B08-FB98-5E66-5324-3616BD9BC4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6893295-6782-B75F-261E-29D9B073333E}"/>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6" name="Segnaposto piè di pagina 5">
            <a:extLst>
              <a:ext uri="{FF2B5EF4-FFF2-40B4-BE49-F238E27FC236}">
                <a16:creationId xmlns:a16="http://schemas.microsoft.com/office/drawing/2014/main" id="{943C132E-634C-DC47-0A79-E870306B22A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560F55A-0D4F-8E10-B40F-F339AF7F142D}"/>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334853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87E403-5655-9F64-7DFA-AB99A69633F1}"/>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B188B38-6B68-F4A1-8825-764C1AD6AB22}"/>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0BE8606-B25A-4C26-7C86-312AFA83A2EE}"/>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34059FC5-4DB8-5967-A6BA-58A92157F35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97B043F-726A-7EFF-20E4-5D527485A95E}"/>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364497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1CB2CD2-96DC-4BC5-6DAD-DB1035AEBD0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CF71C5D-FB43-C8D8-8175-61F6D73D061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04F6C5F-A4C9-09D2-CAB3-515F92D42DF3}"/>
              </a:ext>
            </a:extLst>
          </p:cNvPr>
          <p:cNvSpPr>
            <a:spLocks noGrp="1"/>
          </p:cNvSpPr>
          <p:nvPr>
            <p:ph type="dt" sz="half" idx="10"/>
          </p:nvPr>
        </p:nvSpPr>
        <p:spPr/>
        <p:txBody>
          <a:body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FBAEC1B9-1D04-3ABA-90E2-66B41C60E4C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1231936-4F19-94B7-1634-BAFB4CE3DCDF}"/>
              </a:ext>
            </a:extLst>
          </p:cNvPr>
          <p:cNvSpPr>
            <a:spLocks noGrp="1"/>
          </p:cNvSpPr>
          <p:nvPr>
            <p:ph type="sldNum" sz="quarter" idx="12"/>
          </p:nvPr>
        </p:nvSpPr>
        <p:spPr/>
        <p:txBody>
          <a:bodyPr/>
          <a:lstStyle/>
          <a:p>
            <a:fld id="{20AFB5D7-C0A9-43FA-8C99-6EA84D06B533}" type="slidenum">
              <a:rPr lang="it-IT" smtClean="0"/>
              <a:t>‹N›</a:t>
            </a:fld>
            <a:endParaRPr lang="it-IT"/>
          </a:p>
        </p:txBody>
      </p:sp>
    </p:spTree>
    <p:extLst>
      <p:ext uri="{BB962C8B-B14F-4D97-AF65-F5344CB8AC3E}">
        <p14:creationId xmlns:p14="http://schemas.microsoft.com/office/powerpoint/2010/main" val="252700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46E9BE22-810A-3327-21CA-C8D62300D9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598693E-8E60-778A-4129-30C9B73042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BBE7C11-6478-B060-5B72-7BC4B53B5D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5D3783-32D1-41E5-A9ED-04B73564542D}" type="datetimeFigureOut">
              <a:rPr lang="it-IT" smtClean="0"/>
              <a:t>10/09/2026</a:t>
            </a:fld>
            <a:endParaRPr lang="it-IT"/>
          </a:p>
        </p:txBody>
      </p:sp>
      <p:sp>
        <p:nvSpPr>
          <p:cNvPr id="5" name="Segnaposto piè di pagina 4">
            <a:extLst>
              <a:ext uri="{FF2B5EF4-FFF2-40B4-BE49-F238E27FC236}">
                <a16:creationId xmlns:a16="http://schemas.microsoft.com/office/drawing/2014/main" id="{03F9CA62-B172-8614-B913-54F45FD74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8F36A50-F35E-0F41-1DFE-5BE74F0D7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AFB5D7-C0A9-43FA-8C99-6EA84D06B533}" type="slidenum">
              <a:rPr lang="it-IT" smtClean="0"/>
              <a:t>‹N›</a:t>
            </a:fld>
            <a:endParaRPr lang="it-IT"/>
          </a:p>
        </p:txBody>
      </p:sp>
      <p:sp>
        <p:nvSpPr>
          <p:cNvPr id="900" name="AccentBarLeft"/>
          <p:cNvSpPr/>
          <p:nvPr/>
        </p:nvSpPr>
        <p:spPr>
          <a:xfrm>
            <a:off x="0" y="0"/>
            <a:ext cx="101600" cy="6858000"/>
          </a:xfrm>
          <a:prstGeom prst="rect">
            <a:avLst/>
          </a:prstGeom>
          <a:solidFill>
            <a:srgbClr val="0E2841"/>
          </a:solidFill>
          <a:ln>
            <a:noFill/>
          </a:ln>
        </p:spPr>
        <p:txBody>
          <a:bodyPr/>
          <a:lstStyle/>
          <a:p>
            <a:endParaRPr lang="it-IT"/>
          </a:p>
        </p:txBody>
      </p:sp>
      <p:sp>
        <p:nvSpPr>
          <p:cNvPr id="901" name="AccentBarSegment"/>
          <p:cNvSpPr/>
          <p:nvPr/>
        </p:nvSpPr>
        <p:spPr>
          <a:xfrm>
            <a:off x="0" y="5486400"/>
            <a:ext cx="101600" cy="1371600"/>
          </a:xfrm>
          <a:prstGeom prst="rect">
            <a:avLst/>
          </a:prstGeom>
          <a:solidFill>
            <a:srgbClr val="E97132"/>
          </a:solidFill>
          <a:ln>
            <a:noFill/>
          </a:ln>
        </p:spPr>
        <p:txBody>
          <a:bodyPr/>
          <a:lstStyle/>
          <a:p>
            <a:endParaRPr lang="it-IT"/>
          </a:p>
        </p:txBody>
      </p:sp>
    </p:spTree>
    <p:extLst>
      <p:ext uri="{BB962C8B-B14F-4D97-AF65-F5344CB8AC3E}">
        <p14:creationId xmlns:p14="http://schemas.microsoft.com/office/powerpoint/2010/main" val="2403428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E284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25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A25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A25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A2533"/>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F9DCC9-A0D7-165E-07C4-8D994C1ABAD2}"/>
              </a:ext>
            </a:extLst>
          </p:cNvPr>
          <p:cNvSpPr>
            <a:spLocks noGrp="1"/>
          </p:cNvSpPr>
          <p:nvPr>
            <p:ph type="ctrTitle"/>
          </p:nvPr>
        </p:nvSpPr>
        <p:spPr>
          <a:xfrm>
            <a:off x="508000" y="1122363"/>
            <a:ext cx="11176000" cy="2387600"/>
          </a:xfrm>
        </p:spPr>
        <p:txBody>
          <a:bodyPr>
            <a:normAutofit/>
          </a:bodyPr>
          <a:lstStyle/>
          <a:p>
            <a:pPr algn="ctr">
              <a:lnSpc>
                <a:spcPct val="95000"/>
              </a:lnSpc>
            </a:pPr>
            <a:r>
              <a:rPr lang="it-IT" sz="3400" b="1" dirty="0"/>
              <a:t>Dai pixel ai portafogli finanziari: generare scenari di mercato realistici tramite variational autoencoder</a:t>
            </a:r>
          </a:p>
        </p:txBody>
      </p:sp>
      <p:sp>
        <p:nvSpPr>
          <p:cNvPr id="3" name="Sottotitolo 2">
            <a:extLst>
              <a:ext uri="{FF2B5EF4-FFF2-40B4-BE49-F238E27FC236}">
                <a16:creationId xmlns:a16="http://schemas.microsoft.com/office/drawing/2014/main" id="{55A668AF-97B7-3548-7F26-0BDD18DD4684}"/>
              </a:ext>
            </a:extLst>
          </p:cNvPr>
          <p:cNvSpPr>
            <a:spLocks noGrp="1"/>
          </p:cNvSpPr>
          <p:nvPr>
            <p:ph type="subTitle" idx="1"/>
          </p:nvPr>
        </p:nvSpPr>
        <p:spPr>
          <a:xfrm>
            <a:off x="508000" y="3759200"/>
            <a:ext cx="11176000" cy="1905000"/>
          </a:xfrm>
        </p:spPr>
        <p:txBody>
          <a:bodyPr>
            <a:normAutofit lnSpcReduction="10000"/>
          </a:bodyPr>
          <a:lstStyle/>
          <a:p>
            <a:pPr algn="ctr">
              <a:lnSpc>
                <a:spcPct val="100000"/>
              </a:lnSpc>
              <a:spcBef>
                <a:spcPts val="200"/>
              </a:spcBef>
              <a:buNone/>
            </a:pPr>
            <a:r>
              <a:rPr lang="it-IT" sz="2400" b="1" dirty="0"/>
              <a:t>candidato: Dylan Magliano · s337915</a:t>
            </a:r>
          </a:p>
          <a:p>
            <a:pPr algn="ctr">
              <a:lnSpc>
                <a:spcPct val="100000"/>
              </a:lnSpc>
              <a:spcBef>
                <a:spcPts val="200"/>
              </a:spcBef>
              <a:buNone/>
            </a:pPr>
            <a:r>
              <a:rPr lang="it-IT" sz="2400" dirty="0"/>
              <a:t>relatore: prof. Flavio Giobergia · Politecnico di Torino</a:t>
            </a:r>
          </a:p>
          <a:p>
            <a:pPr algn="ctr">
              <a:lnSpc>
                <a:spcPct val="100000"/>
              </a:lnSpc>
              <a:spcBef>
                <a:spcPts val="200"/>
              </a:spcBef>
              <a:buNone/>
            </a:pPr>
            <a:r>
              <a:rPr lang="it-IT" sz="2400" dirty="0"/>
              <a:t>correlatori: dott. Sergio Caprioli · dott. Emanuele Cagliero · Intesa Sanpaolo</a:t>
            </a:r>
          </a:p>
          <a:p>
            <a:pPr algn="ctr">
              <a:lnSpc>
                <a:spcPct val="100000"/>
              </a:lnSpc>
              <a:spcBef>
                <a:spcPts val="200"/>
              </a:spcBef>
              <a:buNone/>
            </a:pPr>
            <a:endParaRPr lang="it-IT" sz="2400" dirty="0"/>
          </a:p>
          <a:p>
            <a:pPr algn="ctr">
              <a:lnSpc>
                <a:spcPct val="100000"/>
              </a:lnSpc>
              <a:spcBef>
                <a:spcPts val="200"/>
              </a:spcBef>
              <a:buNone/>
            </a:pPr>
            <a:r>
              <a:rPr lang="it-IT" sz="2400" dirty="0"/>
              <a:t>Politecnico di Torino · A.A. 2025-2026</a:t>
            </a:r>
          </a:p>
        </p:txBody>
      </p:sp>
      <p:pic>
        <p:nvPicPr>
          <p:cNvPr id="4" name="Immagine 3">
            <a:extLst>
              <a:ext uri="{FF2B5EF4-FFF2-40B4-BE49-F238E27FC236}">
                <a16:creationId xmlns:a16="http://schemas.microsoft.com/office/drawing/2014/main" id="{1C506E9E-598A-4DCB-FD90-DA9CD81634BB}"/>
              </a:ext>
            </a:extLst>
          </p:cNvPr>
          <p:cNvPicPr>
            <a:picLocks noChangeAspect="1"/>
          </p:cNvPicPr>
          <p:nvPr/>
        </p:nvPicPr>
        <p:blipFill>
          <a:blip r:embed="rId3"/>
          <a:stretch>
            <a:fillRect/>
          </a:stretch>
        </p:blipFill>
        <p:spPr>
          <a:xfrm>
            <a:off x="5461000" y="508000"/>
            <a:ext cx="1270000" cy="1219200"/>
          </a:xfrm>
          <a:prstGeom prst="rect">
            <a:avLst/>
          </a:prstGeom>
        </p:spPr>
      </p:pic>
      <p:pic>
        <p:nvPicPr>
          <p:cNvPr id="5" name="Immagine 4">
            <a:extLst>
              <a:ext uri="{FF2B5EF4-FFF2-40B4-BE49-F238E27FC236}">
                <a16:creationId xmlns:a16="http://schemas.microsoft.com/office/drawing/2014/main" id="{7EABB017-89E4-017D-D5EA-112BAAD8713C}"/>
              </a:ext>
            </a:extLst>
          </p:cNvPr>
          <p:cNvPicPr>
            <a:picLocks noChangeAspect="1"/>
          </p:cNvPicPr>
          <p:nvPr/>
        </p:nvPicPr>
        <p:blipFill>
          <a:blip r:embed="rId4"/>
          <a:srcRect l="17000" t="40500" r="17000" b="41000"/>
          <a:stretch>
            <a:fillRect/>
          </a:stretch>
        </p:blipFill>
        <p:spPr>
          <a:xfrm>
            <a:off x="4762500" y="5867400"/>
            <a:ext cx="2667000" cy="419100"/>
          </a:xfrm>
          <a:prstGeom prst="rect">
            <a:avLst/>
          </a:prstGeom>
        </p:spPr>
      </p:pic>
    </p:spTree>
    <p:extLst>
      <p:ext uri="{BB962C8B-B14F-4D97-AF65-F5344CB8AC3E}">
        <p14:creationId xmlns:p14="http://schemas.microsoft.com/office/powerpoint/2010/main" val="1421371801"/>
      </p:ext>
    </p:extLst>
  </p:cSld>
  <p:clrMapOvr>
    <a:masterClrMapping/>
  </p:clrMapOvr>
  <mc:AlternateContent xmlns:mc="http://schemas.openxmlformats.org/markup-compatibility/2006" xmlns:p14="http://schemas.microsoft.com/office/powerpoint/2010/main">
    <mc:Choice Requires="p14">
      <p:transition spd="slow" p14:dur="2000" advTm="5150"/>
    </mc:Choice>
    <mc:Fallback xmlns="">
      <p:transition spd="slow" advTm="51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077F77-2F1B-B8B3-BDA2-A28DAC4A2467}"/>
              </a:ext>
            </a:extLst>
          </p:cNvPr>
          <p:cNvSpPr>
            <a:spLocks noGrp="1"/>
          </p:cNvSpPr>
          <p:nvPr>
            <p:ph type="title"/>
          </p:nvPr>
        </p:nvSpPr>
        <p:spPr>
          <a:xfrm>
            <a:off x="838200" y="317500"/>
            <a:ext cx="10515600" cy="889000"/>
          </a:xfrm>
        </p:spPr>
        <p:txBody>
          <a:bodyPr/>
          <a:lstStyle/>
          <a:p>
            <a:r>
              <a:rPr lang="it-IT" b="1" dirty="0"/>
              <a:t>Indice</a:t>
            </a:r>
          </a:p>
        </p:txBody>
      </p:sp>
      <p:sp>
        <p:nvSpPr>
          <p:cNvPr id="8" name="agenda">
            <a:extLst>
              <a:ext uri="{FF2B5EF4-FFF2-40B4-BE49-F238E27FC236}">
                <a16:creationId xmlns:a16="http://schemas.microsoft.com/office/drawing/2014/main" id="{C6504559-D2CA-46AC-A852-1718D4D5064D}"/>
              </a:ext>
            </a:extLst>
          </p:cNvPr>
          <p:cNvSpPr txBox="1"/>
          <p:nvPr/>
        </p:nvSpPr>
        <p:spPr>
          <a:xfrm>
            <a:off x="838200" y="1333500"/>
            <a:ext cx="10515600" cy="4826000"/>
          </a:xfrm>
          <a:prstGeom prst="rect">
            <a:avLst/>
          </a:prstGeom>
          <a:noFill/>
        </p:spPr>
        <p:txBody>
          <a:bodyPr vertOverflow="overflow" vert="horz" wrap="square" rtlCol="0" anchor="t">
            <a:noAutofit/>
          </a:bodyPr>
          <a:lstStyle/>
          <a:p>
            <a:pPr marL="571500" indent="-571500">
              <a:lnSpc>
                <a:spcPts val="4800"/>
              </a:lnSpc>
              <a:spcBef>
                <a:spcPts val="0"/>
              </a:spcBef>
              <a:tabLst>
                <a:tab pos="571500" algn="l"/>
              </a:tabLst>
            </a:pPr>
            <a:r>
              <a:rPr lang="it-IT" sz="2400" b="1" dirty="0">
                <a:solidFill>
                  <a:srgbClr val="E97132"/>
                </a:solidFill>
              </a:rPr>
              <a:t>01	</a:t>
            </a:r>
            <a:r>
              <a:rPr lang="it-IT" sz="2400" dirty="0">
                <a:solidFill>
                  <a:srgbClr val="1A2533"/>
                </a:solidFill>
              </a:rPr>
              <a:t>il problema e l’obiettivo</a:t>
            </a:r>
          </a:p>
          <a:p>
            <a:pPr marL="571500" indent="-571500">
              <a:lnSpc>
                <a:spcPts val="4800"/>
              </a:lnSpc>
              <a:spcBef>
                <a:spcPts val="1200"/>
              </a:spcBef>
              <a:tabLst>
                <a:tab pos="571500" algn="l"/>
              </a:tabLst>
            </a:pPr>
            <a:r>
              <a:rPr lang="it-IT" sz="2400" b="1" dirty="0">
                <a:solidFill>
                  <a:srgbClr val="E97132"/>
                </a:solidFill>
              </a:rPr>
              <a:t>02	</a:t>
            </a:r>
            <a:r>
              <a:rPr lang="it-IT" sz="2400" dirty="0">
                <a:solidFill>
                  <a:srgbClr val="1A2533"/>
                </a:solidFill>
              </a:rPr>
              <a:t>la matrice di correlazione finanziaria</a:t>
            </a:r>
          </a:p>
          <a:p>
            <a:pPr marL="571500" indent="-571500">
              <a:lnSpc>
                <a:spcPts val="4800"/>
              </a:lnSpc>
              <a:spcBef>
                <a:spcPts val="1200"/>
              </a:spcBef>
              <a:tabLst>
                <a:tab pos="571500" algn="l"/>
              </a:tabLst>
            </a:pPr>
            <a:r>
              <a:rPr lang="it-IT" sz="2400" b="1" dirty="0">
                <a:solidFill>
                  <a:srgbClr val="E97132"/>
                </a:solidFill>
              </a:rPr>
              <a:t>03	</a:t>
            </a:r>
            <a:r>
              <a:rPr lang="it-IT" sz="2400" dirty="0">
                <a:solidFill>
                  <a:srgbClr val="1A2533"/>
                </a:solidFill>
              </a:rPr>
              <a:t>il dataset e il pre-processing</a:t>
            </a:r>
          </a:p>
          <a:p>
            <a:pPr marL="571500" indent="-571500">
              <a:lnSpc>
                <a:spcPts val="4800"/>
              </a:lnSpc>
              <a:spcBef>
                <a:spcPts val="1200"/>
              </a:spcBef>
              <a:tabLst>
                <a:tab pos="571500" algn="l"/>
              </a:tabLst>
            </a:pPr>
            <a:r>
              <a:rPr lang="it-IT" sz="2400" b="1" dirty="0">
                <a:solidFill>
                  <a:srgbClr val="E97132"/>
                </a:solidFill>
              </a:rPr>
              <a:t>04	</a:t>
            </a:r>
            <a:r>
              <a:rPr lang="it-IT" sz="2400" dirty="0">
                <a:solidFill>
                  <a:srgbClr val="1A2533"/>
                </a:solidFill>
              </a:rPr>
              <a:t>analisi dei modelli ricostruttivi</a:t>
            </a:r>
          </a:p>
          <a:p>
            <a:pPr marL="571500" indent="-571500">
              <a:lnSpc>
                <a:spcPts val="4800"/>
              </a:lnSpc>
              <a:spcBef>
                <a:spcPts val="1200"/>
              </a:spcBef>
              <a:tabLst>
                <a:tab pos="571500" algn="l"/>
              </a:tabLst>
            </a:pPr>
            <a:r>
              <a:rPr lang="it-IT" sz="2400" b="1" dirty="0">
                <a:solidFill>
                  <a:srgbClr val="E97132"/>
                </a:solidFill>
              </a:rPr>
              <a:t>05	</a:t>
            </a:r>
            <a:r>
              <a:rPr lang="it-IT" sz="2400" dirty="0">
                <a:solidFill>
                  <a:srgbClr val="1A2533"/>
                </a:solidFill>
              </a:rPr>
              <a:t>generazione di matrici sintetiche tramite il VAE</a:t>
            </a:r>
          </a:p>
          <a:p>
            <a:pPr marL="571500" indent="-571500">
              <a:lnSpc>
                <a:spcPts val="4800"/>
              </a:lnSpc>
              <a:spcBef>
                <a:spcPts val="1200"/>
              </a:spcBef>
              <a:tabLst>
                <a:tab pos="571500" algn="l"/>
              </a:tabLst>
            </a:pPr>
            <a:r>
              <a:rPr lang="it-IT" sz="2400" b="1" dirty="0">
                <a:solidFill>
                  <a:srgbClr val="E97132"/>
                </a:solidFill>
              </a:rPr>
              <a:t>06	</a:t>
            </a:r>
            <a:r>
              <a:rPr lang="it-IT" sz="2400" dirty="0">
                <a:solidFill>
                  <a:srgbClr val="1A2533"/>
                </a:solidFill>
              </a:rPr>
              <a:t>validazione, limiti e conclusione</a:t>
            </a:r>
          </a:p>
        </p:txBody>
      </p:sp>
    </p:spTree>
    <p:extLst>
      <p:ext uri="{BB962C8B-B14F-4D97-AF65-F5344CB8AC3E}">
        <p14:creationId xmlns:p14="http://schemas.microsoft.com/office/powerpoint/2010/main" val="2579973504"/>
      </p:ext>
    </p:extLst>
  </p:cSld>
  <p:clrMapOvr>
    <a:masterClrMapping/>
  </p:clrMapOvr>
  <mc:AlternateContent xmlns:mc="http://schemas.openxmlformats.org/markup-compatibility/2006" xmlns:p14="http://schemas.microsoft.com/office/powerpoint/2010/main">
    <mc:Choice Requires="p14">
      <p:transition spd="slow" p14:dur="2000" advTm="2339"/>
    </mc:Choice>
    <mc:Fallback xmlns="">
      <p:transition spd="slow" advTm="233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ABEC641-36F1-B030-3D2F-D4214920C9C2}"/>
              </a:ext>
            </a:extLst>
          </p:cNvPr>
          <p:cNvSpPr>
            <a:spLocks noGrp="1"/>
          </p:cNvSpPr>
          <p:nvPr>
            <p:ph type="title"/>
          </p:nvPr>
        </p:nvSpPr>
        <p:spPr>
          <a:xfrm>
            <a:off x="838200" y="317500"/>
            <a:ext cx="10515600" cy="889000"/>
          </a:xfrm>
        </p:spPr>
        <p:txBody>
          <a:bodyPr/>
          <a:lstStyle/>
          <a:p>
            <a:pPr algn="l"/>
            <a:r>
              <a:rPr lang="it-IT" b="1" dirty="0"/>
              <a:t>Il problema e l’obiettivo</a:t>
            </a:r>
          </a:p>
        </p:txBody>
      </p:sp>
      <p:sp>
        <p:nvSpPr>
          <p:cNvPr id="3" name="Segnaposto contenuto 2">
            <a:extLst>
              <a:ext uri="{FF2B5EF4-FFF2-40B4-BE49-F238E27FC236}">
                <a16:creationId xmlns:a16="http://schemas.microsoft.com/office/drawing/2014/main" id="{4713345F-0754-0AB9-56FC-F5E5094F80B6}"/>
              </a:ext>
            </a:extLst>
          </p:cNvPr>
          <p:cNvSpPr>
            <a:spLocks noGrp="1"/>
          </p:cNvSpPr>
          <p:nvPr>
            <p:ph idx="1"/>
          </p:nvPr>
        </p:nvSpPr>
        <p:spPr>
          <a:xfrm>
            <a:off x="584200" y="1333500"/>
            <a:ext cx="11023600" cy="3810000"/>
          </a:xfrm>
        </p:spPr>
        <p:txBody>
          <a:bodyPr>
            <a:normAutofit/>
          </a:bodyPr>
          <a:lstStyle/>
          <a:p>
            <a:pPr marL="0" indent="0">
              <a:spcAft>
                <a:spcPts val="0"/>
              </a:spcAft>
              <a:buNone/>
            </a:pPr>
            <a:r>
              <a:rPr lang="it-IT" sz="2400" dirty="0">
                <a:solidFill>
                  <a:srgbClr val="1A2533"/>
                </a:solidFill>
              </a:rPr>
              <a:t>Markowitz (1952): il rischio dipende da come i titoli si muovono insieme, cioè dalla </a:t>
            </a:r>
            <a:r>
              <a:rPr lang="it-IT" sz="2400" b="1" dirty="0">
                <a:solidFill>
                  <a:srgbClr val="156082"/>
                </a:solidFill>
              </a:rPr>
              <a:t>matrice di correlazione</a:t>
            </a:r>
          </a:p>
          <a:p>
            <a:pPr marL="342900" indent="-342900">
              <a:spcBef>
                <a:spcPts val="3600"/>
              </a:spcBef>
              <a:buFont typeface="Arial"/>
              <a:buChar char="•"/>
            </a:pPr>
            <a:r>
              <a:rPr lang="it-IT" sz="2800" b="1" dirty="0">
                <a:solidFill>
                  <a:srgbClr val="156082"/>
                </a:solidFill>
              </a:rPr>
              <a:t>stima rumorosa</a:t>
            </a:r>
          </a:p>
          <a:p>
            <a:pPr marL="342900" indent="-342900">
              <a:spcBef>
                <a:spcPts val="3600"/>
              </a:spcBef>
              <a:buFont typeface="Arial"/>
              <a:buChar char="•"/>
            </a:pPr>
            <a:r>
              <a:rPr lang="it-IT" sz="2800" b="1" dirty="0">
                <a:solidFill>
                  <a:srgbClr val="156082"/>
                </a:solidFill>
              </a:rPr>
              <a:t>una sola traiettoria storica</a:t>
            </a:r>
          </a:p>
          <a:p>
            <a:pPr marL="342900" indent="-342900">
              <a:spcBef>
                <a:spcPts val="3600"/>
              </a:spcBef>
              <a:buFont typeface="Arial"/>
              <a:buChar char="•"/>
            </a:pPr>
            <a:r>
              <a:rPr lang="it-IT" sz="2800" b="1" dirty="0">
                <a:solidFill>
                  <a:srgbClr val="156082"/>
                </a:solidFill>
              </a:rPr>
              <a:t>matrice fissa nei Monte Carlo</a:t>
            </a:r>
          </a:p>
        </p:txBody>
      </p:sp>
      <p:sp>
        <p:nvSpPr>
          <p:cNvPr id="4" name="Rettangolo con angoli arrotondati 3">
            <a:extLst>
              <a:ext uri="{FF2B5EF4-FFF2-40B4-BE49-F238E27FC236}">
                <a16:creationId xmlns:a16="http://schemas.microsoft.com/office/drawing/2014/main" id="{2AF08735-17AF-4F17-9E0C-30B5D08D3E2F}"/>
              </a:ext>
            </a:extLst>
          </p:cNvPr>
          <p:cNvSpPr/>
          <p:nvPr/>
        </p:nvSpPr>
        <p:spPr>
          <a:xfrm>
            <a:off x="584200" y="5397500"/>
            <a:ext cx="11023600" cy="990600"/>
          </a:xfrm>
          <a:prstGeom prst="round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it-IT" sz="2400" b="1" dirty="0">
                <a:solidFill>
                  <a:srgbClr val="FFFFFF"/>
                </a:solidFill>
              </a:rPr>
              <a:t>obiettivo: generare scenari sintetici a orizzonte nominale di 21 giorni, costruiti ricampionando transizioni storiche dello spazio latente di un VAE</a:t>
            </a:r>
          </a:p>
        </p:txBody>
      </p:sp>
      <p:sp>
        <p:nvSpPr>
          <p:cNvPr id="5" name="PageNumber">
            <a:extLst>
              <a:ext uri="{FF2B5EF4-FFF2-40B4-BE49-F238E27FC236}">
                <a16:creationId xmlns:a16="http://schemas.microsoft.com/office/drawing/2014/main" id="{AEE0D59D-A71C-4424-839C-17518719B4A3}"/>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1</a:t>
            </a:r>
          </a:p>
        </p:txBody>
      </p:sp>
    </p:spTree>
    <p:extLst>
      <p:ext uri="{BB962C8B-B14F-4D97-AF65-F5344CB8AC3E}">
        <p14:creationId xmlns:p14="http://schemas.microsoft.com/office/powerpoint/2010/main" val="61967139"/>
      </p:ext>
    </p:extLst>
  </p:cSld>
  <p:clrMapOvr>
    <a:masterClrMapping/>
  </p:clrMapOvr>
  <mc:AlternateContent xmlns:mc="http://schemas.openxmlformats.org/markup-compatibility/2006" xmlns:p14="http://schemas.microsoft.com/office/powerpoint/2010/main">
    <mc:Choice Requires="p14">
      <p:transition spd="slow" p14:dur="2000" advTm="693"/>
    </mc:Choice>
    <mc:Fallback xmlns="">
      <p:transition spd="slow" advTm="6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8C83F1-62AB-B580-FDB4-2B27C74B84E7}"/>
              </a:ext>
            </a:extLst>
          </p:cNvPr>
          <p:cNvSpPr>
            <a:spLocks noGrp="1"/>
          </p:cNvSpPr>
          <p:nvPr>
            <p:ph type="title"/>
          </p:nvPr>
        </p:nvSpPr>
        <p:spPr>
          <a:xfrm>
            <a:off x="838200" y="317500"/>
            <a:ext cx="10515600" cy="889000"/>
          </a:xfrm>
        </p:spPr>
        <p:txBody>
          <a:bodyPr/>
          <a:lstStyle/>
          <a:p>
            <a:pPr algn="l"/>
            <a:r>
              <a:rPr lang="it-IT" b="1" dirty="0"/>
              <a:t>La matrice di correlazione finanziaria</a:t>
            </a:r>
          </a:p>
        </p:txBody>
      </p:sp>
      <p:sp>
        <p:nvSpPr>
          <p:cNvPr id="3" name="Segnaposto contenuto 2">
            <a:extLst>
              <a:ext uri="{FF2B5EF4-FFF2-40B4-BE49-F238E27FC236}">
                <a16:creationId xmlns:a16="http://schemas.microsoft.com/office/drawing/2014/main" id="{FD00C5DF-930E-CB2B-272B-AE20B3572474}"/>
              </a:ext>
            </a:extLst>
          </p:cNvPr>
          <p:cNvSpPr>
            <a:spLocks noGrp="1"/>
          </p:cNvSpPr>
          <p:nvPr>
            <p:ph idx="1"/>
          </p:nvPr>
        </p:nvSpPr>
        <p:spPr>
          <a:xfrm>
            <a:off x="838200" y="1333500"/>
            <a:ext cx="5969000" cy="5080000"/>
          </a:xfrm>
        </p:spPr>
        <p:txBody>
          <a:bodyPr anchor="ctr" anchorCtr="0">
            <a:normAutofit/>
          </a:bodyPr>
          <a:lstStyle/>
          <a:p>
            <a:pPr marL="342900" indent="-342900">
              <a:lnSpc>
                <a:spcPct val="95000"/>
              </a:lnSpc>
              <a:spcBef>
                <a:spcPts val="300"/>
              </a:spcBef>
              <a:buFont typeface="Arial"/>
              <a:buChar char="•"/>
            </a:pPr>
            <a:r>
              <a:rPr lang="it-IT" sz="2400" b="1" dirty="0">
                <a:solidFill>
                  <a:srgbClr val="156082"/>
                </a:solidFill>
              </a:rPr>
              <a:t>costruzione: </a:t>
            </a:r>
            <a:r>
              <a:rPr lang="it-IT" sz="2400" dirty="0">
                <a:solidFill>
                  <a:srgbClr val="1A2533"/>
                </a:solidFill>
              </a:rPr>
              <a:t>correlazione di Pearson sui rendimenti logaritmici tra coppie di titoli</a:t>
            </a:r>
          </a:p>
          <a:p>
            <a:pPr marL="342900" indent="-342900">
              <a:lnSpc>
                <a:spcPct val="95000"/>
              </a:lnSpc>
              <a:spcBef>
                <a:spcPts val="1400"/>
              </a:spcBef>
              <a:buFont typeface="Arial"/>
              <a:buChar char="•"/>
            </a:pPr>
            <a:r>
              <a:rPr lang="it-IT" sz="2400" b="1" dirty="0">
                <a:solidFill>
                  <a:srgbClr val="156082"/>
                </a:solidFill>
              </a:rPr>
              <a:t>proprietà: </a:t>
            </a:r>
            <a:r>
              <a:rPr lang="it-IT" sz="2400" dirty="0">
                <a:solidFill>
                  <a:srgbClr val="1A2533"/>
                </a:solidFill>
              </a:rPr>
              <a:t>simmetrica, diagonale unitaria, valori in [−1, +1], </a:t>
            </a:r>
            <a:r>
              <a:rPr lang="it-IT" sz="2400" dirty="0" err="1">
                <a:solidFill>
                  <a:srgbClr val="1A2533"/>
                </a:solidFill>
              </a:rPr>
              <a:t>semidefinita</a:t>
            </a:r>
            <a:r>
              <a:rPr lang="it-IT" sz="2400" dirty="0">
                <a:solidFill>
                  <a:srgbClr val="1A2533"/>
                </a:solidFill>
              </a:rPr>
              <a:t> positiva</a:t>
            </a:r>
            <a:endParaRPr lang="it-IT" sz="2400" dirty="0"/>
          </a:p>
          <a:p>
            <a:pPr marL="342900" indent="-342900">
              <a:lnSpc>
                <a:spcPct val="95000"/>
              </a:lnSpc>
              <a:spcBef>
                <a:spcPts val="1400"/>
              </a:spcBef>
              <a:buFont typeface="Arial"/>
              <a:buChar char="•"/>
            </a:pPr>
            <a:r>
              <a:rPr lang="it-IT" sz="2400" b="1" dirty="0">
                <a:solidFill>
                  <a:srgbClr val="156082"/>
                </a:solidFill>
              </a:rPr>
              <a:t>realismo: </a:t>
            </a:r>
            <a:r>
              <a:rPr lang="it-IT" sz="2400" dirty="0">
                <a:solidFill>
                  <a:srgbClr val="1A2533"/>
                </a:solidFill>
              </a:rPr>
              <a:t>cinque fatti stilizzati noti in letteratura</a:t>
            </a:r>
          </a:p>
        </p:txBody>
      </p:sp>
      <p:pic>
        <p:nvPicPr>
          <p:cNvPr id="5" name="Copied Picture 5">
            <a:extLst>
              <a:ext uri="{FF2B5EF4-FFF2-40B4-BE49-F238E27FC236}">
                <a16:creationId xmlns:a16="http://schemas.microsoft.com/office/drawing/2014/main" id="{422176B5-26EB-2FD5-6834-7526101EEF0C}"/>
              </a:ext>
            </a:extLst>
          </p:cNvPr>
          <p:cNvPicPr>
            <a:picLocks noChangeAspect="1"/>
          </p:cNvPicPr>
          <p:nvPr/>
        </p:nvPicPr>
        <p:blipFill>
          <a:blip r:embed="rId3"/>
          <a:srcRect t="3148"/>
          <a:stretch>
            <a:fillRect/>
          </a:stretch>
        </p:blipFill>
        <p:spPr>
          <a:xfrm>
            <a:off x="7175500" y="1778000"/>
            <a:ext cx="4191000" cy="4191000"/>
          </a:xfrm>
          <a:prstGeom prst="rect">
            <a:avLst/>
          </a:prstGeom>
        </p:spPr>
      </p:pic>
      <p:sp>
        <p:nvSpPr>
          <p:cNvPr id="4" name="PageNumber">
            <a:extLst>
              <a:ext uri="{FF2B5EF4-FFF2-40B4-BE49-F238E27FC236}">
                <a16:creationId xmlns:a16="http://schemas.microsoft.com/office/drawing/2014/main" id="{3B862C0F-AE9D-422F-B062-5AC95A8EA1C2}"/>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2</a:t>
            </a:r>
          </a:p>
        </p:txBody>
      </p:sp>
    </p:spTree>
    <p:extLst>
      <p:ext uri="{BB962C8B-B14F-4D97-AF65-F5344CB8AC3E}">
        <p14:creationId xmlns:p14="http://schemas.microsoft.com/office/powerpoint/2010/main" val="3042785456"/>
      </p:ext>
    </p:extLst>
  </p:cSld>
  <p:clrMapOvr>
    <a:masterClrMapping/>
  </p:clrMapOvr>
  <mc:AlternateContent xmlns:mc="http://schemas.openxmlformats.org/markup-compatibility/2006" xmlns:p14="http://schemas.microsoft.com/office/powerpoint/2010/main">
    <mc:Choice Requires="p14">
      <p:transition spd="slow" p14:dur="2000" advTm="593"/>
    </mc:Choice>
    <mc:Fallback xmlns="">
      <p:transition spd="slow" advTm="59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7A7E8C-D309-1705-0877-4C1B906E8247}"/>
              </a:ext>
            </a:extLst>
          </p:cNvPr>
          <p:cNvSpPr>
            <a:spLocks noGrp="1"/>
          </p:cNvSpPr>
          <p:nvPr>
            <p:ph type="title"/>
          </p:nvPr>
        </p:nvSpPr>
        <p:spPr>
          <a:xfrm>
            <a:off x="838200" y="279400"/>
            <a:ext cx="10515600" cy="889000"/>
          </a:xfrm>
        </p:spPr>
        <p:txBody>
          <a:bodyPr>
            <a:normAutofit/>
          </a:bodyPr>
          <a:lstStyle/>
          <a:p>
            <a:pPr algn="l"/>
            <a:r>
              <a:rPr lang="it-IT" sz="3200" b="1" dirty="0"/>
              <a:t>Fatto 1 · correlazioni spostate verso il positivo</a:t>
            </a:r>
          </a:p>
        </p:txBody>
      </p:sp>
      <p:sp>
        <p:nvSpPr>
          <p:cNvPr id="3" name="CasellaDiTesto 2">
            <a:extLst>
              <a:ext uri="{FF2B5EF4-FFF2-40B4-BE49-F238E27FC236}">
                <a16:creationId xmlns:a16="http://schemas.microsoft.com/office/drawing/2014/main" id="{195DF61B-C6E1-4506-A3BF-762DCF9FBA69}"/>
              </a:ext>
            </a:extLst>
          </p:cNvPr>
          <p:cNvSpPr txBox="1"/>
          <p:nvPr/>
        </p:nvSpPr>
        <p:spPr>
          <a:xfrm>
            <a:off x="838200" y="1244600"/>
            <a:ext cx="10515600" cy="787400"/>
          </a:xfrm>
          <a:prstGeom prst="rect">
            <a:avLst/>
          </a:prstGeom>
          <a:noFill/>
        </p:spPr>
        <p:txBody>
          <a:bodyPr vertOverflow="overflow" vert="horz" wrap="square" rtlCol="0" anchor="t">
            <a:noAutofit/>
          </a:bodyPr>
          <a:lstStyle/>
          <a:p>
            <a:pPr algn="l">
              <a:buNone/>
            </a:pPr>
            <a:r>
              <a:rPr lang="it-IT" sz="2400" b="1" dirty="0">
                <a:solidFill>
                  <a:srgbClr val="156082"/>
                </a:solidFill>
              </a:rPr>
              <a:t>mercato reale: </a:t>
            </a:r>
            <a:r>
              <a:rPr lang="it-IT" sz="2400" dirty="0">
                <a:solidFill>
                  <a:srgbClr val="1A2533"/>
                </a:solidFill>
              </a:rPr>
              <a:t>media sbilanciata verso valori positivi</a:t>
            </a:r>
          </a:p>
          <a:p>
            <a:pPr algn="l">
              <a:buNone/>
            </a:pPr>
            <a:r>
              <a:rPr lang="it-IT" sz="2400" b="1" dirty="0">
                <a:solidFill>
                  <a:srgbClr val="E97132"/>
                </a:solidFill>
              </a:rPr>
              <a:t>matrice di controllo: </a:t>
            </a:r>
            <a:r>
              <a:rPr lang="it-IT" sz="2400" dirty="0">
                <a:solidFill>
                  <a:srgbClr val="1A2533"/>
                </a:solidFill>
              </a:rPr>
              <a:t>media zero</a:t>
            </a:r>
          </a:p>
        </p:txBody>
      </p:sp>
      <p:pic>
        <p:nvPicPr>
          <p:cNvPr id="4" name="Immagine 3">
            <a:extLst>
              <a:ext uri="{FF2B5EF4-FFF2-40B4-BE49-F238E27FC236}">
                <a16:creationId xmlns:a16="http://schemas.microsoft.com/office/drawing/2014/main" id="{B6E99896-F8CF-3396-8501-C1C74DF85781}"/>
              </a:ext>
            </a:extLst>
          </p:cNvPr>
          <p:cNvPicPr>
            <a:picLocks noChangeAspect="1"/>
          </p:cNvPicPr>
          <p:nvPr/>
        </p:nvPicPr>
        <p:blipFill>
          <a:blip r:embed="rId3"/>
          <a:srcRect t="10864"/>
          <a:stretch>
            <a:fillRect/>
          </a:stretch>
        </p:blipFill>
        <p:spPr>
          <a:xfrm>
            <a:off x="508000" y="2341548"/>
            <a:ext cx="11176000" cy="3581749"/>
          </a:xfrm>
          <a:prstGeom prst="rect">
            <a:avLst/>
          </a:prstGeom>
        </p:spPr>
      </p:pic>
      <p:sp>
        <p:nvSpPr>
          <p:cNvPr id="5" name="PageNumber">
            <a:extLst>
              <a:ext uri="{FF2B5EF4-FFF2-40B4-BE49-F238E27FC236}">
                <a16:creationId xmlns:a16="http://schemas.microsoft.com/office/drawing/2014/main" id="{2E5402A4-30B7-4901-875F-5A81566E875A}"/>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3</a:t>
            </a:r>
          </a:p>
        </p:txBody>
      </p:sp>
    </p:spTree>
    <p:extLst>
      <p:ext uri="{BB962C8B-B14F-4D97-AF65-F5344CB8AC3E}">
        <p14:creationId xmlns:p14="http://schemas.microsoft.com/office/powerpoint/2010/main" val="1912112466"/>
      </p:ext>
    </p:extLst>
  </p:cSld>
  <p:clrMapOvr>
    <a:masterClrMapping/>
  </p:clrMapOvr>
  <mc:AlternateContent xmlns:mc="http://schemas.openxmlformats.org/markup-compatibility/2006" xmlns:p14="http://schemas.microsoft.com/office/powerpoint/2010/main">
    <mc:Choice Requires="p14">
      <p:transition spd="slow" p14:dur="2000" advTm="390"/>
    </mc:Choice>
    <mc:Fallback xmlns="">
      <p:transition spd="slow" advTm="39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FD3F3B-265E-8B3B-EC51-D61FE378FFB5}"/>
              </a:ext>
            </a:extLst>
          </p:cNvPr>
          <p:cNvSpPr>
            <a:spLocks noGrp="1"/>
          </p:cNvSpPr>
          <p:nvPr>
            <p:ph type="title"/>
          </p:nvPr>
        </p:nvSpPr>
        <p:spPr>
          <a:xfrm>
            <a:off x="838200" y="279400"/>
            <a:ext cx="10515600" cy="889000"/>
          </a:xfrm>
        </p:spPr>
        <p:txBody>
          <a:bodyPr>
            <a:normAutofit/>
          </a:bodyPr>
          <a:lstStyle/>
          <a:p>
            <a:pPr algn="l"/>
            <a:r>
              <a:rPr lang="it-IT" sz="3200" b="1" dirty="0"/>
              <a:t>Fatto 2 · spettro oltre la banda di Marchenko-Pastur</a:t>
            </a:r>
          </a:p>
        </p:txBody>
      </p:sp>
      <p:sp>
        <p:nvSpPr>
          <p:cNvPr id="3" name="CasellaDiTesto 2">
            <a:extLst>
              <a:ext uri="{FF2B5EF4-FFF2-40B4-BE49-F238E27FC236}">
                <a16:creationId xmlns:a16="http://schemas.microsoft.com/office/drawing/2014/main" id="{1F544EAB-33CA-43B8-BF65-F84A990AEE85}"/>
              </a:ext>
            </a:extLst>
          </p:cNvPr>
          <p:cNvSpPr txBox="1"/>
          <p:nvPr/>
        </p:nvSpPr>
        <p:spPr>
          <a:xfrm>
            <a:off x="838200" y="1244600"/>
            <a:ext cx="10515600" cy="1143000"/>
          </a:xfrm>
          <a:prstGeom prst="rect">
            <a:avLst/>
          </a:prstGeom>
          <a:noFill/>
        </p:spPr>
        <p:txBody>
          <a:bodyPr vertOverflow="overflow" vert="horz" wrap="square" rtlCol="0" anchor="t">
            <a:noAutofit/>
          </a:bodyPr>
          <a:lstStyle/>
          <a:p>
            <a:pPr algn="l">
              <a:buNone/>
            </a:pPr>
            <a:r>
              <a:rPr lang="it-IT" sz="2400" b="1" dirty="0">
                <a:solidFill>
                  <a:srgbClr val="156082"/>
                </a:solidFill>
              </a:rPr>
              <a:t>mercato reale: </a:t>
            </a:r>
            <a:r>
              <a:rPr lang="it-IT" sz="2400" dirty="0">
                <a:solidFill>
                  <a:srgbClr val="1A2533"/>
                </a:solidFill>
              </a:rPr>
              <a:t>un autovalore dominante e pochi modi settoriali fuori banda</a:t>
            </a:r>
          </a:p>
          <a:p>
            <a:pPr algn="l">
              <a:buNone/>
            </a:pPr>
            <a:r>
              <a:rPr lang="it-IT" sz="2400" b="1" dirty="0">
                <a:solidFill>
                  <a:srgbClr val="E97132"/>
                </a:solidFill>
              </a:rPr>
              <a:t>matrice di controllo: </a:t>
            </a:r>
            <a:r>
              <a:rPr lang="it-IT" sz="2400" dirty="0">
                <a:solidFill>
                  <a:srgbClr val="1A2533"/>
                </a:solidFill>
              </a:rPr>
              <a:t>spettro dentro la banda teorica</a:t>
            </a:r>
          </a:p>
        </p:txBody>
      </p:sp>
      <p:pic>
        <p:nvPicPr>
          <p:cNvPr id="4" name="Immagine 3">
            <a:extLst>
              <a:ext uri="{FF2B5EF4-FFF2-40B4-BE49-F238E27FC236}">
                <a16:creationId xmlns:a16="http://schemas.microsoft.com/office/drawing/2014/main" id="{08F8DD05-A443-F620-936E-9022E9629EDE}"/>
              </a:ext>
            </a:extLst>
          </p:cNvPr>
          <p:cNvPicPr>
            <a:picLocks noChangeAspect="1"/>
          </p:cNvPicPr>
          <p:nvPr/>
        </p:nvPicPr>
        <p:blipFill>
          <a:blip r:embed="rId3"/>
          <a:srcRect t="10057"/>
          <a:stretch>
            <a:fillRect/>
          </a:stretch>
        </p:blipFill>
        <p:spPr>
          <a:xfrm>
            <a:off x="428969" y="3429000"/>
            <a:ext cx="11022490" cy="3039535"/>
          </a:xfrm>
          <a:prstGeom prst="rect">
            <a:avLst/>
          </a:prstGeom>
        </p:spPr>
      </p:pic>
      <mc:AlternateContent xmlns:mc="http://schemas.openxmlformats.org/markup-compatibility/2006" xmlns:a14="http://schemas.microsoft.com/office/drawing/2010/main">
        <mc:Choice Requires="a14">
          <p:sp>
            <p:nvSpPr>
              <p:cNvPr id="9" name="f1">
                <a:extLst>
                  <a:ext uri="{FF2B5EF4-FFF2-40B4-BE49-F238E27FC236}">
                    <a16:creationId xmlns:a16="http://schemas.microsoft.com/office/drawing/2014/main" id="{56DDBE76-9165-4FFD-BC50-4B0B6E7A5D6C}"/>
                  </a:ext>
                </a:extLst>
              </p:cNvPr>
              <p:cNvSpPr txBox="1"/>
              <p:nvPr/>
            </p:nvSpPr>
            <p:spPr>
              <a:xfrm>
                <a:off x="1239519" y="2595033"/>
                <a:ext cx="1466427" cy="635000"/>
              </a:xfrm>
              <a:prstGeom prst="rect">
                <a:avLst/>
              </a:prstGeom>
              <a:noFill/>
            </p:spPr>
            <p:txBody>
              <a:bodyPr vertOverflow="overflow" vert="horz" wrap="none" rtlCol="0" anchor="ctr" anchorCtr="0">
                <a:noAutofit/>
              </a:bodyPr>
              <a:lstStyle/>
              <a:p>
                <a:pPr algn="ctr"/>
                <a14:m>
                  <m:oMathPara xmlns:m="http://schemas.openxmlformats.org/officeDocument/2006/math">
                    <m:oMath>
                      <m:r>
                        <a:rPr lang="it-IT" sz="2200" i="1">
                          <a:solidFill>
                            <a:srgbClr val="0E2841"/>
                          </a:solidFill>
                          <a:latin typeface="Cambria Math" panose="02040503050406030204" pitchFamily="18" charset="0"/>
                        </a:rPr>
                        <m:t>𝑞</m:t>
                      </m:r>
                      <m:r>
                        <a:rPr lang="it-IT" sz="2200" i="0">
                          <a:solidFill>
                            <a:srgbClr val="0E2841"/>
                          </a:solidFill>
                          <a:latin typeface="Cambria Math" panose="02040503050406030204" pitchFamily="18" charset="0"/>
                        </a:rPr>
                        <m:t> = </m:t>
                      </m:r>
                      <m:f>
                        <m:fPr>
                          <m:ctrlPr>
                            <a:rPr lang="it-IT" sz="2200" i="1">
                              <a:solidFill>
                                <a:srgbClr val="0E2841"/>
                              </a:solidFill>
                              <a:latin typeface="Cambria Math" panose="02040503050406030204" pitchFamily="18" charset="0"/>
                            </a:rPr>
                          </m:ctrlPr>
                        </m:fPr>
                        <m:num>
                          <m:r>
                            <a:rPr lang="it-IT" sz="2200" i="1">
                              <a:solidFill>
                                <a:srgbClr val="0E2841"/>
                              </a:solidFill>
                              <a:latin typeface="Cambria Math" panose="02040503050406030204" pitchFamily="18" charset="0"/>
                            </a:rPr>
                            <m:t>𝑁</m:t>
                          </m:r>
                        </m:num>
                        <m:den>
                          <m:r>
                            <a:rPr lang="it-IT" sz="2200" i="1">
                              <a:solidFill>
                                <a:srgbClr val="0E2841"/>
                              </a:solidFill>
                              <a:latin typeface="Cambria Math" panose="02040503050406030204" pitchFamily="18" charset="0"/>
                            </a:rPr>
                            <m:t>𝑇</m:t>
                          </m:r>
                        </m:den>
                      </m:f>
                    </m:oMath>
                  </m:oMathPara>
                </a14:m>
                <a:endParaRPr lang="it-IT" sz="2200" dirty="0"/>
              </a:p>
            </p:txBody>
          </p:sp>
        </mc:Choice>
        <mc:Fallback xmlns="">
          <p:sp>
            <p:nvSpPr>
              <p:cNvPr id="9" name="f1">
                <a:extLst>
                  <a:ext uri="{FF2B5EF4-FFF2-40B4-BE49-F238E27FC236}">
                    <a16:creationId xmlns:a16="http://schemas.microsoft.com/office/drawing/2014/main" id="{56DDBE76-9165-4FFD-BC50-4B0B6E7A5D6C}"/>
                  </a:ext>
                </a:extLst>
              </p:cNvPr>
              <p:cNvSpPr txBox="1">
                <a:spLocks noRot="1" noChangeAspect="1" noMove="1" noResize="1" noEditPoints="1" noAdjustHandles="1" noChangeArrowheads="1" noChangeShapeType="1" noTextEdit="1"/>
              </p:cNvSpPr>
              <p:nvPr/>
            </p:nvSpPr>
            <p:spPr>
              <a:xfrm>
                <a:off x="1239519" y="2595033"/>
                <a:ext cx="1466427" cy="635000"/>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f2">
                <a:extLst>
                  <a:ext uri="{FF2B5EF4-FFF2-40B4-BE49-F238E27FC236}">
                    <a16:creationId xmlns:a16="http://schemas.microsoft.com/office/drawing/2014/main" id="{01CF6920-5B21-4110-9009-22EDCF3DA6E0}"/>
                  </a:ext>
                </a:extLst>
              </p:cNvPr>
              <p:cNvSpPr txBox="1"/>
              <p:nvPr/>
            </p:nvSpPr>
            <p:spPr>
              <a:xfrm>
                <a:off x="3163145" y="2595033"/>
                <a:ext cx="2475653" cy="635000"/>
              </a:xfrm>
              <a:prstGeom prst="rect">
                <a:avLst/>
              </a:prstGeom>
              <a:noFill/>
            </p:spPr>
            <p:txBody>
              <a:bodyPr vertOverflow="overflow" vert="horz" wrap="none" rtlCol="0" anchor="ctr" anchorCtr="0">
                <a:noAutofit/>
              </a:bodyPr>
              <a:lstStyle/>
              <a:p>
                <a:pPr algn="ctr"/>
                <a14:m>
                  <m:oMathPara xmlns:m="http://schemas.openxmlformats.org/officeDocument/2006/math">
                    <m:oMath>
                      <m:sSub>
                        <m:sSubPr>
                          <m:ctrlPr>
                            <a:rPr lang="it-IT" sz="2200" i="1">
                              <a:solidFill>
                                <a:srgbClr val="0E2841"/>
                              </a:solidFill>
                              <a:latin typeface="Cambria Math" panose="02040503050406030204" pitchFamily="18" charset="0"/>
                            </a:rPr>
                          </m:ctrlPr>
                        </m:sSubPr>
                        <m:e>
                          <m:r>
                            <a:rPr lang="it-IT" sz="2200" i="1">
                              <a:solidFill>
                                <a:srgbClr val="0E2841"/>
                              </a:solidFill>
                              <a:latin typeface="Cambria Math" panose="02040503050406030204" pitchFamily="18" charset="0"/>
                            </a:rPr>
                            <m:t>𝜆</m:t>
                          </m:r>
                        </m:e>
                        <m:sub>
                          <m:r>
                            <a:rPr lang="it-IT" sz="2200" i="0">
                              <a:solidFill>
                                <a:srgbClr val="0E2841"/>
                              </a:solidFill>
                              <a:latin typeface="Cambria Math" panose="02040503050406030204" pitchFamily="18" charset="0"/>
                            </a:rPr>
                            <m:t>±</m:t>
                          </m:r>
                        </m:sub>
                      </m:sSub>
                      <m:r>
                        <a:rPr lang="it-IT" sz="2200" i="0">
                          <a:solidFill>
                            <a:srgbClr val="0E2841"/>
                          </a:solidFill>
                          <a:latin typeface="Cambria Math" panose="02040503050406030204" pitchFamily="18" charset="0"/>
                        </a:rPr>
                        <m:t> = </m:t>
                      </m:r>
                      <m:sSup>
                        <m:sSupPr>
                          <m:ctrlPr>
                            <a:rPr lang="it-IT" sz="2200" i="1">
                              <a:solidFill>
                                <a:srgbClr val="0E2841"/>
                              </a:solidFill>
                              <a:latin typeface="Cambria Math" panose="02040503050406030204" pitchFamily="18" charset="0"/>
                            </a:rPr>
                          </m:ctrlPr>
                        </m:sSupPr>
                        <m:e>
                          <m:d>
                            <m:dPr>
                              <m:ctrlPr>
                                <a:rPr lang="it-IT" sz="2200" i="1">
                                  <a:solidFill>
                                    <a:srgbClr val="0E2841"/>
                                  </a:solidFill>
                                  <a:latin typeface="Cambria Math" panose="02040503050406030204" pitchFamily="18" charset="0"/>
                                </a:rPr>
                              </m:ctrlPr>
                            </m:dPr>
                            <m:e>
                              <m:r>
                                <a:rPr lang="it-IT" sz="2200" i="1">
                                  <a:solidFill>
                                    <a:srgbClr val="0E2841"/>
                                  </a:solidFill>
                                  <a:latin typeface="Cambria Math" panose="02040503050406030204" pitchFamily="18" charset="0"/>
                                </a:rPr>
                                <m:t>1</m:t>
                              </m:r>
                              <m:r>
                                <a:rPr lang="it-IT" sz="2200" i="0">
                                  <a:solidFill>
                                    <a:srgbClr val="0E2841"/>
                                  </a:solidFill>
                                  <a:latin typeface="Cambria Math" panose="02040503050406030204" pitchFamily="18" charset="0"/>
                                </a:rPr>
                                <m:t> ± </m:t>
                              </m:r>
                              <m:rad>
                                <m:radPr>
                                  <m:degHide m:val="on"/>
                                  <m:ctrlPr>
                                    <a:rPr lang="it-IT" sz="2200" i="1">
                                      <a:solidFill>
                                        <a:srgbClr val="0E2841"/>
                                      </a:solidFill>
                                      <a:latin typeface="Cambria Math" panose="02040503050406030204" pitchFamily="18" charset="0"/>
                                    </a:rPr>
                                  </m:ctrlPr>
                                </m:radPr>
                                <m:deg/>
                                <m:e>
                                  <m:r>
                                    <a:rPr lang="it-IT" sz="2200" i="1">
                                      <a:solidFill>
                                        <a:srgbClr val="0E2841"/>
                                      </a:solidFill>
                                      <a:latin typeface="Cambria Math" panose="02040503050406030204" pitchFamily="18" charset="0"/>
                                    </a:rPr>
                                    <m:t>𝑞</m:t>
                                  </m:r>
                                </m:e>
                              </m:rad>
                            </m:e>
                          </m:d>
                        </m:e>
                        <m:sup>
                          <m:r>
                            <a:rPr lang="it-IT" sz="2200" i="0">
                              <a:solidFill>
                                <a:srgbClr val="0E2841"/>
                              </a:solidFill>
                              <a:latin typeface="Cambria Math" panose="02040503050406030204" pitchFamily="18" charset="0"/>
                            </a:rPr>
                            <m:t>2</m:t>
                          </m:r>
                        </m:sup>
                      </m:sSup>
                    </m:oMath>
                  </m:oMathPara>
                </a14:m>
                <a:endParaRPr lang="it-IT" sz="2200" dirty="0"/>
              </a:p>
            </p:txBody>
          </p:sp>
        </mc:Choice>
        <mc:Fallback xmlns="">
          <p:sp>
            <p:nvSpPr>
              <p:cNvPr id="10" name="f2">
                <a:extLst>
                  <a:ext uri="{FF2B5EF4-FFF2-40B4-BE49-F238E27FC236}">
                    <a16:creationId xmlns:a16="http://schemas.microsoft.com/office/drawing/2014/main" id="{01CF6920-5B21-4110-9009-22EDCF3DA6E0}"/>
                  </a:ext>
                </a:extLst>
              </p:cNvPr>
              <p:cNvSpPr txBox="1">
                <a:spLocks noRot="1" noChangeAspect="1" noMove="1" noResize="1" noEditPoints="1" noAdjustHandles="1" noChangeArrowheads="1" noChangeShapeType="1" noTextEdit="1"/>
              </p:cNvSpPr>
              <p:nvPr/>
            </p:nvSpPr>
            <p:spPr>
              <a:xfrm>
                <a:off x="3163145" y="2595033"/>
                <a:ext cx="2475653" cy="635000"/>
              </a:xfrm>
              <a:prstGeom prst="rect">
                <a:avLst/>
              </a:prstGeom>
              <a:blipFill>
                <a:blip r:embed="rId5"/>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f3">
                <a:extLst>
                  <a:ext uri="{FF2B5EF4-FFF2-40B4-BE49-F238E27FC236}">
                    <a16:creationId xmlns:a16="http://schemas.microsoft.com/office/drawing/2014/main" id="{516ED317-9E9B-4E5A-96A2-9547F5DEFF02}"/>
                  </a:ext>
                </a:extLst>
              </p:cNvPr>
              <p:cNvSpPr txBox="1"/>
              <p:nvPr/>
            </p:nvSpPr>
            <p:spPr>
              <a:xfrm>
                <a:off x="5987627" y="2429933"/>
                <a:ext cx="6080759" cy="965200"/>
              </a:xfrm>
              <a:prstGeom prst="rect">
                <a:avLst/>
              </a:prstGeom>
              <a:noFill/>
            </p:spPr>
            <p:txBody>
              <a:bodyPr vertOverflow="overflow" vert="horz" wrap="none" rtlCol="0" anchor="ctr" anchorCtr="0">
                <a:noAutofit/>
              </a:bodyPr>
              <a:lstStyle/>
              <a:p>
                <a:pPr algn="ctr"/>
                <a14:m>
                  <m:oMathPara xmlns:m="http://schemas.openxmlformats.org/officeDocument/2006/math">
                    <m:oMath>
                      <m:r>
                        <a:rPr lang="it-IT" sz="2200" i="1">
                          <a:solidFill>
                            <a:srgbClr val="0E2841"/>
                          </a:solidFill>
                          <a:latin typeface="Cambria Math" panose="02040503050406030204" pitchFamily="18" charset="0"/>
                        </a:rPr>
                        <m:t>𝑃</m:t>
                      </m:r>
                      <m:d>
                        <m:dPr>
                          <m:ctrlPr>
                            <a:rPr lang="it-IT" sz="2200" i="1">
                              <a:solidFill>
                                <a:srgbClr val="0E2841"/>
                              </a:solidFill>
                              <a:latin typeface="Cambria Math" panose="02040503050406030204" pitchFamily="18" charset="0"/>
                            </a:rPr>
                          </m:ctrlPr>
                        </m:dPr>
                        <m:e>
                          <m:r>
                            <a:rPr lang="it-IT" sz="2200" i="1">
                              <a:solidFill>
                                <a:srgbClr val="0E2841"/>
                              </a:solidFill>
                              <a:latin typeface="Cambria Math" panose="02040503050406030204" pitchFamily="18" charset="0"/>
                            </a:rPr>
                            <m:t>𝜆</m:t>
                          </m:r>
                        </m:e>
                      </m:d>
                      <m:r>
                        <a:rPr lang="it-IT" sz="2200" i="0">
                          <a:solidFill>
                            <a:srgbClr val="0E2841"/>
                          </a:solidFill>
                          <a:latin typeface="Cambria Math" panose="02040503050406030204" pitchFamily="18" charset="0"/>
                        </a:rPr>
                        <m:t> = </m:t>
                      </m:r>
                      <m:f>
                        <m:fPr>
                          <m:ctrlPr>
                            <a:rPr lang="it-IT" sz="2200" i="0">
                              <a:solidFill>
                                <a:srgbClr val="0E2841"/>
                              </a:solidFill>
                              <a:latin typeface="Cambria Math" panose="02040503050406030204" pitchFamily="18" charset="0"/>
                            </a:rPr>
                          </m:ctrlPr>
                        </m:fPr>
                        <m:num>
                          <m:r>
                            <a:rPr lang="it-IT" sz="2200" i="0">
                              <a:solidFill>
                                <a:srgbClr val="0E2841"/>
                              </a:solidFill>
                              <a:latin typeface="Cambria Math" panose="02040503050406030204" pitchFamily="18" charset="0"/>
                            </a:rPr>
                            <m:t>1</m:t>
                          </m:r>
                        </m:num>
                        <m:den>
                          <m:r>
                            <a:rPr lang="it-IT" sz="2200" i="0">
                              <a:solidFill>
                                <a:srgbClr val="0E2841"/>
                              </a:solidFill>
                              <a:latin typeface="Cambria Math" panose="02040503050406030204" pitchFamily="18" charset="0"/>
                            </a:rPr>
                            <m:t>2</m:t>
                          </m:r>
                          <m:r>
                            <a:rPr lang="it-IT" sz="2200" i="1">
                              <a:solidFill>
                                <a:srgbClr val="0E2841"/>
                              </a:solidFill>
                              <a:latin typeface="Cambria Math" panose="02040503050406030204" pitchFamily="18" charset="0"/>
                            </a:rPr>
                            <m:t>𝜋</m:t>
                          </m:r>
                          <m:r>
                            <a:rPr lang="it-IT" sz="2200" i="1">
                              <a:solidFill>
                                <a:srgbClr val="0E2841"/>
                              </a:solidFill>
                              <a:latin typeface="Cambria Math" panose="02040503050406030204" pitchFamily="18" charset="0"/>
                            </a:rPr>
                            <m:t>𝑞</m:t>
                          </m:r>
                        </m:den>
                      </m:f>
                      <m:r>
                        <a:rPr lang="it-IT" sz="2200" i="0">
                          <a:solidFill>
                            <a:srgbClr val="0E2841"/>
                          </a:solidFill>
                          <a:latin typeface="Cambria Math" panose="02040503050406030204" pitchFamily="18" charset="0"/>
                        </a:rPr>
                        <m:t> · </m:t>
                      </m:r>
                      <m:f>
                        <m:fPr>
                          <m:ctrlPr>
                            <a:rPr lang="it-IT" sz="2200" i="1">
                              <a:solidFill>
                                <a:srgbClr val="0E2841"/>
                              </a:solidFill>
                              <a:latin typeface="Cambria Math" panose="02040503050406030204" pitchFamily="18" charset="0"/>
                            </a:rPr>
                          </m:ctrlPr>
                        </m:fPr>
                        <m:num>
                          <m:rad>
                            <m:radPr>
                              <m:degHide m:val="on"/>
                              <m:ctrlPr>
                                <a:rPr lang="it-IT" sz="2200" i="1">
                                  <a:solidFill>
                                    <a:srgbClr val="0E2841"/>
                                  </a:solidFill>
                                  <a:latin typeface="Cambria Math" panose="02040503050406030204" pitchFamily="18" charset="0"/>
                                </a:rPr>
                              </m:ctrlPr>
                            </m:radPr>
                            <m:deg/>
                            <m:e>
                              <m:d>
                                <m:dPr>
                                  <m:ctrlPr>
                                    <a:rPr lang="it-IT" sz="2200" i="1">
                                      <a:solidFill>
                                        <a:srgbClr val="0E2841"/>
                                      </a:solidFill>
                                      <a:latin typeface="Cambria Math" panose="02040503050406030204" pitchFamily="18" charset="0"/>
                                    </a:rPr>
                                  </m:ctrlPr>
                                </m:dPr>
                                <m:e>
                                  <m:sSub>
                                    <m:sSubPr>
                                      <m:ctrlPr>
                                        <a:rPr lang="it-IT" sz="2200" i="1">
                                          <a:solidFill>
                                            <a:srgbClr val="0E2841"/>
                                          </a:solidFill>
                                          <a:latin typeface="Cambria Math" panose="02040503050406030204" pitchFamily="18" charset="0"/>
                                        </a:rPr>
                                      </m:ctrlPr>
                                    </m:sSubPr>
                                    <m:e>
                                      <m:r>
                                        <a:rPr lang="it-IT" sz="2200" i="1">
                                          <a:solidFill>
                                            <a:srgbClr val="0E2841"/>
                                          </a:solidFill>
                                          <a:latin typeface="Cambria Math" panose="02040503050406030204" pitchFamily="18" charset="0"/>
                                        </a:rPr>
                                        <m:t>𝜆</m:t>
                                      </m:r>
                                    </m:e>
                                    <m:sub>
                                      <m:r>
                                        <a:rPr lang="it-IT" sz="2200" i="0">
                                          <a:solidFill>
                                            <a:srgbClr val="0E2841"/>
                                          </a:solidFill>
                                          <a:latin typeface="Cambria Math" panose="02040503050406030204" pitchFamily="18" charset="0"/>
                                        </a:rPr>
                                        <m:t>+</m:t>
                                      </m:r>
                                    </m:sub>
                                  </m:sSub>
                                  <m:r>
                                    <a:rPr lang="it-IT" sz="2200" i="0">
                                      <a:solidFill>
                                        <a:srgbClr val="0E2841"/>
                                      </a:solidFill>
                                      <a:latin typeface="Cambria Math" panose="02040503050406030204" pitchFamily="18" charset="0"/>
                                    </a:rPr>
                                    <m:t> − </m:t>
                                  </m:r>
                                  <m:r>
                                    <a:rPr lang="it-IT" sz="2200" i="1">
                                      <a:solidFill>
                                        <a:srgbClr val="0E2841"/>
                                      </a:solidFill>
                                      <a:latin typeface="Cambria Math" panose="02040503050406030204" pitchFamily="18" charset="0"/>
                                    </a:rPr>
                                    <m:t>𝜆</m:t>
                                  </m:r>
                                </m:e>
                              </m:d>
                              <m:d>
                                <m:dPr>
                                  <m:ctrlPr>
                                    <a:rPr lang="it-IT" sz="2200" i="1">
                                      <a:solidFill>
                                        <a:srgbClr val="0E2841"/>
                                      </a:solidFill>
                                      <a:latin typeface="Cambria Math" panose="02040503050406030204" pitchFamily="18" charset="0"/>
                                    </a:rPr>
                                  </m:ctrlPr>
                                </m:dPr>
                                <m:e>
                                  <m:r>
                                    <a:rPr lang="it-IT" sz="2200" i="1">
                                      <a:solidFill>
                                        <a:srgbClr val="0E2841"/>
                                      </a:solidFill>
                                      <a:latin typeface="Cambria Math" panose="02040503050406030204" pitchFamily="18" charset="0"/>
                                    </a:rPr>
                                    <m:t>𝜆</m:t>
                                  </m:r>
                                  <m:r>
                                    <a:rPr lang="it-IT" sz="2200" i="0">
                                      <a:solidFill>
                                        <a:srgbClr val="0E2841"/>
                                      </a:solidFill>
                                      <a:latin typeface="Cambria Math" panose="02040503050406030204" pitchFamily="18" charset="0"/>
                                    </a:rPr>
                                    <m:t> − </m:t>
                                  </m:r>
                                  <m:sSub>
                                    <m:sSubPr>
                                      <m:ctrlPr>
                                        <a:rPr lang="it-IT" sz="2200" i="1">
                                          <a:solidFill>
                                            <a:srgbClr val="0E2841"/>
                                          </a:solidFill>
                                          <a:latin typeface="Cambria Math" panose="02040503050406030204" pitchFamily="18" charset="0"/>
                                        </a:rPr>
                                      </m:ctrlPr>
                                    </m:sSubPr>
                                    <m:e>
                                      <m:r>
                                        <a:rPr lang="it-IT" sz="2200" i="1">
                                          <a:solidFill>
                                            <a:srgbClr val="0E2841"/>
                                          </a:solidFill>
                                          <a:latin typeface="Cambria Math" panose="02040503050406030204" pitchFamily="18" charset="0"/>
                                        </a:rPr>
                                        <m:t>𝜆</m:t>
                                      </m:r>
                                    </m:e>
                                    <m:sub>
                                      <m:r>
                                        <a:rPr lang="it-IT" sz="2200" i="0">
                                          <a:solidFill>
                                            <a:srgbClr val="0E2841"/>
                                          </a:solidFill>
                                          <a:latin typeface="Cambria Math" panose="02040503050406030204" pitchFamily="18" charset="0"/>
                                        </a:rPr>
                                        <m:t>−</m:t>
                                      </m:r>
                                    </m:sub>
                                  </m:sSub>
                                </m:e>
                              </m:d>
                            </m:e>
                          </m:rad>
                        </m:num>
                        <m:den>
                          <m:r>
                            <a:rPr lang="it-IT" sz="2200" i="1">
                              <a:solidFill>
                                <a:srgbClr val="0E2841"/>
                              </a:solidFill>
                              <a:latin typeface="Cambria Math" panose="02040503050406030204" pitchFamily="18" charset="0"/>
                            </a:rPr>
                            <m:t>𝜆</m:t>
                          </m:r>
                        </m:den>
                      </m:f>
                      <m:r>
                        <a:rPr lang="it-IT" sz="2200" i="0">
                          <a:solidFill>
                            <a:srgbClr val="0E2841"/>
                          </a:solidFill>
                          <a:latin typeface="Cambria Math" panose="02040503050406030204" pitchFamily="18" charset="0"/>
                        </a:rPr>
                        <m:t> · </m:t>
                      </m:r>
                      <m:sSub>
                        <m:sSubPr>
                          <m:ctrlPr>
                            <a:rPr lang="it-IT" sz="2200" i="0">
                              <a:solidFill>
                                <a:srgbClr val="0E2841"/>
                              </a:solidFill>
                              <a:latin typeface="Cambria Math" panose="02040503050406030204" pitchFamily="18" charset="0"/>
                            </a:rPr>
                          </m:ctrlPr>
                        </m:sSubPr>
                        <m:e>
                          <m:r>
                            <a:rPr lang="it-IT" sz="2200" i="0">
                              <a:solidFill>
                                <a:srgbClr val="0E2841"/>
                              </a:solidFill>
                              <a:latin typeface="Cambria Math" panose="02040503050406030204" pitchFamily="18" charset="0"/>
                            </a:rPr>
                            <m:t>𝟙</m:t>
                          </m:r>
                        </m:e>
                        <m:sub>
                          <m:sSub>
                            <m:sSubPr>
                              <m:ctrlPr>
                                <a:rPr lang="it-IT" sz="2200" i="1">
                                  <a:solidFill>
                                    <a:srgbClr val="0E2841"/>
                                  </a:solidFill>
                                  <a:latin typeface="Cambria Math" panose="02040503050406030204" pitchFamily="18" charset="0"/>
                                </a:rPr>
                              </m:ctrlPr>
                            </m:sSubPr>
                            <m:e>
                              <m:r>
                                <a:rPr lang="it-IT" sz="2200" i="1">
                                  <a:solidFill>
                                    <a:srgbClr val="0E2841"/>
                                  </a:solidFill>
                                  <a:latin typeface="Cambria Math" panose="02040503050406030204" pitchFamily="18" charset="0"/>
                                </a:rPr>
                                <m:t>𝜆</m:t>
                              </m:r>
                            </m:e>
                            <m:sub>
                              <m:r>
                                <a:rPr lang="it-IT" sz="2200" i="0">
                                  <a:solidFill>
                                    <a:srgbClr val="0E2841"/>
                                  </a:solidFill>
                                  <a:latin typeface="Cambria Math" panose="02040503050406030204" pitchFamily="18" charset="0"/>
                                </a:rPr>
                                <m:t>−</m:t>
                              </m:r>
                            </m:sub>
                          </m:sSub>
                          <m:r>
                            <a:rPr lang="it-IT" sz="2200" i="0">
                              <a:solidFill>
                                <a:srgbClr val="0E2841"/>
                              </a:solidFill>
                              <a:latin typeface="Cambria Math" panose="02040503050406030204" pitchFamily="18" charset="0"/>
                            </a:rPr>
                            <m:t>, </m:t>
                          </m:r>
                          <m:sSub>
                            <m:sSubPr>
                              <m:ctrlPr>
                                <a:rPr lang="it-IT" sz="2200" i="1">
                                  <a:solidFill>
                                    <a:srgbClr val="0E2841"/>
                                  </a:solidFill>
                                  <a:latin typeface="Cambria Math" panose="02040503050406030204" pitchFamily="18" charset="0"/>
                                </a:rPr>
                              </m:ctrlPr>
                            </m:sSubPr>
                            <m:e>
                              <m:r>
                                <a:rPr lang="it-IT" sz="2200" i="1">
                                  <a:solidFill>
                                    <a:srgbClr val="0E2841"/>
                                  </a:solidFill>
                                  <a:latin typeface="Cambria Math" panose="02040503050406030204" pitchFamily="18" charset="0"/>
                                </a:rPr>
                                <m:t>𝜆</m:t>
                              </m:r>
                            </m:e>
                            <m:sub>
                              <m:r>
                                <a:rPr lang="it-IT" sz="2200" i="0">
                                  <a:solidFill>
                                    <a:srgbClr val="0E2841"/>
                                  </a:solidFill>
                                  <a:latin typeface="Cambria Math" panose="02040503050406030204" pitchFamily="18" charset="0"/>
                                </a:rPr>
                                <m:t>+</m:t>
                              </m:r>
                            </m:sub>
                          </m:sSub>
                        </m:sub>
                      </m:sSub>
                      <m:d>
                        <m:dPr>
                          <m:ctrlPr>
                            <a:rPr lang="it-IT" sz="2200" i="1">
                              <a:solidFill>
                                <a:srgbClr val="0E2841"/>
                              </a:solidFill>
                              <a:latin typeface="Cambria Math" panose="02040503050406030204" pitchFamily="18" charset="0"/>
                            </a:rPr>
                          </m:ctrlPr>
                        </m:dPr>
                        <m:e>
                          <m:r>
                            <a:rPr lang="it-IT" sz="2200" i="1">
                              <a:solidFill>
                                <a:srgbClr val="0E2841"/>
                              </a:solidFill>
                              <a:latin typeface="Cambria Math" panose="02040503050406030204" pitchFamily="18" charset="0"/>
                            </a:rPr>
                            <m:t>𝜆</m:t>
                          </m:r>
                        </m:e>
                      </m:d>
                    </m:oMath>
                  </m:oMathPara>
                </a14:m>
                <a:endParaRPr lang="it-IT" sz="2200" dirty="0"/>
              </a:p>
            </p:txBody>
          </p:sp>
        </mc:Choice>
        <mc:Fallback xmlns="">
          <p:sp>
            <p:nvSpPr>
              <p:cNvPr id="11" name="f3">
                <a:extLst>
                  <a:ext uri="{FF2B5EF4-FFF2-40B4-BE49-F238E27FC236}">
                    <a16:creationId xmlns:a16="http://schemas.microsoft.com/office/drawing/2014/main" id="{516ED317-9E9B-4E5A-96A2-9547F5DEFF02}"/>
                  </a:ext>
                </a:extLst>
              </p:cNvPr>
              <p:cNvSpPr txBox="1">
                <a:spLocks noRot="1" noChangeAspect="1" noMove="1" noResize="1" noEditPoints="1" noAdjustHandles="1" noChangeArrowheads="1" noChangeShapeType="1" noTextEdit="1"/>
              </p:cNvSpPr>
              <p:nvPr/>
            </p:nvSpPr>
            <p:spPr>
              <a:xfrm>
                <a:off x="5987627" y="2429933"/>
                <a:ext cx="6080759" cy="965200"/>
              </a:xfrm>
              <a:prstGeom prst="rect">
                <a:avLst/>
              </a:prstGeom>
              <a:blipFill>
                <a:blip r:embed="rId6"/>
                <a:stretch>
                  <a:fillRect/>
                </a:stretch>
              </a:blipFill>
            </p:spPr>
            <p:txBody>
              <a:bodyPr/>
              <a:lstStyle/>
              <a:p>
                <a:r>
                  <a:rPr lang="it-IT">
                    <a:noFill/>
                  </a:rPr>
                  <a:t> </a:t>
                </a:r>
              </a:p>
            </p:txBody>
          </p:sp>
        </mc:Fallback>
      </mc:AlternateContent>
      <p:sp>
        <p:nvSpPr>
          <p:cNvPr id="5" name="PageNumber">
            <a:extLst>
              <a:ext uri="{FF2B5EF4-FFF2-40B4-BE49-F238E27FC236}">
                <a16:creationId xmlns:a16="http://schemas.microsoft.com/office/drawing/2014/main" id="{C214F6FF-8F78-428D-AEE1-2EDA6AC98E6F}"/>
              </a:ext>
            </a:extLst>
          </p:cNvPr>
          <p:cNvSpPr txBox="1"/>
          <p:nvPr/>
        </p:nvSpPr>
        <p:spPr>
          <a:xfrm>
            <a:off x="10871200" y="6502400"/>
            <a:ext cx="863600" cy="304800"/>
          </a:xfrm>
          <a:prstGeom prst="rect">
            <a:avLst/>
          </a:prstGeom>
          <a:noFill/>
        </p:spPr>
        <p:txBody>
          <a:bodyPr vertOverflow="overflow" vert="horz" wrap="none" rtlCol="0" anchor="ctr" anchorCtr="0">
            <a:noAutofit/>
          </a:bodyPr>
          <a:lstStyle/>
          <a:p>
            <a:pPr algn="l"/>
            <a:r>
              <a:rPr lang="it-IT">
                <a:solidFill>
                  <a:srgbClr val="1A2533"/>
                </a:solidFill>
              </a:rPr>
              <a:t>4</a:t>
            </a:r>
          </a:p>
        </p:txBody>
      </p:sp>
    </p:spTree>
    <p:extLst>
      <p:ext uri="{BB962C8B-B14F-4D97-AF65-F5344CB8AC3E}">
        <p14:creationId xmlns:p14="http://schemas.microsoft.com/office/powerpoint/2010/main" val="2961056882"/>
      </p:ext>
    </p:extLst>
  </p:cSld>
  <p:clrMapOvr>
    <a:masterClrMapping/>
  </p:clrMapOvr>
  <mc:AlternateContent xmlns:mc="http://schemas.openxmlformats.org/markup-compatibility/2006" xmlns:p14="http://schemas.microsoft.com/office/powerpoint/2010/main">
    <mc:Choice Requires="p14">
      <p:transition spd="slow" p14:dur="2000" advTm="189"/>
    </mc:Choice>
    <mc:Fallback xmlns="">
      <p:transition spd="slow" advTm="18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F5687A-1C8E-2E9F-4A87-98471C11DF5D}"/>
              </a:ext>
            </a:extLst>
          </p:cNvPr>
          <p:cNvSpPr>
            <a:spLocks noGrp="1"/>
          </p:cNvSpPr>
          <p:nvPr>
            <p:ph type="title"/>
          </p:nvPr>
        </p:nvSpPr>
        <p:spPr>
          <a:xfrm>
            <a:off x="838200" y="279400"/>
            <a:ext cx="10515600" cy="889000"/>
          </a:xfrm>
        </p:spPr>
        <p:txBody>
          <a:bodyPr>
            <a:normAutofit/>
          </a:bodyPr>
          <a:lstStyle/>
          <a:p>
            <a:pPr algn="l"/>
            <a:r>
              <a:rPr lang="it-IT" sz="3200" b="1" dirty="0"/>
              <a:t>Fatto 3 · Perron-Frobenius empirica: il market mode</a:t>
            </a:r>
          </a:p>
        </p:txBody>
      </p:sp>
      <p:sp>
        <p:nvSpPr>
          <p:cNvPr id="3" name="CasellaDiTesto 2">
            <a:extLst>
              <a:ext uri="{FF2B5EF4-FFF2-40B4-BE49-F238E27FC236}">
                <a16:creationId xmlns:a16="http://schemas.microsoft.com/office/drawing/2014/main" id="{7DDAF663-6580-49AA-A094-2FCB22EC794A}"/>
              </a:ext>
            </a:extLst>
          </p:cNvPr>
          <p:cNvSpPr txBox="1"/>
          <p:nvPr/>
        </p:nvSpPr>
        <p:spPr>
          <a:xfrm>
            <a:off x="838200" y="1244600"/>
            <a:ext cx="11068050" cy="787400"/>
          </a:xfrm>
          <a:prstGeom prst="rect">
            <a:avLst/>
          </a:prstGeom>
          <a:noFill/>
        </p:spPr>
        <p:txBody>
          <a:bodyPr vertOverflow="overflow" vert="horz" wrap="square" rtlCol="0" anchor="t">
            <a:noAutofit/>
          </a:bodyPr>
          <a:lstStyle/>
          <a:p>
            <a:r>
              <a:rPr lang="it-IT" sz="2400" b="1" dirty="0">
                <a:solidFill>
                  <a:srgbClr val="156082"/>
                </a:solidFill>
              </a:rPr>
              <a:t>mercato reale: </a:t>
            </a:r>
            <a:r>
              <a:rPr lang="it-IT" sz="2400" dirty="0">
                <a:solidFill>
                  <a:srgbClr val="1A2533"/>
                </a:solidFill>
              </a:rPr>
              <a:t>λ</a:t>
            </a:r>
            <a:r>
              <a:rPr lang="it-IT" sz="2400" baseline="-25000" dirty="0">
                <a:solidFill>
                  <a:srgbClr val="1A2533"/>
                </a:solidFill>
              </a:rPr>
              <a:t>1</a:t>
            </a:r>
            <a:r>
              <a:rPr lang="it-IT" sz="2400" dirty="0">
                <a:solidFill>
                  <a:srgbClr val="1A2533"/>
                </a:solidFill>
              </a:rPr>
              <a:t> &gt; 0 con molteplicità unitaria, v</a:t>
            </a:r>
            <a:r>
              <a:rPr lang="it-IT" sz="2400" baseline="-25000" dirty="0">
                <a:solidFill>
                  <a:srgbClr val="1A2533"/>
                </a:solidFill>
              </a:rPr>
              <a:t>1</a:t>
            </a:r>
            <a:r>
              <a:rPr lang="it-IT" sz="2400" dirty="0">
                <a:solidFill>
                  <a:srgbClr val="1A2533"/>
                </a:solidFill>
              </a:rPr>
              <a:t> a componenti di segno concorde</a:t>
            </a:r>
          </a:p>
          <a:p>
            <a:r>
              <a:rPr lang="it-IT" sz="2400" b="1" dirty="0">
                <a:solidFill>
                  <a:srgbClr val="E97132"/>
                </a:solidFill>
              </a:rPr>
              <a:t>matrice di controllo: </a:t>
            </a:r>
            <a:r>
              <a:rPr lang="it-IT" sz="2400" dirty="0">
                <a:solidFill>
                  <a:srgbClr val="1A2533"/>
                </a:solidFill>
              </a:rPr>
              <a:t>segni casuali</a:t>
            </a:r>
          </a:p>
        </p:txBody>
      </p:sp>
      <p:pic>
        <p:nvPicPr>
          <p:cNvPr id="4" name="Immagine 3">
            <a:extLst>
              <a:ext uri="{FF2B5EF4-FFF2-40B4-BE49-F238E27FC236}">
                <a16:creationId xmlns:a16="http://schemas.microsoft.com/office/drawing/2014/main" id="{67EB3C7D-D0B1-F7A6-7830-F15EA8D5F670}"/>
              </a:ext>
            </a:extLst>
          </p:cNvPr>
          <p:cNvPicPr>
            <a:picLocks noChangeAspect="1"/>
          </p:cNvPicPr>
          <p:nvPr/>
        </p:nvPicPr>
        <p:blipFill>
          <a:blip r:embed="rId3"/>
          <a:srcRect t="11285"/>
          <a:stretch>
            <a:fillRect/>
          </a:stretch>
        </p:blipFill>
        <p:spPr>
          <a:xfrm>
            <a:off x="457200" y="2489200"/>
            <a:ext cx="11277600" cy="3600450"/>
          </a:xfrm>
          <a:prstGeom prst="rect">
            <a:avLst/>
          </a:prstGeom>
        </p:spPr>
      </p:pic>
      <p:sp>
        <p:nvSpPr>
          <p:cNvPr id="5" name="PageNumber">
            <a:extLst>
              <a:ext uri="{FF2B5EF4-FFF2-40B4-BE49-F238E27FC236}">
                <a16:creationId xmlns:a16="http://schemas.microsoft.com/office/drawing/2014/main" id="{F551279A-A611-4903-8828-577FDD06766D}"/>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5</a:t>
            </a:r>
          </a:p>
        </p:txBody>
      </p:sp>
    </p:spTree>
    <p:extLst>
      <p:ext uri="{BB962C8B-B14F-4D97-AF65-F5344CB8AC3E}">
        <p14:creationId xmlns:p14="http://schemas.microsoft.com/office/powerpoint/2010/main" val="501725618"/>
      </p:ext>
    </p:extLst>
  </p:cSld>
  <p:clrMapOvr>
    <a:masterClrMapping/>
  </p:clrMapOvr>
  <mc:AlternateContent xmlns:mc="http://schemas.openxmlformats.org/markup-compatibility/2006" xmlns:p14="http://schemas.microsoft.com/office/powerpoint/2010/main">
    <mc:Choice Requires="p14">
      <p:transition spd="slow" p14:dur="2000" advTm="164"/>
    </mc:Choice>
    <mc:Fallback xmlns="">
      <p:transition spd="slow" advTm="16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9E3F82-10B7-780D-3DED-8BC2A3255752}"/>
              </a:ext>
            </a:extLst>
          </p:cNvPr>
          <p:cNvSpPr>
            <a:spLocks noGrp="1"/>
          </p:cNvSpPr>
          <p:nvPr>
            <p:ph type="title"/>
          </p:nvPr>
        </p:nvSpPr>
        <p:spPr>
          <a:xfrm>
            <a:off x="838200" y="279400"/>
            <a:ext cx="10515600" cy="889000"/>
          </a:xfrm>
        </p:spPr>
        <p:txBody>
          <a:bodyPr>
            <a:normAutofit/>
          </a:bodyPr>
          <a:lstStyle/>
          <a:p>
            <a:pPr algn="l"/>
            <a:r>
              <a:rPr lang="it-IT" sz="3200" b="1" dirty="0"/>
              <a:t>Fatto 4 · struttura gerarchica a blocchi settoriali</a:t>
            </a:r>
          </a:p>
        </p:txBody>
      </p:sp>
      <p:sp>
        <p:nvSpPr>
          <p:cNvPr id="3" name="CasellaDiTesto 2">
            <a:extLst>
              <a:ext uri="{FF2B5EF4-FFF2-40B4-BE49-F238E27FC236}">
                <a16:creationId xmlns:a16="http://schemas.microsoft.com/office/drawing/2014/main" id="{215B1EBF-4A7D-4B77-A8FD-1E684A5E88FB}"/>
              </a:ext>
            </a:extLst>
          </p:cNvPr>
          <p:cNvSpPr txBox="1"/>
          <p:nvPr/>
        </p:nvSpPr>
        <p:spPr>
          <a:xfrm>
            <a:off x="838200" y="1244600"/>
            <a:ext cx="10515600" cy="787400"/>
          </a:xfrm>
          <a:prstGeom prst="rect">
            <a:avLst/>
          </a:prstGeom>
          <a:noFill/>
        </p:spPr>
        <p:txBody>
          <a:bodyPr vertOverflow="overflow" vert="horz" wrap="square" rtlCol="0" anchor="t">
            <a:noAutofit/>
          </a:bodyPr>
          <a:lstStyle/>
          <a:p>
            <a:pPr algn="l">
              <a:buNone/>
            </a:pPr>
            <a:r>
              <a:rPr lang="it-IT" sz="2400" b="1" dirty="0">
                <a:solidFill>
                  <a:srgbClr val="156082"/>
                </a:solidFill>
              </a:rPr>
              <a:t>mercato reale: </a:t>
            </a:r>
            <a:r>
              <a:rPr lang="it-IT" sz="2400" dirty="0">
                <a:solidFill>
                  <a:srgbClr val="1A2533"/>
                </a:solidFill>
              </a:rPr>
              <a:t>blocchi settoriali compatti</a:t>
            </a:r>
          </a:p>
          <a:p>
            <a:pPr algn="l">
              <a:buNone/>
            </a:pPr>
            <a:r>
              <a:rPr lang="it-IT" sz="2400" b="1" dirty="0">
                <a:solidFill>
                  <a:srgbClr val="E97132"/>
                </a:solidFill>
              </a:rPr>
              <a:t>matrice di controllo: </a:t>
            </a:r>
            <a:r>
              <a:rPr lang="it-IT" sz="2400" dirty="0">
                <a:solidFill>
                  <a:srgbClr val="1A2533"/>
                </a:solidFill>
              </a:rPr>
              <a:t>nessuna struttura gerarchica</a:t>
            </a:r>
          </a:p>
        </p:txBody>
      </p:sp>
      <p:pic>
        <p:nvPicPr>
          <p:cNvPr id="5" name="Immagine 4">
            <a:extLst>
              <a:ext uri="{FF2B5EF4-FFF2-40B4-BE49-F238E27FC236}">
                <a16:creationId xmlns:a16="http://schemas.microsoft.com/office/drawing/2014/main" id="{5C4A15B5-1630-2D6C-CBDF-F5CC897443CF}"/>
              </a:ext>
            </a:extLst>
          </p:cNvPr>
          <p:cNvPicPr>
            <a:picLocks noChangeAspect="1"/>
          </p:cNvPicPr>
          <p:nvPr/>
        </p:nvPicPr>
        <p:blipFill>
          <a:blip r:embed="rId3"/>
          <a:srcRect t="8183"/>
          <a:stretch>
            <a:fillRect/>
          </a:stretch>
        </p:blipFill>
        <p:spPr>
          <a:xfrm>
            <a:off x="1816225" y="2108436"/>
            <a:ext cx="8559549" cy="4604285"/>
          </a:xfrm>
          <a:prstGeom prst="rect">
            <a:avLst/>
          </a:prstGeom>
        </p:spPr>
      </p:pic>
      <p:sp>
        <p:nvSpPr>
          <p:cNvPr id="4" name="PageNumber">
            <a:extLst>
              <a:ext uri="{FF2B5EF4-FFF2-40B4-BE49-F238E27FC236}">
                <a16:creationId xmlns:a16="http://schemas.microsoft.com/office/drawing/2014/main" id="{FBD9FBD3-6517-4975-BDE9-118309D39177}"/>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6</a:t>
            </a:r>
          </a:p>
        </p:txBody>
      </p:sp>
    </p:spTree>
    <p:extLst>
      <p:ext uri="{BB962C8B-B14F-4D97-AF65-F5344CB8AC3E}">
        <p14:creationId xmlns:p14="http://schemas.microsoft.com/office/powerpoint/2010/main" val="951647853"/>
      </p:ext>
    </p:extLst>
  </p:cSld>
  <p:clrMapOvr>
    <a:masterClrMapping/>
  </p:clrMapOvr>
  <mc:AlternateContent xmlns:mc="http://schemas.openxmlformats.org/markup-compatibility/2006" xmlns:p14="http://schemas.microsoft.com/office/powerpoint/2010/main">
    <mc:Choice Requires="p14">
      <p:transition spd="slow" p14:dur="2000" advTm="136"/>
    </mc:Choice>
    <mc:Fallback xmlns="">
      <p:transition spd="slow" advTm="1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91403C-3EEC-C9BF-A29B-D5F0FE4FBA6D}"/>
              </a:ext>
            </a:extLst>
          </p:cNvPr>
          <p:cNvSpPr>
            <a:spLocks noGrp="1"/>
          </p:cNvSpPr>
          <p:nvPr>
            <p:ph type="title"/>
          </p:nvPr>
        </p:nvSpPr>
        <p:spPr>
          <a:xfrm>
            <a:off x="838200" y="279400"/>
            <a:ext cx="10515600" cy="889000"/>
          </a:xfrm>
        </p:spPr>
        <p:txBody>
          <a:bodyPr>
            <a:normAutofit/>
          </a:bodyPr>
          <a:lstStyle/>
          <a:p>
            <a:pPr algn="l"/>
            <a:r>
              <a:rPr lang="it-IT" sz="3200" b="1" dirty="0"/>
              <a:t>Fatto 5 · minimum spanning tree invariante di scala</a:t>
            </a:r>
          </a:p>
        </p:txBody>
      </p:sp>
      <p:sp>
        <p:nvSpPr>
          <p:cNvPr id="3" name="CasellaDiTesto 2">
            <a:extLst>
              <a:ext uri="{FF2B5EF4-FFF2-40B4-BE49-F238E27FC236}">
                <a16:creationId xmlns:a16="http://schemas.microsoft.com/office/drawing/2014/main" id="{8B6BE808-C2C0-4706-AC48-84C6F53CD340}"/>
              </a:ext>
            </a:extLst>
          </p:cNvPr>
          <p:cNvSpPr txBox="1"/>
          <p:nvPr/>
        </p:nvSpPr>
        <p:spPr>
          <a:xfrm>
            <a:off x="838200" y="1244600"/>
            <a:ext cx="10515600" cy="787400"/>
          </a:xfrm>
          <a:prstGeom prst="rect">
            <a:avLst/>
          </a:prstGeom>
          <a:noFill/>
        </p:spPr>
        <p:txBody>
          <a:bodyPr vertOverflow="overflow" vert="horz" wrap="square" rtlCol="0" anchor="t">
            <a:noAutofit/>
          </a:bodyPr>
          <a:lstStyle/>
          <a:p>
            <a:pPr algn="l">
              <a:buNone/>
            </a:pPr>
            <a:r>
              <a:rPr lang="it-IT" sz="2400" b="1" dirty="0">
                <a:solidFill>
                  <a:srgbClr val="156082"/>
                </a:solidFill>
              </a:rPr>
              <a:t>mercato reale: </a:t>
            </a:r>
            <a:r>
              <a:rPr lang="it-IT" sz="2400" dirty="0">
                <a:solidFill>
                  <a:srgbClr val="1A2533"/>
                </a:solidFill>
              </a:rPr>
              <a:t>gradi a legge di potenza</a:t>
            </a:r>
          </a:p>
          <a:p>
            <a:pPr algn="l">
              <a:buNone/>
            </a:pPr>
            <a:r>
              <a:rPr lang="it-IT" sz="2400" b="1" dirty="0">
                <a:solidFill>
                  <a:srgbClr val="E97132"/>
                </a:solidFill>
              </a:rPr>
              <a:t>matrice di controllo: </a:t>
            </a:r>
            <a:r>
              <a:rPr lang="it-IT" sz="2400" dirty="0">
                <a:solidFill>
                  <a:srgbClr val="1A2533"/>
                </a:solidFill>
              </a:rPr>
              <a:t>nessuna legge di potenza</a:t>
            </a:r>
          </a:p>
        </p:txBody>
      </p:sp>
      <p:pic>
        <p:nvPicPr>
          <p:cNvPr id="4" name="Immagine 3">
            <a:extLst>
              <a:ext uri="{FF2B5EF4-FFF2-40B4-BE49-F238E27FC236}">
                <a16:creationId xmlns:a16="http://schemas.microsoft.com/office/drawing/2014/main" id="{FA99561A-D80A-61DD-37DC-E786D1481760}"/>
              </a:ext>
            </a:extLst>
          </p:cNvPr>
          <p:cNvPicPr>
            <a:picLocks noChangeAspect="1"/>
          </p:cNvPicPr>
          <p:nvPr/>
        </p:nvPicPr>
        <p:blipFill>
          <a:blip r:embed="rId3"/>
          <a:srcRect t="9783"/>
          <a:stretch>
            <a:fillRect/>
          </a:stretch>
        </p:blipFill>
        <p:spPr>
          <a:xfrm>
            <a:off x="771613" y="2406271"/>
            <a:ext cx="10648773" cy="3665635"/>
          </a:xfrm>
          <a:prstGeom prst="rect">
            <a:avLst/>
          </a:prstGeom>
        </p:spPr>
      </p:pic>
      <p:sp>
        <p:nvSpPr>
          <p:cNvPr id="5" name="PageNumber">
            <a:extLst>
              <a:ext uri="{FF2B5EF4-FFF2-40B4-BE49-F238E27FC236}">
                <a16:creationId xmlns:a16="http://schemas.microsoft.com/office/drawing/2014/main" id="{5E9D5F1D-A304-45A3-9EBC-99EBE3267731}"/>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7</a:t>
            </a:r>
          </a:p>
        </p:txBody>
      </p:sp>
    </p:spTree>
    <p:extLst>
      <p:ext uri="{BB962C8B-B14F-4D97-AF65-F5344CB8AC3E}">
        <p14:creationId xmlns:p14="http://schemas.microsoft.com/office/powerpoint/2010/main" val="3316281638"/>
      </p:ext>
    </p:extLst>
  </p:cSld>
  <p:clrMapOvr>
    <a:masterClrMapping/>
  </p:clrMapOvr>
  <mc:AlternateContent xmlns:mc="http://schemas.openxmlformats.org/markup-compatibility/2006" xmlns:p14="http://schemas.microsoft.com/office/powerpoint/2010/main">
    <mc:Choice Requires="p14">
      <p:transition spd="slow" p14:dur="2000" advTm="140"/>
    </mc:Choice>
    <mc:Fallback xmlns="">
      <p:transition spd="slow" advTm="14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19174E-B48C-B87C-DA5E-EDDBDE795356}"/>
              </a:ext>
            </a:extLst>
          </p:cNvPr>
          <p:cNvSpPr>
            <a:spLocks noGrp="1"/>
          </p:cNvSpPr>
          <p:nvPr>
            <p:ph type="title"/>
          </p:nvPr>
        </p:nvSpPr>
        <p:spPr>
          <a:xfrm>
            <a:off x="584200" y="279400"/>
            <a:ext cx="11023600" cy="889000"/>
          </a:xfrm>
        </p:spPr>
        <p:txBody>
          <a:bodyPr>
            <a:normAutofit/>
          </a:bodyPr>
          <a:lstStyle/>
          <a:p>
            <a:pPr algn="l"/>
            <a:r>
              <a:rPr lang="it-IT" sz="3200" b="1" dirty="0"/>
              <a:t>Il dataset e il pre-processing</a:t>
            </a:r>
          </a:p>
        </p:txBody>
      </p:sp>
      <p:sp>
        <p:nvSpPr>
          <p:cNvPr id="4" name="Rettangolo con angoli arrotondati 3">
            <a:extLst>
              <a:ext uri="{FF2B5EF4-FFF2-40B4-BE49-F238E27FC236}">
                <a16:creationId xmlns:a16="http://schemas.microsoft.com/office/drawing/2014/main" id="{76035FEC-7717-4772-8892-0643BF61EAFC}"/>
              </a:ext>
            </a:extLst>
          </p:cNvPr>
          <p:cNvSpPr/>
          <p:nvPr/>
        </p:nvSpPr>
        <p:spPr>
          <a:xfrm>
            <a:off x="259493" y="3378200"/>
            <a:ext cx="11816894" cy="2870200"/>
          </a:xfrm>
          <a:prstGeom prst="roundRect">
            <a:avLst/>
          </a:prstGeom>
          <a:solidFill>
            <a:srgbClr val="DEEBF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tIns="114300" rtlCol="0" anchor="t" anchorCtr="0"/>
          <a:lstStyle/>
          <a:p>
            <a:pPr>
              <a:spcAft>
                <a:spcPts val="400"/>
              </a:spcAft>
              <a:buNone/>
            </a:pPr>
            <a:r>
              <a:rPr lang="it-IT" sz="2000" b="1" dirty="0">
                <a:solidFill>
                  <a:srgbClr val="156082"/>
                </a:solidFill>
              </a:rPr>
              <a:t>    dalla matrice di correlazione al fattore di Cholesky</a:t>
            </a:r>
          </a:p>
        </p:txBody>
      </p:sp>
      <p:sp>
        <p:nvSpPr>
          <p:cNvPr id="246" name="g">
            <a:extLst>
              <a:ext uri="{FF2B5EF4-FFF2-40B4-BE49-F238E27FC236}">
                <a16:creationId xmlns:a16="http://schemas.microsoft.com/office/drawing/2014/main" id="{37C8B337-33FA-452F-BB56-B5F2F77DE960}"/>
              </a:ext>
            </a:extLst>
          </p:cNvPr>
          <p:cNvSpPr/>
          <p:nvPr/>
        </p:nvSpPr>
        <p:spPr>
          <a:xfrm>
            <a:off x="723900" y="44704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47" name="g">
            <a:extLst>
              <a:ext uri="{FF2B5EF4-FFF2-40B4-BE49-F238E27FC236}">
                <a16:creationId xmlns:a16="http://schemas.microsoft.com/office/drawing/2014/main" id="{F71F18CD-3443-4997-8383-BC58A1AD48C8}"/>
              </a:ext>
            </a:extLst>
          </p:cNvPr>
          <p:cNvSpPr/>
          <p:nvPr/>
        </p:nvSpPr>
        <p:spPr>
          <a:xfrm>
            <a:off x="889000" y="44704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48" name="g">
            <a:extLst>
              <a:ext uri="{FF2B5EF4-FFF2-40B4-BE49-F238E27FC236}">
                <a16:creationId xmlns:a16="http://schemas.microsoft.com/office/drawing/2014/main" id="{3DEC01AF-BD65-4F35-A025-D2C7F45ADB14}"/>
              </a:ext>
            </a:extLst>
          </p:cNvPr>
          <p:cNvSpPr/>
          <p:nvPr/>
        </p:nvSpPr>
        <p:spPr>
          <a:xfrm>
            <a:off x="1054100" y="44704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49" name="g">
            <a:extLst>
              <a:ext uri="{FF2B5EF4-FFF2-40B4-BE49-F238E27FC236}">
                <a16:creationId xmlns:a16="http://schemas.microsoft.com/office/drawing/2014/main" id="{D3FCF42E-6849-4B0A-AE49-DA2E6BFF1EC4}"/>
              </a:ext>
            </a:extLst>
          </p:cNvPr>
          <p:cNvSpPr/>
          <p:nvPr/>
        </p:nvSpPr>
        <p:spPr>
          <a:xfrm>
            <a:off x="1219200" y="44704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0" name="g">
            <a:extLst>
              <a:ext uri="{FF2B5EF4-FFF2-40B4-BE49-F238E27FC236}">
                <a16:creationId xmlns:a16="http://schemas.microsoft.com/office/drawing/2014/main" id="{9FAE6DF1-4837-4750-A8BA-421EB4E522A0}"/>
              </a:ext>
            </a:extLst>
          </p:cNvPr>
          <p:cNvSpPr/>
          <p:nvPr/>
        </p:nvSpPr>
        <p:spPr>
          <a:xfrm>
            <a:off x="723900" y="46355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1" name="g">
            <a:extLst>
              <a:ext uri="{FF2B5EF4-FFF2-40B4-BE49-F238E27FC236}">
                <a16:creationId xmlns:a16="http://schemas.microsoft.com/office/drawing/2014/main" id="{D4B68031-638A-4078-A569-3FF7A48B7AAB}"/>
              </a:ext>
            </a:extLst>
          </p:cNvPr>
          <p:cNvSpPr/>
          <p:nvPr/>
        </p:nvSpPr>
        <p:spPr>
          <a:xfrm>
            <a:off x="889000" y="46355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2" name="g">
            <a:extLst>
              <a:ext uri="{FF2B5EF4-FFF2-40B4-BE49-F238E27FC236}">
                <a16:creationId xmlns:a16="http://schemas.microsoft.com/office/drawing/2014/main" id="{D48A1B0A-5D14-45F6-B3FC-DE238C859C57}"/>
              </a:ext>
            </a:extLst>
          </p:cNvPr>
          <p:cNvSpPr/>
          <p:nvPr/>
        </p:nvSpPr>
        <p:spPr>
          <a:xfrm>
            <a:off x="1054100" y="46355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3" name="g">
            <a:extLst>
              <a:ext uri="{FF2B5EF4-FFF2-40B4-BE49-F238E27FC236}">
                <a16:creationId xmlns:a16="http://schemas.microsoft.com/office/drawing/2014/main" id="{BBCF43D4-DBFD-4FF0-B29D-92DBB7577962}"/>
              </a:ext>
            </a:extLst>
          </p:cNvPr>
          <p:cNvSpPr/>
          <p:nvPr/>
        </p:nvSpPr>
        <p:spPr>
          <a:xfrm>
            <a:off x="1219200" y="46355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4" name="g">
            <a:extLst>
              <a:ext uri="{FF2B5EF4-FFF2-40B4-BE49-F238E27FC236}">
                <a16:creationId xmlns:a16="http://schemas.microsoft.com/office/drawing/2014/main" id="{FFABCD7F-0767-4A04-8642-4B4D4504544D}"/>
              </a:ext>
            </a:extLst>
          </p:cNvPr>
          <p:cNvSpPr/>
          <p:nvPr/>
        </p:nvSpPr>
        <p:spPr>
          <a:xfrm>
            <a:off x="723900" y="48006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5" name="g">
            <a:extLst>
              <a:ext uri="{FF2B5EF4-FFF2-40B4-BE49-F238E27FC236}">
                <a16:creationId xmlns:a16="http://schemas.microsoft.com/office/drawing/2014/main" id="{E822CA4D-FC3F-4145-89FC-DCA090CA2E04}"/>
              </a:ext>
            </a:extLst>
          </p:cNvPr>
          <p:cNvSpPr/>
          <p:nvPr/>
        </p:nvSpPr>
        <p:spPr>
          <a:xfrm>
            <a:off x="889000" y="48006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6" name="g">
            <a:extLst>
              <a:ext uri="{FF2B5EF4-FFF2-40B4-BE49-F238E27FC236}">
                <a16:creationId xmlns:a16="http://schemas.microsoft.com/office/drawing/2014/main" id="{854F999C-B520-462B-BBAC-81A01619E911}"/>
              </a:ext>
            </a:extLst>
          </p:cNvPr>
          <p:cNvSpPr/>
          <p:nvPr/>
        </p:nvSpPr>
        <p:spPr>
          <a:xfrm>
            <a:off x="1054100" y="48006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7" name="g">
            <a:extLst>
              <a:ext uri="{FF2B5EF4-FFF2-40B4-BE49-F238E27FC236}">
                <a16:creationId xmlns:a16="http://schemas.microsoft.com/office/drawing/2014/main" id="{55F815CC-6A4C-4A82-95BE-6C4868133849}"/>
              </a:ext>
            </a:extLst>
          </p:cNvPr>
          <p:cNvSpPr/>
          <p:nvPr/>
        </p:nvSpPr>
        <p:spPr>
          <a:xfrm>
            <a:off x="1219200" y="48006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8" name="g">
            <a:extLst>
              <a:ext uri="{FF2B5EF4-FFF2-40B4-BE49-F238E27FC236}">
                <a16:creationId xmlns:a16="http://schemas.microsoft.com/office/drawing/2014/main" id="{1342DF4A-2A09-4BE2-B265-DC7E0DED0646}"/>
              </a:ext>
            </a:extLst>
          </p:cNvPr>
          <p:cNvSpPr/>
          <p:nvPr/>
        </p:nvSpPr>
        <p:spPr>
          <a:xfrm>
            <a:off x="723900" y="49657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59" name="g">
            <a:extLst>
              <a:ext uri="{FF2B5EF4-FFF2-40B4-BE49-F238E27FC236}">
                <a16:creationId xmlns:a16="http://schemas.microsoft.com/office/drawing/2014/main" id="{D0CD928C-9B28-4454-815B-8423837D39FD}"/>
              </a:ext>
            </a:extLst>
          </p:cNvPr>
          <p:cNvSpPr/>
          <p:nvPr/>
        </p:nvSpPr>
        <p:spPr>
          <a:xfrm>
            <a:off x="889000" y="49657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0" name="g">
            <a:extLst>
              <a:ext uri="{FF2B5EF4-FFF2-40B4-BE49-F238E27FC236}">
                <a16:creationId xmlns:a16="http://schemas.microsoft.com/office/drawing/2014/main" id="{D11C3959-BC8A-4498-B238-1881F29D649F}"/>
              </a:ext>
            </a:extLst>
          </p:cNvPr>
          <p:cNvSpPr/>
          <p:nvPr/>
        </p:nvSpPr>
        <p:spPr>
          <a:xfrm>
            <a:off x="1054100" y="49657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1" name="g">
            <a:extLst>
              <a:ext uri="{FF2B5EF4-FFF2-40B4-BE49-F238E27FC236}">
                <a16:creationId xmlns:a16="http://schemas.microsoft.com/office/drawing/2014/main" id="{E5DCF4D3-5E5C-40AC-8F10-E977A9B0B6BC}"/>
              </a:ext>
            </a:extLst>
          </p:cNvPr>
          <p:cNvSpPr/>
          <p:nvPr/>
        </p:nvSpPr>
        <p:spPr>
          <a:xfrm>
            <a:off x="1219200" y="4965700"/>
            <a:ext cx="146050" cy="146050"/>
          </a:xfrm>
          <a:prstGeom prst="rect">
            <a:avLst/>
          </a:prstGeom>
          <a:solidFill>
            <a:srgbClr val="9AA5B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2" name="g">
            <a:extLst>
              <a:ext uri="{FF2B5EF4-FFF2-40B4-BE49-F238E27FC236}">
                <a16:creationId xmlns:a16="http://schemas.microsoft.com/office/drawing/2014/main" id="{1D75AB30-9981-4C41-93E8-C97937B4D4B0}"/>
              </a:ext>
            </a:extLst>
          </p:cNvPr>
          <p:cNvSpPr/>
          <p:nvPr/>
        </p:nvSpPr>
        <p:spPr>
          <a:xfrm>
            <a:off x="1892300" y="44704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3" name="g">
            <a:extLst>
              <a:ext uri="{FF2B5EF4-FFF2-40B4-BE49-F238E27FC236}">
                <a16:creationId xmlns:a16="http://schemas.microsoft.com/office/drawing/2014/main" id="{07B673B2-1DEA-435B-BA9D-ED83CA00AB44}"/>
              </a:ext>
            </a:extLst>
          </p:cNvPr>
          <p:cNvSpPr/>
          <p:nvPr/>
        </p:nvSpPr>
        <p:spPr>
          <a:xfrm>
            <a:off x="2057400" y="44704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4" name="g">
            <a:extLst>
              <a:ext uri="{FF2B5EF4-FFF2-40B4-BE49-F238E27FC236}">
                <a16:creationId xmlns:a16="http://schemas.microsoft.com/office/drawing/2014/main" id="{016255E3-C62C-4A13-8CA3-096899D6DFBD}"/>
              </a:ext>
            </a:extLst>
          </p:cNvPr>
          <p:cNvSpPr/>
          <p:nvPr/>
        </p:nvSpPr>
        <p:spPr>
          <a:xfrm>
            <a:off x="2222500" y="44704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5" name="g">
            <a:extLst>
              <a:ext uri="{FF2B5EF4-FFF2-40B4-BE49-F238E27FC236}">
                <a16:creationId xmlns:a16="http://schemas.microsoft.com/office/drawing/2014/main" id="{423B7C61-BDF0-481A-93AF-42023E08081A}"/>
              </a:ext>
            </a:extLst>
          </p:cNvPr>
          <p:cNvSpPr/>
          <p:nvPr/>
        </p:nvSpPr>
        <p:spPr>
          <a:xfrm>
            <a:off x="2387600" y="44704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6" name="g">
            <a:extLst>
              <a:ext uri="{FF2B5EF4-FFF2-40B4-BE49-F238E27FC236}">
                <a16:creationId xmlns:a16="http://schemas.microsoft.com/office/drawing/2014/main" id="{BD915265-0C2C-4006-B749-059D979B38BF}"/>
              </a:ext>
            </a:extLst>
          </p:cNvPr>
          <p:cNvSpPr/>
          <p:nvPr/>
        </p:nvSpPr>
        <p:spPr>
          <a:xfrm>
            <a:off x="1892300" y="46355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7" name="g">
            <a:extLst>
              <a:ext uri="{FF2B5EF4-FFF2-40B4-BE49-F238E27FC236}">
                <a16:creationId xmlns:a16="http://schemas.microsoft.com/office/drawing/2014/main" id="{7F80E335-97D8-4D7B-A215-FAEE66754C34}"/>
              </a:ext>
            </a:extLst>
          </p:cNvPr>
          <p:cNvSpPr/>
          <p:nvPr/>
        </p:nvSpPr>
        <p:spPr>
          <a:xfrm>
            <a:off x="2057400" y="46355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8" name="g">
            <a:extLst>
              <a:ext uri="{FF2B5EF4-FFF2-40B4-BE49-F238E27FC236}">
                <a16:creationId xmlns:a16="http://schemas.microsoft.com/office/drawing/2014/main" id="{FCDA8F9C-E749-4C5D-8F7C-C7D3CBCDC9A3}"/>
              </a:ext>
            </a:extLst>
          </p:cNvPr>
          <p:cNvSpPr/>
          <p:nvPr/>
        </p:nvSpPr>
        <p:spPr>
          <a:xfrm>
            <a:off x="2222500" y="46355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69" name="g">
            <a:extLst>
              <a:ext uri="{FF2B5EF4-FFF2-40B4-BE49-F238E27FC236}">
                <a16:creationId xmlns:a16="http://schemas.microsoft.com/office/drawing/2014/main" id="{7A1DD55F-2FA4-43C7-AFD5-60B44BA15E3B}"/>
              </a:ext>
            </a:extLst>
          </p:cNvPr>
          <p:cNvSpPr/>
          <p:nvPr/>
        </p:nvSpPr>
        <p:spPr>
          <a:xfrm>
            <a:off x="2387600" y="46355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0" name="g">
            <a:extLst>
              <a:ext uri="{FF2B5EF4-FFF2-40B4-BE49-F238E27FC236}">
                <a16:creationId xmlns:a16="http://schemas.microsoft.com/office/drawing/2014/main" id="{EFF860D8-92EF-497C-B699-F9BD7F3CB193}"/>
              </a:ext>
            </a:extLst>
          </p:cNvPr>
          <p:cNvSpPr/>
          <p:nvPr/>
        </p:nvSpPr>
        <p:spPr>
          <a:xfrm>
            <a:off x="1892300" y="48006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1" name="g">
            <a:extLst>
              <a:ext uri="{FF2B5EF4-FFF2-40B4-BE49-F238E27FC236}">
                <a16:creationId xmlns:a16="http://schemas.microsoft.com/office/drawing/2014/main" id="{1DE862F0-BC48-437D-8F4F-61B5F1A6D442}"/>
              </a:ext>
            </a:extLst>
          </p:cNvPr>
          <p:cNvSpPr/>
          <p:nvPr/>
        </p:nvSpPr>
        <p:spPr>
          <a:xfrm>
            <a:off x="2057400" y="48006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2" name="g">
            <a:extLst>
              <a:ext uri="{FF2B5EF4-FFF2-40B4-BE49-F238E27FC236}">
                <a16:creationId xmlns:a16="http://schemas.microsoft.com/office/drawing/2014/main" id="{3544777F-7F69-466F-B8C2-9C7FB39BE24E}"/>
              </a:ext>
            </a:extLst>
          </p:cNvPr>
          <p:cNvSpPr/>
          <p:nvPr/>
        </p:nvSpPr>
        <p:spPr>
          <a:xfrm>
            <a:off x="2222500" y="48006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3" name="g">
            <a:extLst>
              <a:ext uri="{FF2B5EF4-FFF2-40B4-BE49-F238E27FC236}">
                <a16:creationId xmlns:a16="http://schemas.microsoft.com/office/drawing/2014/main" id="{9A8D3909-025B-4F39-845B-E5934D713903}"/>
              </a:ext>
            </a:extLst>
          </p:cNvPr>
          <p:cNvSpPr/>
          <p:nvPr/>
        </p:nvSpPr>
        <p:spPr>
          <a:xfrm>
            <a:off x="2387600" y="4800600"/>
            <a:ext cx="146050" cy="146050"/>
          </a:xfrm>
          <a:prstGeom prst="rect">
            <a:avLst/>
          </a:prstGeom>
          <a:solidFill>
            <a:srgbClr val="E4EA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4" name="g">
            <a:extLst>
              <a:ext uri="{FF2B5EF4-FFF2-40B4-BE49-F238E27FC236}">
                <a16:creationId xmlns:a16="http://schemas.microsoft.com/office/drawing/2014/main" id="{EECB8CFC-39CA-4406-ADD0-E761E9E79E87}"/>
              </a:ext>
            </a:extLst>
          </p:cNvPr>
          <p:cNvSpPr/>
          <p:nvPr/>
        </p:nvSpPr>
        <p:spPr>
          <a:xfrm>
            <a:off x="1892300" y="4965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5" name="g">
            <a:extLst>
              <a:ext uri="{FF2B5EF4-FFF2-40B4-BE49-F238E27FC236}">
                <a16:creationId xmlns:a16="http://schemas.microsoft.com/office/drawing/2014/main" id="{A5E50BEB-4B12-4824-80DC-7CABD220A326}"/>
              </a:ext>
            </a:extLst>
          </p:cNvPr>
          <p:cNvSpPr/>
          <p:nvPr/>
        </p:nvSpPr>
        <p:spPr>
          <a:xfrm>
            <a:off x="2057400" y="4965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6" name="g">
            <a:extLst>
              <a:ext uri="{FF2B5EF4-FFF2-40B4-BE49-F238E27FC236}">
                <a16:creationId xmlns:a16="http://schemas.microsoft.com/office/drawing/2014/main" id="{061B974E-4EC3-4A59-8088-31D2C5A23C69}"/>
              </a:ext>
            </a:extLst>
          </p:cNvPr>
          <p:cNvSpPr/>
          <p:nvPr/>
        </p:nvSpPr>
        <p:spPr>
          <a:xfrm>
            <a:off x="2222500" y="4965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7" name="g">
            <a:extLst>
              <a:ext uri="{FF2B5EF4-FFF2-40B4-BE49-F238E27FC236}">
                <a16:creationId xmlns:a16="http://schemas.microsoft.com/office/drawing/2014/main" id="{CC0235EE-5A97-4392-8C33-ED34A1986A7B}"/>
              </a:ext>
            </a:extLst>
          </p:cNvPr>
          <p:cNvSpPr/>
          <p:nvPr/>
        </p:nvSpPr>
        <p:spPr>
          <a:xfrm>
            <a:off x="2387600" y="4965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8" name="v">
            <a:extLst>
              <a:ext uri="{FF2B5EF4-FFF2-40B4-BE49-F238E27FC236}">
                <a16:creationId xmlns:a16="http://schemas.microsoft.com/office/drawing/2014/main" id="{6B9CA104-2769-44DF-951B-0E3340718820}"/>
              </a:ext>
            </a:extLst>
          </p:cNvPr>
          <p:cNvSpPr/>
          <p:nvPr/>
        </p:nvSpPr>
        <p:spPr>
          <a:xfrm>
            <a:off x="30607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79" name="v">
            <a:extLst>
              <a:ext uri="{FF2B5EF4-FFF2-40B4-BE49-F238E27FC236}">
                <a16:creationId xmlns:a16="http://schemas.microsoft.com/office/drawing/2014/main" id="{04391CAB-B12B-4C1A-92B7-B37E5147D661}"/>
              </a:ext>
            </a:extLst>
          </p:cNvPr>
          <p:cNvSpPr/>
          <p:nvPr/>
        </p:nvSpPr>
        <p:spPr>
          <a:xfrm>
            <a:off x="32258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0" name="v">
            <a:extLst>
              <a:ext uri="{FF2B5EF4-FFF2-40B4-BE49-F238E27FC236}">
                <a16:creationId xmlns:a16="http://schemas.microsoft.com/office/drawing/2014/main" id="{38E2C509-59CF-4F4A-9F81-A977512D8FFA}"/>
              </a:ext>
            </a:extLst>
          </p:cNvPr>
          <p:cNvSpPr/>
          <p:nvPr/>
        </p:nvSpPr>
        <p:spPr>
          <a:xfrm>
            <a:off x="33909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1" name="v">
            <a:extLst>
              <a:ext uri="{FF2B5EF4-FFF2-40B4-BE49-F238E27FC236}">
                <a16:creationId xmlns:a16="http://schemas.microsoft.com/office/drawing/2014/main" id="{1DD1E6E1-8412-4511-958F-466BC8D38E4F}"/>
              </a:ext>
            </a:extLst>
          </p:cNvPr>
          <p:cNvSpPr/>
          <p:nvPr/>
        </p:nvSpPr>
        <p:spPr>
          <a:xfrm>
            <a:off x="35560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2" name="v">
            <a:extLst>
              <a:ext uri="{FF2B5EF4-FFF2-40B4-BE49-F238E27FC236}">
                <a16:creationId xmlns:a16="http://schemas.microsoft.com/office/drawing/2014/main" id="{CD018697-A07E-4785-92BF-8BA22E85BA3F}"/>
              </a:ext>
            </a:extLst>
          </p:cNvPr>
          <p:cNvSpPr/>
          <p:nvPr/>
        </p:nvSpPr>
        <p:spPr>
          <a:xfrm>
            <a:off x="37211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3" name="v">
            <a:extLst>
              <a:ext uri="{FF2B5EF4-FFF2-40B4-BE49-F238E27FC236}">
                <a16:creationId xmlns:a16="http://schemas.microsoft.com/office/drawing/2014/main" id="{98129082-AA9D-41B5-B5E8-DF2184790D6B}"/>
              </a:ext>
            </a:extLst>
          </p:cNvPr>
          <p:cNvSpPr/>
          <p:nvPr/>
        </p:nvSpPr>
        <p:spPr>
          <a:xfrm>
            <a:off x="38862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4" name="v">
            <a:extLst>
              <a:ext uri="{FF2B5EF4-FFF2-40B4-BE49-F238E27FC236}">
                <a16:creationId xmlns:a16="http://schemas.microsoft.com/office/drawing/2014/main" id="{D1FB65AD-FDA2-4A1F-8E1D-FB0833F6B43E}"/>
              </a:ext>
            </a:extLst>
          </p:cNvPr>
          <p:cNvSpPr/>
          <p:nvPr/>
        </p:nvSpPr>
        <p:spPr>
          <a:xfrm>
            <a:off x="40513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5" name="v">
            <a:extLst>
              <a:ext uri="{FF2B5EF4-FFF2-40B4-BE49-F238E27FC236}">
                <a16:creationId xmlns:a16="http://schemas.microsoft.com/office/drawing/2014/main" id="{D148F240-9349-4A14-BB9B-6337CF3F65D2}"/>
              </a:ext>
            </a:extLst>
          </p:cNvPr>
          <p:cNvSpPr/>
          <p:nvPr/>
        </p:nvSpPr>
        <p:spPr>
          <a:xfrm>
            <a:off x="42164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6" name="v">
            <a:extLst>
              <a:ext uri="{FF2B5EF4-FFF2-40B4-BE49-F238E27FC236}">
                <a16:creationId xmlns:a16="http://schemas.microsoft.com/office/drawing/2014/main" id="{9273AA20-D5A9-409F-B1FF-9D9D1CC0F336}"/>
              </a:ext>
            </a:extLst>
          </p:cNvPr>
          <p:cNvSpPr/>
          <p:nvPr/>
        </p:nvSpPr>
        <p:spPr>
          <a:xfrm>
            <a:off x="43815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7" name="v">
            <a:extLst>
              <a:ext uri="{FF2B5EF4-FFF2-40B4-BE49-F238E27FC236}">
                <a16:creationId xmlns:a16="http://schemas.microsoft.com/office/drawing/2014/main" id="{D111F0CA-471D-4E13-B4D5-7AA2603183C2}"/>
              </a:ext>
            </a:extLst>
          </p:cNvPr>
          <p:cNvSpPr/>
          <p:nvPr/>
        </p:nvSpPr>
        <p:spPr>
          <a:xfrm>
            <a:off x="4546600" y="4711700"/>
            <a:ext cx="146050" cy="14605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8" name="v">
            <a:extLst>
              <a:ext uri="{FF2B5EF4-FFF2-40B4-BE49-F238E27FC236}">
                <a16:creationId xmlns:a16="http://schemas.microsoft.com/office/drawing/2014/main" id="{C1AC6663-432E-4643-ACCD-D5F504647B89}"/>
              </a:ext>
            </a:extLst>
          </p:cNvPr>
          <p:cNvSpPr/>
          <p:nvPr/>
        </p:nvSpPr>
        <p:spPr>
          <a:xfrm>
            <a:off x="73787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89" name="v">
            <a:extLst>
              <a:ext uri="{FF2B5EF4-FFF2-40B4-BE49-F238E27FC236}">
                <a16:creationId xmlns:a16="http://schemas.microsoft.com/office/drawing/2014/main" id="{D7FDF15E-65BA-48BD-8F42-670642CD55CD}"/>
              </a:ext>
            </a:extLst>
          </p:cNvPr>
          <p:cNvSpPr/>
          <p:nvPr/>
        </p:nvSpPr>
        <p:spPr>
          <a:xfrm>
            <a:off x="75438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0" name="v">
            <a:extLst>
              <a:ext uri="{FF2B5EF4-FFF2-40B4-BE49-F238E27FC236}">
                <a16:creationId xmlns:a16="http://schemas.microsoft.com/office/drawing/2014/main" id="{089750D0-706B-43FA-9385-CDA42AEF52DD}"/>
              </a:ext>
            </a:extLst>
          </p:cNvPr>
          <p:cNvSpPr/>
          <p:nvPr/>
        </p:nvSpPr>
        <p:spPr>
          <a:xfrm>
            <a:off x="77089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1" name="v">
            <a:extLst>
              <a:ext uri="{FF2B5EF4-FFF2-40B4-BE49-F238E27FC236}">
                <a16:creationId xmlns:a16="http://schemas.microsoft.com/office/drawing/2014/main" id="{7D000234-7E5B-455F-AFFD-87635D15EBE4}"/>
              </a:ext>
            </a:extLst>
          </p:cNvPr>
          <p:cNvSpPr/>
          <p:nvPr/>
        </p:nvSpPr>
        <p:spPr>
          <a:xfrm>
            <a:off x="78740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2" name="v">
            <a:extLst>
              <a:ext uri="{FF2B5EF4-FFF2-40B4-BE49-F238E27FC236}">
                <a16:creationId xmlns:a16="http://schemas.microsoft.com/office/drawing/2014/main" id="{755DA1A3-E28F-48AB-9A0F-C53693F898EC}"/>
              </a:ext>
            </a:extLst>
          </p:cNvPr>
          <p:cNvSpPr/>
          <p:nvPr/>
        </p:nvSpPr>
        <p:spPr>
          <a:xfrm>
            <a:off x="80391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3" name="v">
            <a:extLst>
              <a:ext uri="{FF2B5EF4-FFF2-40B4-BE49-F238E27FC236}">
                <a16:creationId xmlns:a16="http://schemas.microsoft.com/office/drawing/2014/main" id="{5393C6CE-006A-4A1F-85D6-6F57A1C4AC32}"/>
              </a:ext>
            </a:extLst>
          </p:cNvPr>
          <p:cNvSpPr/>
          <p:nvPr/>
        </p:nvSpPr>
        <p:spPr>
          <a:xfrm>
            <a:off x="82042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4" name="v">
            <a:extLst>
              <a:ext uri="{FF2B5EF4-FFF2-40B4-BE49-F238E27FC236}">
                <a16:creationId xmlns:a16="http://schemas.microsoft.com/office/drawing/2014/main" id="{137ACF73-CB8A-4CD0-9E08-E76C5F1EBC5B}"/>
              </a:ext>
            </a:extLst>
          </p:cNvPr>
          <p:cNvSpPr/>
          <p:nvPr/>
        </p:nvSpPr>
        <p:spPr>
          <a:xfrm>
            <a:off x="83693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5" name="v">
            <a:extLst>
              <a:ext uri="{FF2B5EF4-FFF2-40B4-BE49-F238E27FC236}">
                <a16:creationId xmlns:a16="http://schemas.microsoft.com/office/drawing/2014/main" id="{B08CC724-77A4-4703-A592-8C0DDA67E107}"/>
              </a:ext>
            </a:extLst>
          </p:cNvPr>
          <p:cNvSpPr/>
          <p:nvPr/>
        </p:nvSpPr>
        <p:spPr>
          <a:xfrm>
            <a:off x="85344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6" name="v">
            <a:extLst>
              <a:ext uri="{FF2B5EF4-FFF2-40B4-BE49-F238E27FC236}">
                <a16:creationId xmlns:a16="http://schemas.microsoft.com/office/drawing/2014/main" id="{C66E19BE-2B30-410C-A1F0-C37C1977FD91}"/>
              </a:ext>
            </a:extLst>
          </p:cNvPr>
          <p:cNvSpPr/>
          <p:nvPr/>
        </p:nvSpPr>
        <p:spPr>
          <a:xfrm>
            <a:off x="86995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7" name="v">
            <a:extLst>
              <a:ext uri="{FF2B5EF4-FFF2-40B4-BE49-F238E27FC236}">
                <a16:creationId xmlns:a16="http://schemas.microsoft.com/office/drawing/2014/main" id="{1BE4275E-05D4-4B82-96F6-03A96B832D6F}"/>
              </a:ext>
            </a:extLst>
          </p:cNvPr>
          <p:cNvSpPr/>
          <p:nvPr/>
        </p:nvSpPr>
        <p:spPr>
          <a:xfrm>
            <a:off x="8864600" y="4711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8" name="g">
            <a:extLst>
              <a:ext uri="{FF2B5EF4-FFF2-40B4-BE49-F238E27FC236}">
                <a16:creationId xmlns:a16="http://schemas.microsoft.com/office/drawing/2014/main" id="{798699CD-C6D8-42CF-9DD8-C8BE51DC6C6B}"/>
              </a:ext>
            </a:extLst>
          </p:cNvPr>
          <p:cNvSpPr/>
          <p:nvPr/>
        </p:nvSpPr>
        <p:spPr>
          <a:xfrm>
            <a:off x="9537700" y="44704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9" name="g">
            <a:extLst>
              <a:ext uri="{FF2B5EF4-FFF2-40B4-BE49-F238E27FC236}">
                <a16:creationId xmlns:a16="http://schemas.microsoft.com/office/drawing/2014/main" id="{4CBC7A39-186E-43BC-8C71-9B450FE3413A}"/>
              </a:ext>
            </a:extLst>
          </p:cNvPr>
          <p:cNvSpPr/>
          <p:nvPr/>
        </p:nvSpPr>
        <p:spPr>
          <a:xfrm>
            <a:off x="9702800" y="44704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0" name="g">
            <a:extLst>
              <a:ext uri="{FF2B5EF4-FFF2-40B4-BE49-F238E27FC236}">
                <a16:creationId xmlns:a16="http://schemas.microsoft.com/office/drawing/2014/main" id="{3B34DEA1-15CD-40F6-9BE6-37B83F308AC7}"/>
              </a:ext>
            </a:extLst>
          </p:cNvPr>
          <p:cNvSpPr/>
          <p:nvPr/>
        </p:nvSpPr>
        <p:spPr>
          <a:xfrm>
            <a:off x="9867900" y="44704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1" name="g">
            <a:extLst>
              <a:ext uri="{FF2B5EF4-FFF2-40B4-BE49-F238E27FC236}">
                <a16:creationId xmlns:a16="http://schemas.microsoft.com/office/drawing/2014/main" id="{538C0CE5-0986-4CF4-BF90-8E149803FEB6}"/>
              </a:ext>
            </a:extLst>
          </p:cNvPr>
          <p:cNvSpPr/>
          <p:nvPr/>
        </p:nvSpPr>
        <p:spPr>
          <a:xfrm>
            <a:off x="10033000" y="44704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2" name="g">
            <a:extLst>
              <a:ext uri="{FF2B5EF4-FFF2-40B4-BE49-F238E27FC236}">
                <a16:creationId xmlns:a16="http://schemas.microsoft.com/office/drawing/2014/main" id="{09C4ACE5-24E4-4C5A-A812-2D5D931E2403}"/>
              </a:ext>
            </a:extLst>
          </p:cNvPr>
          <p:cNvSpPr/>
          <p:nvPr/>
        </p:nvSpPr>
        <p:spPr>
          <a:xfrm>
            <a:off x="9537700" y="46355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3" name="g">
            <a:extLst>
              <a:ext uri="{FF2B5EF4-FFF2-40B4-BE49-F238E27FC236}">
                <a16:creationId xmlns:a16="http://schemas.microsoft.com/office/drawing/2014/main" id="{78DA5BED-76A7-4042-AD63-BBDB2BA73A03}"/>
              </a:ext>
            </a:extLst>
          </p:cNvPr>
          <p:cNvSpPr/>
          <p:nvPr/>
        </p:nvSpPr>
        <p:spPr>
          <a:xfrm>
            <a:off x="9702800" y="46355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4" name="g">
            <a:extLst>
              <a:ext uri="{FF2B5EF4-FFF2-40B4-BE49-F238E27FC236}">
                <a16:creationId xmlns:a16="http://schemas.microsoft.com/office/drawing/2014/main" id="{41476C40-832C-46E6-B375-8ECA2716B1F2}"/>
              </a:ext>
            </a:extLst>
          </p:cNvPr>
          <p:cNvSpPr/>
          <p:nvPr/>
        </p:nvSpPr>
        <p:spPr>
          <a:xfrm>
            <a:off x="9867900" y="46355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5" name="g">
            <a:extLst>
              <a:ext uri="{FF2B5EF4-FFF2-40B4-BE49-F238E27FC236}">
                <a16:creationId xmlns:a16="http://schemas.microsoft.com/office/drawing/2014/main" id="{7631A3B4-17BE-44D3-8F7F-1AD8F5CA53D6}"/>
              </a:ext>
            </a:extLst>
          </p:cNvPr>
          <p:cNvSpPr/>
          <p:nvPr/>
        </p:nvSpPr>
        <p:spPr>
          <a:xfrm>
            <a:off x="10033000" y="46355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6" name="g">
            <a:extLst>
              <a:ext uri="{FF2B5EF4-FFF2-40B4-BE49-F238E27FC236}">
                <a16:creationId xmlns:a16="http://schemas.microsoft.com/office/drawing/2014/main" id="{C050C8A9-9323-4C40-AEF5-708389F67DFD}"/>
              </a:ext>
            </a:extLst>
          </p:cNvPr>
          <p:cNvSpPr/>
          <p:nvPr/>
        </p:nvSpPr>
        <p:spPr>
          <a:xfrm>
            <a:off x="9537700" y="48006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7" name="g">
            <a:extLst>
              <a:ext uri="{FF2B5EF4-FFF2-40B4-BE49-F238E27FC236}">
                <a16:creationId xmlns:a16="http://schemas.microsoft.com/office/drawing/2014/main" id="{D3361677-BD2B-4832-A4B4-76A5889FEF74}"/>
              </a:ext>
            </a:extLst>
          </p:cNvPr>
          <p:cNvSpPr/>
          <p:nvPr/>
        </p:nvSpPr>
        <p:spPr>
          <a:xfrm>
            <a:off x="9702800" y="48006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8" name="g">
            <a:extLst>
              <a:ext uri="{FF2B5EF4-FFF2-40B4-BE49-F238E27FC236}">
                <a16:creationId xmlns:a16="http://schemas.microsoft.com/office/drawing/2014/main" id="{A3C41E15-2948-4950-9303-D949A3C38024}"/>
              </a:ext>
            </a:extLst>
          </p:cNvPr>
          <p:cNvSpPr/>
          <p:nvPr/>
        </p:nvSpPr>
        <p:spPr>
          <a:xfrm>
            <a:off x="9867900" y="48006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09" name="g">
            <a:extLst>
              <a:ext uri="{FF2B5EF4-FFF2-40B4-BE49-F238E27FC236}">
                <a16:creationId xmlns:a16="http://schemas.microsoft.com/office/drawing/2014/main" id="{805695E5-7D78-488E-B3AF-62FDA37EFB7C}"/>
              </a:ext>
            </a:extLst>
          </p:cNvPr>
          <p:cNvSpPr/>
          <p:nvPr/>
        </p:nvSpPr>
        <p:spPr>
          <a:xfrm>
            <a:off x="10033000" y="4800600"/>
            <a:ext cx="146050" cy="146050"/>
          </a:xfrm>
          <a:prstGeom prst="rect">
            <a:avLst/>
          </a:prstGeom>
          <a:solidFill>
            <a:srgbClr val="FBE3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0" name="g">
            <a:extLst>
              <a:ext uri="{FF2B5EF4-FFF2-40B4-BE49-F238E27FC236}">
                <a16:creationId xmlns:a16="http://schemas.microsoft.com/office/drawing/2014/main" id="{1F111000-1F7C-4263-9B3E-50A255E98539}"/>
              </a:ext>
            </a:extLst>
          </p:cNvPr>
          <p:cNvSpPr/>
          <p:nvPr/>
        </p:nvSpPr>
        <p:spPr>
          <a:xfrm>
            <a:off x="9537700" y="4965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1" name="g">
            <a:extLst>
              <a:ext uri="{FF2B5EF4-FFF2-40B4-BE49-F238E27FC236}">
                <a16:creationId xmlns:a16="http://schemas.microsoft.com/office/drawing/2014/main" id="{AE11FA71-36F4-474D-AFC7-72347B068930}"/>
              </a:ext>
            </a:extLst>
          </p:cNvPr>
          <p:cNvSpPr/>
          <p:nvPr/>
        </p:nvSpPr>
        <p:spPr>
          <a:xfrm>
            <a:off x="9702800" y="4965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2" name="g">
            <a:extLst>
              <a:ext uri="{FF2B5EF4-FFF2-40B4-BE49-F238E27FC236}">
                <a16:creationId xmlns:a16="http://schemas.microsoft.com/office/drawing/2014/main" id="{1DB9ABD4-40DF-45BF-B35D-088E768A43D9}"/>
              </a:ext>
            </a:extLst>
          </p:cNvPr>
          <p:cNvSpPr/>
          <p:nvPr/>
        </p:nvSpPr>
        <p:spPr>
          <a:xfrm>
            <a:off x="9867900" y="4965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3" name="g">
            <a:extLst>
              <a:ext uri="{FF2B5EF4-FFF2-40B4-BE49-F238E27FC236}">
                <a16:creationId xmlns:a16="http://schemas.microsoft.com/office/drawing/2014/main" id="{C2C8EC67-2650-4D29-B157-270083525DA5}"/>
              </a:ext>
            </a:extLst>
          </p:cNvPr>
          <p:cNvSpPr/>
          <p:nvPr/>
        </p:nvSpPr>
        <p:spPr>
          <a:xfrm>
            <a:off x="10033000" y="4965700"/>
            <a:ext cx="146050" cy="14605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4" name="g">
            <a:extLst>
              <a:ext uri="{FF2B5EF4-FFF2-40B4-BE49-F238E27FC236}">
                <a16:creationId xmlns:a16="http://schemas.microsoft.com/office/drawing/2014/main" id="{8BFEEC94-7B6B-4D90-962B-E55F290CB193}"/>
              </a:ext>
            </a:extLst>
          </p:cNvPr>
          <p:cNvSpPr/>
          <p:nvPr/>
        </p:nvSpPr>
        <p:spPr>
          <a:xfrm>
            <a:off x="10706100" y="44704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5" name="g">
            <a:extLst>
              <a:ext uri="{FF2B5EF4-FFF2-40B4-BE49-F238E27FC236}">
                <a16:creationId xmlns:a16="http://schemas.microsoft.com/office/drawing/2014/main" id="{DCBD17EC-9B74-4A74-82FB-3439BE5FAA49}"/>
              </a:ext>
            </a:extLst>
          </p:cNvPr>
          <p:cNvSpPr/>
          <p:nvPr/>
        </p:nvSpPr>
        <p:spPr>
          <a:xfrm>
            <a:off x="10871200" y="44704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6" name="g">
            <a:extLst>
              <a:ext uri="{FF2B5EF4-FFF2-40B4-BE49-F238E27FC236}">
                <a16:creationId xmlns:a16="http://schemas.microsoft.com/office/drawing/2014/main" id="{7930F184-6328-4EFE-8C52-BEA373C9E83E}"/>
              </a:ext>
            </a:extLst>
          </p:cNvPr>
          <p:cNvSpPr/>
          <p:nvPr/>
        </p:nvSpPr>
        <p:spPr>
          <a:xfrm>
            <a:off x="11036300" y="44704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7" name="g">
            <a:extLst>
              <a:ext uri="{FF2B5EF4-FFF2-40B4-BE49-F238E27FC236}">
                <a16:creationId xmlns:a16="http://schemas.microsoft.com/office/drawing/2014/main" id="{772FECB2-27E5-42BD-A4A0-6B3B3E92C19F}"/>
              </a:ext>
            </a:extLst>
          </p:cNvPr>
          <p:cNvSpPr/>
          <p:nvPr/>
        </p:nvSpPr>
        <p:spPr>
          <a:xfrm>
            <a:off x="11201400" y="44704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8" name="g">
            <a:extLst>
              <a:ext uri="{FF2B5EF4-FFF2-40B4-BE49-F238E27FC236}">
                <a16:creationId xmlns:a16="http://schemas.microsoft.com/office/drawing/2014/main" id="{419CA0E3-E10E-4069-B6F6-52B0AF40FA9D}"/>
              </a:ext>
            </a:extLst>
          </p:cNvPr>
          <p:cNvSpPr/>
          <p:nvPr/>
        </p:nvSpPr>
        <p:spPr>
          <a:xfrm>
            <a:off x="10706100" y="46355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19" name="g">
            <a:extLst>
              <a:ext uri="{FF2B5EF4-FFF2-40B4-BE49-F238E27FC236}">
                <a16:creationId xmlns:a16="http://schemas.microsoft.com/office/drawing/2014/main" id="{5C127F60-6EF6-4994-B9EB-BC590A846AC0}"/>
              </a:ext>
            </a:extLst>
          </p:cNvPr>
          <p:cNvSpPr/>
          <p:nvPr/>
        </p:nvSpPr>
        <p:spPr>
          <a:xfrm>
            <a:off x="10871200" y="46355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0" name="g">
            <a:extLst>
              <a:ext uri="{FF2B5EF4-FFF2-40B4-BE49-F238E27FC236}">
                <a16:creationId xmlns:a16="http://schemas.microsoft.com/office/drawing/2014/main" id="{8E445058-B7FD-4378-BD5E-9DF08CDB263A}"/>
              </a:ext>
            </a:extLst>
          </p:cNvPr>
          <p:cNvSpPr/>
          <p:nvPr/>
        </p:nvSpPr>
        <p:spPr>
          <a:xfrm>
            <a:off x="11036300" y="46355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1" name="g">
            <a:extLst>
              <a:ext uri="{FF2B5EF4-FFF2-40B4-BE49-F238E27FC236}">
                <a16:creationId xmlns:a16="http://schemas.microsoft.com/office/drawing/2014/main" id="{097E933E-4463-486A-9169-5C48D45B9A5A}"/>
              </a:ext>
            </a:extLst>
          </p:cNvPr>
          <p:cNvSpPr/>
          <p:nvPr/>
        </p:nvSpPr>
        <p:spPr>
          <a:xfrm>
            <a:off x="11201400" y="46355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2" name="g">
            <a:extLst>
              <a:ext uri="{FF2B5EF4-FFF2-40B4-BE49-F238E27FC236}">
                <a16:creationId xmlns:a16="http://schemas.microsoft.com/office/drawing/2014/main" id="{AA22CB63-721A-4053-9E71-214EB0E9E9DD}"/>
              </a:ext>
            </a:extLst>
          </p:cNvPr>
          <p:cNvSpPr/>
          <p:nvPr/>
        </p:nvSpPr>
        <p:spPr>
          <a:xfrm>
            <a:off x="10706100" y="48006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3" name="g">
            <a:extLst>
              <a:ext uri="{FF2B5EF4-FFF2-40B4-BE49-F238E27FC236}">
                <a16:creationId xmlns:a16="http://schemas.microsoft.com/office/drawing/2014/main" id="{06D4E143-CDE7-4A58-84E1-8369CB38EE03}"/>
              </a:ext>
            </a:extLst>
          </p:cNvPr>
          <p:cNvSpPr/>
          <p:nvPr/>
        </p:nvSpPr>
        <p:spPr>
          <a:xfrm>
            <a:off x="10871200" y="48006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4" name="g">
            <a:extLst>
              <a:ext uri="{FF2B5EF4-FFF2-40B4-BE49-F238E27FC236}">
                <a16:creationId xmlns:a16="http://schemas.microsoft.com/office/drawing/2014/main" id="{48D2468B-CE50-4D86-8687-3C355DADCE93}"/>
              </a:ext>
            </a:extLst>
          </p:cNvPr>
          <p:cNvSpPr/>
          <p:nvPr/>
        </p:nvSpPr>
        <p:spPr>
          <a:xfrm>
            <a:off x="11036300" y="48006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5" name="g">
            <a:extLst>
              <a:ext uri="{FF2B5EF4-FFF2-40B4-BE49-F238E27FC236}">
                <a16:creationId xmlns:a16="http://schemas.microsoft.com/office/drawing/2014/main" id="{ADB6E70C-45E2-49C6-909C-43D33149F70B}"/>
              </a:ext>
            </a:extLst>
          </p:cNvPr>
          <p:cNvSpPr/>
          <p:nvPr/>
        </p:nvSpPr>
        <p:spPr>
          <a:xfrm>
            <a:off x="11201400" y="48006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6" name="g">
            <a:extLst>
              <a:ext uri="{FF2B5EF4-FFF2-40B4-BE49-F238E27FC236}">
                <a16:creationId xmlns:a16="http://schemas.microsoft.com/office/drawing/2014/main" id="{A50E3657-56AA-49A9-A224-41BD03A4554D}"/>
              </a:ext>
            </a:extLst>
          </p:cNvPr>
          <p:cNvSpPr/>
          <p:nvPr/>
        </p:nvSpPr>
        <p:spPr>
          <a:xfrm>
            <a:off x="10706100" y="49657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7" name="g">
            <a:extLst>
              <a:ext uri="{FF2B5EF4-FFF2-40B4-BE49-F238E27FC236}">
                <a16:creationId xmlns:a16="http://schemas.microsoft.com/office/drawing/2014/main" id="{D01394B3-3907-4386-A3C3-609A050745CF}"/>
              </a:ext>
            </a:extLst>
          </p:cNvPr>
          <p:cNvSpPr/>
          <p:nvPr/>
        </p:nvSpPr>
        <p:spPr>
          <a:xfrm>
            <a:off x="10871200" y="49657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8" name="g">
            <a:extLst>
              <a:ext uri="{FF2B5EF4-FFF2-40B4-BE49-F238E27FC236}">
                <a16:creationId xmlns:a16="http://schemas.microsoft.com/office/drawing/2014/main" id="{1302DEE0-CA53-4563-AED0-E82BE4D00A7C}"/>
              </a:ext>
            </a:extLst>
          </p:cNvPr>
          <p:cNvSpPr/>
          <p:nvPr/>
        </p:nvSpPr>
        <p:spPr>
          <a:xfrm>
            <a:off x="11036300" y="49657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29" name="g">
            <a:extLst>
              <a:ext uri="{FF2B5EF4-FFF2-40B4-BE49-F238E27FC236}">
                <a16:creationId xmlns:a16="http://schemas.microsoft.com/office/drawing/2014/main" id="{385BE6C1-9E51-44E5-B85D-DAEEABBB4DC5}"/>
              </a:ext>
            </a:extLst>
          </p:cNvPr>
          <p:cNvSpPr/>
          <p:nvPr/>
        </p:nvSpPr>
        <p:spPr>
          <a:xfrm>
            <a:off x="11201400" y="4965700"/>
            <a:ext cx="146050" cy="146050"/>
          </a:xfrm>
          <a:prstGeom prst="rect">
            <a:avLst/>
          </a:prstGeom>
          <a:solidFill>
            <a:srgbClr val="F0A47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0" name="ar">
            <a:extLst>
              <a:ext uri="{FF2B5EF4-FFF2-40B4-BE49-F238E27FC236}">
                <a16:creationId xmlns:a16="http://schemas.microsoft.com/office/drawing/2014/main" id="{FEF5466B-390B-4D0F-A57E-CFB2E7306D41}"/>
              </a:ext>
            </a:extLst>
          </p:cNvPr>
          <p:cNvSpPr/>
          <p:nvPr/>
        </p:nvSpPr>
        <p:spPr>
          <a:xfrm>
            <a:off x="14605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1" name="ar">
            <a:extLst>
              <a:ext uri="{FF2B5EF4-FFF2-40B4-BE49-F238E27FC236}">
                <a16:creationId xmlns:a16="http://schemas.microsoft.com/office/drawing/2014/main" id="{3AB7BCEC-ABF0-4945-BF6D-8359B62960CF}"/>
              </a:ext>
            </a:extLst>
          </p:cNvPr>
          <p:cNvSpPr/>
          <p:nvPr/>
        </p:nvSpPr>
        <p:spPr>
          <a:xfrm>
            <a:off x="26289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2" name="ar">
            <a:extLst>
              <a:ext uri="{FF2B5EF4-FFF2-40B4-BE49-F238E27FC236}">
                <a16:creationId xmlns:a16="http://schemas.microsoft.com/office/drawing/2014/main" id="{DE9CB2C0-B228-4D44-9ADC-7D0C1C62D081}"/>
              </a:ext>
            </a:extLst>
          </p:cNvPr>
          <p:cNvSpPr/>
          <p:nvPr/>
        </p:nvSpPr>
        <p:spPr>
          <a:xfrm>
            <a:off x="47879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3" name="ar">
            <a:extLst>
              <a:ext uri="{FF2B5EF4-FFF2-40B4-BE49-F238E27FC236}">
                <a16:creationId xmlns:a16="http://schemas.microsoft.com/office/drawing/2014/main" id="{12532D0E-E323-49C9-A69B-6F30C5C5E0B8}"/>
              </a:ext>
            </a:extLst>
          </p:cNvPr>
          <p:cNvSpPr/>
          <p:nvPr/>
        </p:nvSpPr>
        <p:spPr>
          <a:xfrm>
            <a:off x="69469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4" name="ar">
            <a:extLst>
              <a:ext uri="{FF2B5EF4-FFF2-40B4-BE49-F238E27FC236}">
                <a16:creationId xmlns:a16="http://schemas.microsoft.com/office/drawing/2014/main" id="{E055B5BF-1A3C-4BCE-859A-98BDEE506A05}"/>
              </a:ext>
            </a:extLst>
          </p:cNvPr>
          <p:cNvSpPr/>
          <p:nvPr/>
        </p:nvSpPr>
        <p:spPr>
          <a:xfrm>
            <a:off x="91059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5" name="ar">
            <a:extLst>
              <a:ext uri="{FF2B5EF4-FFF2-40B4-BE49-F238E27FC236}">
                <a16:creationId xmlns:a16="http://schemas.microsoft.com/office/drawing/2014/main" id="{AF131404-0C34-4F2B-A40E-586C90BC5143}"/>
              </a:ext>
            </a:extLst>
          </p:cNvPr>
          <p:cNvSpPr/>
          <p:nvPr/>
        </p:nvSpPr>
        <p:spPr>
          <a:xfrm>
            <a:off x="10274300" y="4686300"/>
            <a:ext cx="355600" cy="228600"/>
          </a:xfrm>
          <a:prstGeom prst="rightArrow">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36" name="modelbox">
            <a:extLst>
              <a:ext uri="{FF2B5EF4-FFF2-40B4-BE49-F238E27FC236}">
                <a16:creationId xmlns:a16="http://schemas.microsoft.com/office/drawing/2014/main" id="{95FB6DAD-5933-4ADC-9CD0-23A64F549DCC}"/>
              </a:ext>
            </a:extLst>
          </p:cNvPr>
          <p:cNvSpPr/>
          <p:nvPr/>
        </p:nvSpPr>
        <p:spPr>
          <a:xfrm>
            <a:off x="5219700" y="4356100"/>
            <a:ext cx="1651000" cy="889000"/>
          </a:xfrm>
          <a:prstGeom prst="round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it-IT" sz="2000" b="1">
                <a:solidFill>
                  <a:srgbClr val="FFFFFF"/>
                </a:solidFill>
              </a:rPr>
              <a:t>modello</a:t>
            </a:r>
          </a:p>
        </p:txBody>
      </p:sp>
      <p:sp>
        <p:nvSpPr>
          <p:cNvPr id="337" name="lb">
            <a:extLst>
              <a:ext uri="{FF2B5EF4-FFF2-40B4-BE49-F238E27FC236}">
                <a16:creationId xmlns:a16="http://schemas.microsoft.com/office/drawing/2014/main" id="{196BE8EA-E271-4C18-9204-420CE98D020F}"/>
              </a:ext>
            </a:extLst>
          </p:cNvPr>
          <p:cNvSpPr txBox="1"/>
          <p:nvPr/>
        </p:nvSpPr>
        <p:spPr>
          <a:xfrm>
            <a:off x="889000" y="5222875"/>
            <a:ext cx="361950" cy="330200"/>
          </a:xfrm>
          <a:prstGeom prst="rect">
            <a:avLst/>
          </a:prstGeom>
          <a:noFill/>
        </p:spPr>
        <p:txBody>
          <a:bodyPr vertOverflow="overflow" vert="horz" wrap="none" rtlCol="0" anchor="t">
            <a:noAutofit/>
          </a:bodyPr>
          <a:lstStyle/>
          <a:p>
            <a:pPr algn="l"/>
            <a:r>
              <a:rPr lang="it-IT" b="1" dirty="0">
                <a:solidFill>
                  <a:srgbClr val="1A2533"/>
                </a:solidFill>
              </a:rPr>
              <a:t>C</a:t>
            </a:r>
          </a:p>
        </p:txBody>
      </p:sp>
      <p:sp>
        <p:nvSpPr>
          <p:cNvPr id="338" name="lb">
            <a:extLst>
              <a:ext uri="{FF2B5EF4-FFF2-40B4-BE49-F238E27FC236}">
                <a16:creationId xmlns:a16="http://schemas.microsoft.com/office/drawing/2014/main" id="{F0E450E9-A676-4F82-8F7C-C892462A63DF}"/>
              </a:ext>
            </a:extLst>
          </p:cNvPr>
          <p:cNvSpPr txBox="1"/>
          <p:nvPr/>
        </p:nvSpPr>
        <p:spPr>
          <a:xfrm>
            <a:off x="2060575" y="5222875"/>
            <a:ext cx="361950" cy="330200"/>
          </a:xfrm>
          <a:prstGeom prst="rect">
            <a:avLst/>
          </a:prstGeom>
          <a:noFill/>
        </p:spPr>
        <p:txBody>
          <a:bodyPr vertOverflow="overflow" vert="horz" wrap="none" rtlCol="0" anchor="t">
            <a:noAutofit/>
          </a:bodyPr>
          <a:lstStyle/>
          <a:p>
            <a:pPr algn="l"/>
            <a:r>
              <a:rPr lang="it-IT" b="1" dirty="0">
                <a:solidFill>
                  <a:srgbClr val="1A2533"/>
                </a:solidFill>
              </a:rPr>
              <a:t>L</a:t>
            </a:r>
          </a:p>
        </p:txBody>
      </p:sp>
      <p:sp>
        <p:nvSpPr>
          <p:cNvPr id="339" name="lb">
            <a:extLst>
              <a:ext uri="{FF2B5EF4-FFF2-40B4-BE49-F238E27FC236}">
                <a16:creationId xmlns:a16="http://schemas.microsoft.com/office/drawing/2014/main" id="{CAF2F460-1B55-4F05-BE5B-8C195CB4B720}"/>
              </a:ext>
            </a:extLst>
          </p:cNvPr>
          <p:cNvSpPr txBox="1"/>
          <p:nvPr/>
        </p:nvSpPr>
        <p:spPr>
          <a:xfrm>
            <a:off x="3485515" y="5184140"/>
            <a:ext cx="971550" cy="330200"/>
          </a:xfrm>
          <a:prstGeom prst="rect">
            <a:avLst/>
          </a:prstGeom>
          <a:noFill/>
        </p:spPr>
        <p:txBody>
          <a:bodyPr vertOverflow="overflow" vert="horz" wrap="none" rtlCol="0" anchor="t">
            <a:noAutofit/>
          </a:bodyPr>
          <a:lstStyle/>
          <a:p>
            <a:pPr algn="l"/>
            <a:r>
              <a:rPr lang="it-IT" b="1" dirty="0" err="1">
                <a:solidFill>
                  <a:srgbClr val="1A2533"/>
                </a:solidFill>
              </a:rPr>
              <a:t>vec</a:t>
            </a:r>
            <a:r>
              <a:rPr lang="it-IT" b="1" dirty="0">
                <a:solidFill>
                  <a:srgbClr val="1A2533"/>
                </a:solidFill>
              </a:rPr>
              <a:t>(L)</a:t>
            </a:r>
          </a:p>
        </p:txBody>
      </p:sp>
      <p:sp>
        <p:nvSpPr>
          <p:cNvPr id="340" name="lb">
            <a:extLst>
              <a:ext uri="{FF2B5EF4-FFF2-40B4-BE49-F238E27FC236}">
                <a16:creationId xmlns:a16="http://schemas.microsoft.com/office/drawing/2014/main" id="{B59CD29B-7C77-4D56-A3BC-8DFB4B8A5C90}"/>
              </a:ext>
            </a:extLst>
          </p:cNvPr>
          <p:cNvSpPr txBox="1"/>
          <p:nvPr/>
        </p:nvSpPr>
        <p:spPr>
          <a:xfrm>
            <a:off x="7813675" y="5207000"/>
            <a:ext cx="927100" cy="330200"/>
          </a:xfrm>
          <a:prstGeom prst="rect">
            <a:avLst/>
          </a:prstGeom>
          <a:noFill/>
        </p:spPr>
        <p:txBody>
          <a:bodyPr vertOverflow="overflow" vert="horz" wrap="none" rtlCol="0" anchor="t">
            <a:noAutofit/>
          </a:bodyPr>
          <a:lstStyle/>
          <a:p>
            <a:pPr algn="l"/>
            <a:r>
              <a:rPr lang="it-IT" b="1" dirty="0" err="1">
                <a:solidFill>
                  <a:srgbClr val="1A2533"/>
                </a:solidFill>
              </a:rPr>
              <a:t>vec</a:t>
            </a:r>
            <a:r>
              <a:rPr lang="it-IT" b="1" dirty="0">
                <a:solidFill>
                  <a:srgbClr val="1A2533"/>
                </a:solidFill>
              </a:rPr>
              <a:t>(L̃)</a:t>
            </a:r>
          </a:p>
        </p:txBody>
      </p:sp>
      <p:sp>
        <p:nvSpPr>
          <p:cNvPr id="341" name="lb">
            <a:extLst>
              <a:ext uri="{FF2B5EF4-FFF2-40B4-BE49-F238E27FC236}">
                <a16:creationId xmlns:a16="http://schemas.microsoft.com/office/drawing/2014/main" id="{57EE4467-02A4-4AF3-84EC-6F0CEDEAE67F}"/>
              </a:ext>
            </a:extLst>
          </p:cNvPr>
          <p:cNvSpPr txBox="1"/>
          <p:nvPr/>
        </p:nvSpPr>
        <p:spPr>
          <a:xfrm>
            <a:off x="9725025" y="5213350"/>
            <a:ext cx="386080" cy="330200"/>
          </a:xfrm>
          <a:prstGeom prst="rect">
            <a:avLst/>
          </a:prstGeom>
          <a:noFill/>
        </p:spPr>
        <p:txBody>
          <a:bodyPr vertOverflow="overflow" vert="horz" wrap="none" rtlCol="0" anchor="t">
            <a:noAutofit/>
          </a:bodyPr>
          <a:lstStyle/>
          <a:p>
            <a:pPr algn="l"/>
            <a:r>
              <a:rPr lang="it-IT" b="1">
                <a:solidFill>
                  <a:srgbClr val="1A2533"/>
                </a:solidFill>
              </a:rPr>
              <a:t>L̃</a:t>
            </a:r>
          </a:p>
        </p:txBody>
      </p:sp>
      <p:sp>
        <p:nvSpPr>
          <p:cNvPr id="342" name="lb">
            <a:extLst>
              <a:ext uri="{FF2B5EF4-FFF2-40B4-BE49-F238E27FC236}">
                <a16:creationId xmlns:a16="http://schemas.microsoft.com/office/drawing/2014/main" id="{44281ACF-E99A-4CB3-81B8-2CF4B470C4D7}"/>
              </a:ext>
            </a:extLst>
          </p:cNvPr>
          <p:cNvSpPr txBox="1"/>
          <p:nvPr/>
        </p:nvSpPr>
        <p:spPr>
          <a:xfrm>
            <a:off x="10325100" y="5222875"/>
            <a:ext cx="1282700" cy="330200"/>
          </a:xfrm>
          <a:prstGeom prst="rect">
            <a:avLst/>
          </a:prstGeom>
          <a:noFill/>
        </p:spPr>
        <p:txBody>
          <a:bodyPr vertOverflow="overflow" vert="horz" wrap="none" rtlCol="0" anchor="t">
            <a:noAutofit/>
          </a:bodyPr>
          <a:lstStyle/>
          <a:p>
            <a:pPr algn="l"/>
            <a:r>
              <a:rPr lang="it-IT" b="1" dirty="0">
                <a:solidFill>
                  <a:srgbClr val="1A2533"/>
                </a:solidFill>
              </a:rPr>
              <a:t>C̃ = </a:t>
            </a:r>
            <a:r>
              <a:rPr lang="it-IT" b="1" dirty="0" err="1">
                <a:solidFill>
                  <a:srgbClr val="1A2533"/>
                </a:solidFill>
              </a:rPr>
              <a:t>norm</a:t>
            </a:r>
            <a:r>
              <a:rPr lang="it-IT" b="1" dirty="0">
                <a:solidFill>
                  <a:srgbClr val="1A2533"/>
                </a:solidFill>
              </a:rPr>
              <a:t>(L̃ L̃ᵀ)</a:t>
            </a:r>
          </a:p>
        </p:txBody>
      </p:sp>
      <p:sp>
        <p:nvSpPr>
          <p:cNvPr id="343" name="modelsub">
            <a:extLst>
              <a:ext uri="{FF2B5EF4-FFF2-40B4-BE49-F238E27FC236}">
                <a16:creationId xmlns:a16="http://schemas.microsoft.com/office/drawing/2014/main" id="{20992034-18BC-4D08-942F-DA561707FB31}"/>
              </a:ext>
            </a:extLst>
          </p:cNvPr>
          <p:cNvSpPr txBox="1"/>
          <p:nvPr/>
        </p:nvSpPr>
        <p:spPr>
          <a:xfrm>
            <a:off x="5198997" y="5229923"/>
            <a:ext cx="1621155" cy="330200"/>
          </a:xfrm>
          <a:prstGeom prst="rect">
            <a:avLst/>
          </a:prstGeom>
          <a:noFill/>
        </p:spPr>
        <p:txBody>
          <a:bodyPr vertOverflow="overflow" vert="horz" wrap="none" rtlCol="0" anchor="t">
            <a:noAutofit/>
          </a:bodyPr>
          <a:lstStyle/>
          <a:p>
            <a:pPr algn="l"/>
            <a:r>
              <a:rPr lang="it-IT" b="1" dirty="0">
                <a:solidFill>
                  <a:srgbClr val="1A2533"/>
                </a:solidFill>
              </a:rPr>
              <a:t>PCA · AE · VAE</a:t>
            </a:r>
          </a:p>
        </p:txBody>
      </p:sp>
      <p:sp>
        <p:nvSpPr>
          <p:cNvPr id="400" name="cardwin">
            <a:extLst>
              <a:ext uri="{FF2B5EF4-FFF2-40B4-BE49-F238E27FC236}">
                <a16:creationId xmlns:a16="http://schemas.microsoft.com/office/drawing/2014/main" id="{76035FEC-7717-4772-8892-0643BF61EAFC}"/>
              </a:ext>
            </a:extLst>
          </p:cNvPr>
          <p:cNvSpPr/>
          <p:nvPr/>
        </p:nvSpPr>
        <p:spPr>
          <a:xfrm>
            <a:off x="247135" y="1270000"/>
            <a:ext cx="11829251" cy="2006600"/>
          </a:xfrm>
          <a:prstGeom prst="roundRect">
            <a:avLst/>
          </a:prstGeom>
          <a:solidFill>
            <a:srgbClr val="DEEBF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lstStyle/>
          <a:p>
            <a:endParaRPr/>
          </a:p>
        </p:txBody>
      </p:sp>
      <p:sp>
        <p:nvSpPr>
          <p:cNvPr id="500" name="wlbl"/>
          <p:cNvSpPr txBox="1"/>
          <p:nvPr/>
        </p:nvSpPr>
        <p:spPr>
          <a:xfrm>
            <a:off x="838200" y="1346200"/>
            <a:ext cx="4394200" cy="304800"/>
          </a:xfrm>
          <a:prstGeom prst="rect">
            <a:avLst/>
          </a:prstGeom>
          <a:noFill/>
        </p:spPr>
        <p:txBody>
          <a:bodyPr wrap="square" lIns="0" tIns="0" rIns="0" bIns="0" anchor="ctr"/>
          <a:lstStyle/>
          <a:p>
            <a:pPr algn="l">
              <a:lnSpc>
                <a:spcPct val="95000"/>
              </a:lnSpc>
            </a:pPr>
            <a:r>
              <a:rPr lang="it-IT" sz="1800" b="1" dirty="0">
                <a:solidFill>
                  <a:srgbClr val="156082"/>
                </a:solidFill>
              </a:rPr>
              <a:t>finestra 724 giorni · passo 10 giorni</a:t>
            </a:r>
          </a:p>
        </p:txBody>
      </p:sp>
      <p:sp>
        <p:nvSpPr>
          <p:cNvPr id="501" name="win1"/>
          <p:cNvSpPr/>
          <p:nvPr/>
        </p:nvSpPr>
        <p:spPr>
          <a:xfrm>
            <a:off x="914400" y="1752600"/>
            <a:ext cx="1905000" cy="190500"/>
          </a:xfrm>
          <a:prstGeom prst="roundRect">
            <a:avLst/>
          </a:prstGeom>
          <a:solidFill>
            <a:srgbClr val="156082"/>
          </a:solidFill>
          <a:ln w="12700">
            <a:solidFill>
              <a:srgbClr val="FFFFFF"/>
            </a:solidFill>
          </a:ln>
        </p:spPr>
        <p:txBody>
          <a:bodyPr/>
          <a:lstStyle/>
          <a:p>
            <a:endParaRPr/>
          </a:p>
        </p:txBody>
      </p:sp>
      <p:sp>
        <p:nvSpPr>
          <p:cNvPr id="502" name="win2"/>
          <p:cNvSpPr/>
          <p:nvPr/>
        </p:nvSpPr>
        <p:spPr>
          <a:xfrm>
            <a:off x="1270000" y="2006600"/>
            <a:ext cx="1905000" cy="190500"/>
          </a:xfrm>
          <a:prstGeom prst="roundRect">
            <a:avLst/>
          </a:prstGeom>
          <a:solidFill>
            <a:srgbClr val="0F9ED5"/>
          </a:solidFill>
          <a:ln w="12700">
            <a:solidFill>
              <a:srgbClr val="FFFFFF"/>
            </a:solidFill>
          </a:ln>
        </p:spPr>
        <p:txBody>
          <a:bodyPr/>
          <a:lstStyle/>
          <a:p>
            <a:endParaRPr/>
          </a:p>
        </p:txBody>
      </p:sp>
      <p:sp>
        <p:nvSpPr>
          <p:cNvPr id="503" name="win3"/>
          <p:cNvSpPr/>
          <p:nvPr/>
        </p:nvSpPr>
        <p:spPr>
          <a:xfrm>
            <a:off x="1625600" y="2260600"/>
            <a:ext cx="1905000" cy="190500"/>
          </a:xfrm>
          <a:prstGeom prst="roundRect">
            <a:avLst/>
          </a:prstGeom>
          <a:solidFill>
            <a:srgbClr val="E97132"/>
          </a:solidFill>
          <a:ln w="12700">
            <a:solidFill>
              <a:srgbClr val="FFFFFF"/>
            </a:solidFill>
          </a:ln>
        </p:spPr>
        <p:txBody>
          <a:bodyPr/>
          <a:lstStyle/>
          <a:p>
            <a:endParaRPr/>
          </a:p>
        </p:txBody>
      </p:sp>
      <p:sp>
        <p:nvSpPr>
          <p:cNvPr id="504" name="wdots"/>
          <p:cNvSpPr txBox="1"/>
          <p:nvPr/>
        </p:nvSpPr>
        <p:spPr>
          <a:xfrm>
            <a:off x="3606800" y="2235200"/>
            <a:ext cx="508000" cy="279400"/>
          </a:xfrm>
          <a:prstGeom prst="rect">
            <a:avLst/>
          </a:prstGeom>
          <a:noFill/>
        </p:spPr>
        <p:txBody>
          <a:bodyPr wrap="square" lIns="0" tIns="0" rIns="0" bIns="0" anchor="ctr"/>
          <a:lstStyle/>
          <a:p>
            <a:pPr algn="l">
              <a:lnSpc>
                <a:spcPct val="95000"/>
              </a:lnSpc>
            </a:pPr>
            <a:r>
              <a:rPr lang="it-IT" sz="1800" b="1" dirty="0">
                <a:solidFill>
                  <a:srgbClr val="1A2533"/>
                </a:solidFill>
              </a:rPr>
              <a:t>…</a:t>
            </a:r>
          </a:p>
        </p:txBody>
      </p:sp>
      <p:sp>
        <p:nvSpPr>
          <p:cNvPr id="505" name="axis"/>
          <p:cNvSpPr/>
          <p:nvPr/>
        </p:nvSpPr>
        <p:spPr>
          <a:xfrm>
            <a:off x="914400" y="2565400"/>
            <a:ext cx="4318000" cy="50800"/>
          </a:xfrm>
          <a:prstGeom prst="rect">
            <a:avLst/>
          </a:prstGeom>
          <a:solidFill>
            <a:srgbClr val="A6B0BA"/>
          </a:solidFill>
          <a:ln>
            <a:noFill/>
          </a:ln>
        </p:spPr>
        <p:txBody>
          <a:bodyPr/>
          <a:lstStyle/>
          <a:p>
            <a:endParaRPr/>
          </a:p>
        </p:txBody>
      </p:sp>
      <p:sp>
        <p:nvSpPr>
          <p:cNvPr id="506" name="tick1"/>
          <p:cNvSpPr/>
          <p:nvPr/>
        </p:nvSpPr>
        <p:spPr>
          <a:xfrm>
            <a:off x="914400" y="2489200"/>
            <a:ext cx="38100" cy="203200"/>
          </a:xfrm>
          <a:prstGeom prst="rect">
            <a:avLst/>
          </a:prstGeom>
          <a:solidFill>
            <a:srgbClr val="A6B0BA"/>
          </a:solidFill>
          <a:ln>
            <a:noFill/>
          </a:ln>
        </p:spPr>
        <p:txBody>
          <a:bodyPr/>
          <a:lstStyle/>
          <a:p>
            <a:endParaRPr/>
          </a:p>
        </p:txBody>
      </p:sp>
      <p:sp>
        <p:nvSpPr>
          <p:cNvPr id="507" name="tick2"/>
          <p:cNvSpPr/>
          <p:nvPr/>
        </p:nvSpPr>
        <p:spPr>
          <a:xfrm>
            <a:off x="5194300" y="2489200"/>
            <a:ext cx="38100" cy="203200"/>
          </a:xfrm>
          <a:prstGeom prst="rect">
            <a:avLst/>
          </a:prstGeom>
          <a:solidFill>
            <a:srgbClr val="A6B0BA"/>
          </a:solidFill>
          <a:ln>
            <a:noFill/>
          </a:ln>
        </p:spPr>
        <p:txBody>
          <a:bodyPr/>
          <a:lstStyle/>
          <a:p>
            <a:endParaRPr/>
          </a:p>
        </p:txBody>
      </p:sp>
      <p:sp>
        <p:nvSpPr>
          <p:cNvPr id="508" name="axlbl"/>
          <p:cNvSpPr txBox="1"/>
          <p:nvPr/>
        </p:nvSpPr>
        <p:spPr>
          <a:xfrm>
            <a:off x="889000" y="2749550"/>
            <a:ext cx="4318000" cy="330200"/>
          </a:xfrm>
          <a:prstGeom prst="rect">
            <a:avLst/>
          </a:prstGeom>
          <a:noFill/>
        </p:spPr>
        <p:txBody>
          <a:bodyPr wrap="square" lIns="0" tIns="0" rIns="0" bIns="0" anchor="ctr"/>
          <a:lstStyle/>
          <a:p>
            <a:pPr algn="ctr">
              <a:lnSpc>
                <a:spcPct val="95000"/>
              </a:lnSpc>
            </a:pPr>
            <a:r>
              <a:rPr lang="it-IT" b="1" dirty="0">
                <a:solidFill>
                  <a:srgbClr val="1A2533"/>
                </a:solidFill>
              </a:rPr>
              <a:t>S&amp;P 500 · 362 titoli · 2000-2020</a:t>
            </a:r>
          </a:p>
        </p:txBody>
      </p:sp>
      <p:sp>
        <p:nvSpPr>
          <p:cNvPr id="509" name="arr1"/>
          <p:cNvSpPr/>
          <p:nvPr/>
        </p:nvSpPr>
        <p:spPr>
          <a:xfrm>
            <a:off x="5334000" y="2133600"/>
            <a:ext cx="457200" cy="254000"/>
          </a:xfrm>
          <a:prstGeom prst="rightArrow">
            <a:avLst/>
          </a:prstGeom>
          <a:solidFill>
            <a:srgbClr val="1A2533"/>
          </a:solidFill>
          <a:ln>
            <a:noFill/>
          </a:ln>
        </p:spPr>
        <p:txBody>
          <a:bodyPr/>
          <a:lstStyle/>
          <a:p>
            <a:endParaRPr/>
          </a:p>
        </p:txBody>
      </p:sp>
      <p:sp>
        <p:nvSpPr>
          <p:cNvPr id="510" name="mx"/>
          <p:cNvSpPr/>
          <p:nvPr/>
        </p:nvSpPr>
        <p:spPr>
          <a:xfrm>
            <a:off x="5969000" y="1879600"/>
            <a:ext cx="165100" cy="165100"/>
          </a:xfrm>
          <a:prstGeom prst="rect">
            <a:avLst/>
          </a:prstGeom>
          <a:solidFill>
            <a:srgbClr val="156082"/>
          </a:solidFill>
          <a:ln>
            <a:noFill/>
          </a:ln>
        </p:spPr>
        <p:txBody>
          <a:bodyPr/>
          <a:lstStyle/>
          <a:p>
            <a:endParaRPr/>
          </a:p>
        </p:txBody>
      </p:sp>
      <p:sp>
        <p:nvSpPr>
          <p:cNvPr id="511" name="mx"/>
          <p:cNvSpPr/>
          <p:nvPr/>
        </p:nvSpPr>
        <p:spPr>
          <a:xfrm>
            <a:off x="6146800" y="1879600"/>
            <a:ext cx="165100" cy="165100"/>
          </a:xfrm>
          <a:prstGeom prst="rect">
            <a:avLst/>
          </a:prstGeom>
          <a:solidFill>
            <a:srgbClr val="3E8AA8"/>
          </a:solidFill>
          <a:ln>
            <a:noFill/>
          </a:ln>
        </p:spPr>
        <p:txBody>
          <a:bodyPr/>
          <a:lstStyle/>
          <a:p>
            <a:endParaRPr/>
          </a:p>
        </p:txBody>
      </p:sp>
      <p:sp>
        <p:nvSpPr>
          <p:cNvPr id="512" name="mx"/>
          <p:cNvSpPr/>
          <p:nvPr/>
        </p:nvSpPr>
        <p:spPr>
          <a:xfrm>
            <a:off x="6324600" y="1879600"/>
            <a:ext cx="165100" cy="165100"/>
          </a:xfrm>
          <a:prstGeom prst="rect">
            <a:avLst/>
          </a:prstGeom>
          <a:solidFill>
            <a:srgbClr val="7FB4C7"/>
          </a:solidFill>
          <a:ln>
            <a:noFill/>
          </a:ln>
        </p:spPr>
        <p:txBody>
          <a:bodyPr/>
          <a:lstStyle/>
          <a:p>
            <a:endParaRPr/>
          </a:p>
        </p:txBody>
      </p:sp>
      <p:sp>
        <p:nvSpPr>
          <p:cNvPr id="513" name="mx"/>
          <p:cNvSpPr/>
          <p:nvPr/>
        </p:nvSpPr>
        <p:spPr>
          <a:xfrm>
            <a:off x="6502400" y="1879600"/>
            <a:ext cx="165100" cy="165100"/>
          </a:xfrm>
          <a:prstGeom prst="rect">
            <a:avLst/>
          </a:prstGeom>
          <a:solidFill>
            <a:srgbClr val="A8CBD9"/>
          </a:solidFill>
          <a:ln>
            <a:noFill/>
          </a:ln>
        </p:spPr>
        <p:txBody>
          <a:bodyPr/>
          <a:lstStyle/>
          <a:p>
            <a:endParaRPr/>
          </a:p>
        </p:txBody>
      </p:sp>
      <p:sp>
        <p:nvSpPr>
          <p:cNvPr id="514" name="mx"/>
          <p:cNvSpPr/>
          <p:nvPr/>
        </p:nvSpPr>
        <p:spPr>
          <a:xfrm>
            <a:off x="6680200" y="1879600"/>
            <a:ext cx="165100" cy="165100"/>
          </a:xfrm>
          <a:prstGeom prst="rect">
            <a:avLst/>
          </a:prstGeom>
          <a:solidFill>
            <a:srgbClr val="D6E5EC"/>
          </a:solidFill>
          <a:ln>
            <a:noFill/>
          </a:ln>
        </p:spPr>
        <p:txBody>
          <a:bodyPr/>
          <a:lstStyle/>
          <a:p>
            <a:endParaRPr/>
          </a:p>
        </p:txBody>
      </p:sp>
      <p:sp>
        <p:nvSpPr>
          <p:cNvPr id="515" name="mx"/>
          <p:cNvSpPr/>
          <p:nvPr/>
        </p:nvSpPr>
        <p:spPr>
          <a:xfrm>
            <a:off x="5969000" y="2057400"/>
            <a:ext cx="165100" cy="165100"/>
          </a:xfrm>
          <a:prstGeom prst="rect">
            <a:avLst/>
          </a:prstGeom>
          <a:solidFill>
            <a:srgbClr val="3E8AA8"/>
          </a:solidFill>
          <a:ln>
            <a:noFill/>
          </a:ln>
        </p:spPr>
        <p:txBody>
          <a:bodyPr/>
          <a:lstStyle/>
          <a:p>
            <a:endParaRPr/>
          </a:p>
        </p:txBody>
      </p:sp>
      <p:sp>
        <p:nvSpPr>
          <p:cNvPr id="516" name="mx"/>
          <p:cNvSpPr/>
          <p:nvPr/>
        </p:nvSpPr>
        <p:spPr>
          <a:xfrm>
            <a:off x="6146800" y="2057400"/>
            <a:ext cx="165100" cy="165100"/>
          </a:xfrm>
          <a:prstGeom prst="rect">
            <a:avLst/>
          </a:prstGeom>
          <a:solidFill>
            <a:srgbClr val="156082"/>
          </a:solidFill>
          <a:ln>
            <a:noFill/>
          </a:ln>
        </p:spPr>
        <p:txBody>
          <a:bodyPr/>
          <a:lstStyle/>
          <a:p>
            <a:endParaRPr/>
          </a:p>
        </p:txBody>
      </p:sp>
      <p:sp>
        <p:nvSpPr>
          <p:cNvPr id="517" name="mx"/>
          <p:cNvSpPr/>
          <p:nvPr/>
        </p:nvSpPr>
        <p:spPr>
          <a:xfrm>
            <a:off x="6324600" y="2057400"/>
            <a:ext cx="165100" cy="165100"/>
          </a:xfrm>
          <a:prstGeom prst="rect">
            <a:avLst/>
          </a:prstGeom>
          <a:solidFill>
            <a:srgbClr val="3E8AA8"/>
          </a:solidFill>
          <a:ln>
            <a:noFill/>
          </a:ln>
        </p:spPr>
        <p:txBody>
          <a:bodyPr/>
          <a:lstStyle/>
          <a:p>
            <a:endParaRPr/>
          </a:p>
        </p:txBody>
      </p:sp>
      <p:sp>
        <p:nvSpPr>
          <p:cNvPr id="518" name="mx"/>
          <p:cNvSpPr/>
          <p:nvPr/>
        </p:nvSpPr>
        <p:spPr>
          <a:xfrm>
            <a:off x="6502400" y="2057400"/>
            <a:ext cx="165100" cy="165100"/>
          </a:xfrm>
          <a:prstGeom prst="rect">
            <a:avLst/>
          </a:prstGeom>
          <a:solidFill>
            <a:srgbClr val="7FB4C7"/>
          </a:solidFill>
          <a:ln>
            <a:noFill/>
          </a:ln>
        </p:spPr>
        <p:txBody>
          <a:bodyPr/>
          <a:lstStyle/>
          <a:p>
            <a:endParaRPr/>
          </a:p>
        </p:txBody>
      </p:sp>
      <p:sp>
        <p:nvSpPr>
          <p:cNvPr id="519" name="mx"/>
          <p:cNvSpPr/>
          <p:nvPr/>
        </p:nvSpPr>
        <p:spPr>
          <a:xfrm>
            <a:off x="6680200" y="2057400"/>
            <a:ext cx="165100" cy="165100"/>
          </a:xfrm>
          <a:prstGeom prst="rect">
            <a:avLst/>
          </a:prstGeom>
          <a:solidFill>
            <a:srgbClr val="A8CBD9"/>
          </a:solidFill>
          <a:ln>
            <a:noFill/>
          </a:ln>
        </p:spPr>
        <p:txBody>
          <a:bodyPr/>
          <a:lstStyle/>
          <a:p>
            <a:endParaRPr/>
          </a:p>
        </p:txBody>
      </p:sp>
      <p:sp>
        <p:nvSpPr>
          <p:cNvPr id="520" name="mx"/>
          <p:cNvSpPr/>
          <p:nvPr/>
        </p:nvSpPr>
        <p:spPr>
          <a:xfrm>
            <a:off x="5969000" y="2235200"/>
            <a:ext cx="165100" cy="165100"/>
          </a:xfrm>
          <a:prstGeom prst="rect">
            <a:avLst/>
          </a:prstGeom>
          <a:solidFill>
            <a:srgbClr val="7FB4C7"/>
          </a:solidFill>
          <a:ln>
            <a:noFill/>
          </a:ln>
        </p:spPr>
        <p:txBody>
          <a:bodyPr/>
          <a:lstStyle/>
          <a:p>
            <a:endParaRPr/>
          </a:p>
        </p:txBody>
      </p:sp>
      <p:sp>
        <p:nvSpPr>
          <p:cNvPr id="521" name="mx"/>
          <p:cNvSpPr/>
          <p:nvPr/>
        </p:nvSpPr>
        <p:spPr>
          <a:xfrm>
            <a:off x="6146800" y="2235200"/>
            <a:ext cx="165100" cy="165100"/>
          </a:xfrm>
          <a:prstGeom prst="rect">
            <a:avLst/>
          </a:prstGeom>
          <a:solidFill>
            <a:srgbClr val="3E8AA8"/>
          </a:solidFill>
          <a:ln>
            <a:noFill/>
          </a:ln>
        </p:spPr>
        <p:txBody>
          <a:bodyPr/>
          <a:lstStyle/>
          <a:p>
            <a:endParaRPr/>
          </a:p>
        </p:txBody>
      </p:sp>
      <p:sp>
        <p:nvSpPr>
          <p:cNvPr id="522" name="mx"/>
          <p:cNvSpPr/>
          <p:nvPr/>
        </p:nvSpPr>
        <p:spPr>
          <a:xfrm>
            <a:off x="6324600" y="2235200"/>
            <a:ext cx="165100" cy="165100"/>
          </a:xfrm>
          <a:prstGeom prst="rect">
            <a:avLst/>
          </a:prstGeom>
          <a:solidFill>
            <a:srgbClr val="156082"/>
          </a:solidFill>
          <a:ln>
            <a:noFill/>
          </a:ln>
        </p:spPr>
        <p:txBody>
          <a:bodyPr/>
          <a:lstStyle/>
          <a:p>
            <a:endParaRPr/>
          </a:p>
        </p:txBody>
      </p:sp>
      <p:sp>
        <p:nvSpPr>
          <p:cNvPr id="523" name="mx"/>
          <p:cNvSpPr/>
          <p:nvPr/>
        </p:nvSpPr>
        <p:spPr>
          <a:xfrm>
            <a:off x="6502400" y="2235200"/>
            <a:ext cx="165100" cy="165100"/>
          </a:xfrm>
          <a:prstGeom prst="rect">
            <a:avLst/>
          </a:prstGeom>
          <a:solidFill>
            <a:srgbClr val="3E8AA8"/>
          </a:solidFill>
          <a:ln>
            <a:noFill/>
          </a:ln>
        </p:spPr>
        <p:txBody>
          <a:bodyPr/>
          <a:lstStyle/>
          <a:p>
            <a:endParaRPr/>
          </a:p>
        </p:txBody>
      </p:sp>
      <p:sp>
        <p:nvSpPr>
          <p:cNvPr id="524" name="mx"/>
          <p:cNvSpPr/>
          <p:nvPr/>
        </p:nvSpPr>
        <p:spPr>
          <a:xfrm>
            <a:off x="6680200" y="2235200"/>
            <a:ext cx="165100" cy="165100"/>
          </a:xfrm>
          <a:prstGeom prst="rect">
            <a:avLst/>
          </a:prstGeom>
          <a:solidFill>
            <a:srgbClr val="7FB4C7"/>
          </a:solidFill>
          <a:ln>
            <a:noFill/>
          </a:ln>
        </p:spPr>
        <p:txBody>
          <a:bodyPr/>
          <a:lstStyle/>
          <a:p>
            <a:endParaRPr/>
          </a:p>
        </p:txBody>
      </p:sp>
      <p:sp>
        <p:nvSpPr>
          <p:cNvPr id="525" name="mx"/>
          <p:cNvSpPr/>
          <p:nvPr/>
        </p:nvSpPr>
        <p:spPr>
          <a:xfrm>
            <a:off x="5969000" y="2413000"/>
            <a:ext cx="165100" cy="165100"/>
          </a:xfrm>
          <a:prstGeom prst="rect">
            <a:avLst/>
          </a:prstGeom>
          <a:solidFill>
            <a:srgbClr val="A8CBD9"/>
          </a:solidFill>
          <a:ln>
            <a:noFill/>
          </a:ln>
        </p:spPr>
        <p:txBody>
          <a:bodyPr/>
          <a:lstStyle/>
          <a:p>
            <a:endParaRPr/>
          </a:p>
        </p:txBody>
      </p:sp>
      <p:sp>
        <p:nvSpPr>
          <p:cNvPr id="526" name="mx"/>
          <p:cNvSpPr/>
          <p:nvPr/>
        </p:nvSpPr>
        <p:spPr>
          <a:xfrm>
            <a:off x="6146800" y="2413000"/>
            <a:ext cx="165100" cy="165100"/>
          </a:xfrm>
          <a:prstGeom prst="rect">
            <a:avLst/>
          </a:prstGeom>
          <a:solidFill>
            <a:srgbClr val="7FB4C7"/>
          </a:solidFill>
          <a:ln>
            <a:noFill/>
          </a:ln>
        </p:spPr>
        <p:txBody>
          <a:bodyPr/>
          <a:lstStyle/>
          <a:p>
            <a:endParaRPr/>
          </a:p>
        </p:txBody>
      </p:sp>
      <p:sp>
        <p:nvSpPr>
          <p:cNvPr id="527" name="mx"/>
          <p:cNvSpPr/>
          <p:nvPr/>
        </p:nvSpPr>
        <p:spPr>
          <a:xfrm>
            <a:off x="6324600" y="2413000"/>
            <a:ext cx="165100" cy="165100"/>
          </a:xfrm>
          <a:prstGeom prst="rect">
            <a:avLst/>
          </a:prstGeom>
          <a:solidFill>
            <a:srgbClr val="3E8AA8"/>
          </a:solidFill>
          <a:ln>
            <a:noFill/>
          </a:ln>
        </p:spPr>
        <p:txBody>
          <a:bodyPr/>
          <a:lstStyle/>
          <a:p>
            <a:endParaRPr/>
          </a:p>
        </p:txBody>
      </p:sp>
      <p:sp>
        <p:nvSpPr>
          <p:cNvPr id="528" name="mx"/>
          <p:cNvSpPr/>
          <p:nvPr/>
        </p:nvSpPr>
        <p:spPr>
          <a:xfrm>
            <a:off x="6502400" y="2413000"/>
            <a:ext cx="165100" cy="165100"/>
          </a:xfrm>
          <a:prstGeom prst="rect">
            <a:avLst/>
          </a:prstGeom>
          <a:solidFill>
            <a:srgbClr val="156082"/>
          </a:solidFill>
          <a:ln>
            <a:noFill/>
          </a:ln>
        </p:spPr>
        <p:txBody>
          <a:bodyPr/>
          <a:lstStyle/>
          <a:p>
            <a:endParaRPr/>
          </a:p>
        </p:txBody>
      </p:sp>
      <p:sp>
        <p:nvSpPr>
          <p:cNvPr id="529" name="mx"/>
          <p:cNvSpPr/>
          <p:nvPr/>
        </p:nvSpPr>
        <p:spPr>
          <a:xfrm>
            <a:off x="6680200" y="2413000"/>
            <a:ext cx="165100" cy="165100"/>
          </a:xfrm>
          <a:prstGeom prst="rect">
            <a:avLst/>
          </a:prstGeom>
          <a:solidFill>
            <a:srgbClr val="3E8AA8"/>
          </a:solidFill>
          <a:ln>
            <a:noFill/>
          </a:ln>
        </p:spPr>
        <p:txBody>
          <a:bodyPr/>
          <a:lstStyle/>
          <a:p>
            <a:endParaRPr/>
          </a:p>
        </p:txBody>
      </p:sp>
      <p:sp>
        <p:nvSpPr>
          <p:cNvPr id="530" name="mx"/>
          <p:cNvSpPr/>
          <p:nvPr/>
        </p:nvSpPr>
        <p:spPr>
          <a:xfrm>
            <a:off x="5969000" y="2590800"/>
            <a:ext cx="165100" cy="165100"/>
          </a:xfrm>
          <a:prstGeom prst="rect">
            <a:avLst/>
          </a:prstGeom>
          <a:solidFill>
            <a:srgbClr val="D6E5EC"/>
          </a:solidFill>
          <a:ln>
            <a:noFill/>
          </a:ln>
        </p:spPr>
        <p:txBody>
          <a:bodyPr/>
          <a:lstStyle/>
          <a:p>
            <a:endParaRPr/>
          </a:p>
        </p:txBody>
      </p:sp>
      <p:sp>
        <p:nvSpPr>
          <p:cNvPr id="531" name="mx"/>
          <p:cNvSpPr/>
          <p:nvPr/>
        </p:nvSpPr>
        <p:spPr>
          <a:xfrm>
            <a:off x="6146800" y="2590800"/>
            <a:ext cx="165100" cy="165100"/>
          </a:xfrm>
          <a:prstGeom prst="rect">
            <a:avLst/>
          </a:prstGeom>
          <a:solidFill>
            <a:srgbClr val="A8CBD9"/>
          </a:solidFill>
          <a:ln>
            <a:noFill/>
          </a:ln>
        </p:spPr>
        <p:txBody>
          <a:bodyPr/>
          <a:lstStyle/>
          <a:p>
            <a:endParaRPr/>
          </a:p>
        </p:txBody>
      </p:sp>
      <p:sp>
        <p:nvSpPr>
          <p:cNvPr id="532" name="mx"/>
          <p:cNvSpPr/>
          <p:nvPr/>
        </p:nvSpPr>
        <p:spPr>
          <a:xfrm>
            <a:off x="6324600" y="2590800"/>
            <a:ext cx="165100" cy="165100"/>
          </a:xfrm>
          <a:prstGeom prst="rect">
            <a:avLst/>
          </a:prstGeom>
          <a:solidFill>
            <a:srgbClr val="7FB4C7"/>
          </a:solidFill>
          <a:ln>
            <a:noFill/>
          </a:ln>
        </p:spPr>
        <p:txBody>
          <a:bodyPr/>
          <a:lstStyle/>
          <a:p>
            <a:endParaRPr/>
          </a:p>
        </p:txBody>
      </p:sp>
      <p:sp>
        <p:nvSpPr>
          <p:cNvPr id="533" name="mx"/>
          <p:cNvSpPr/>
          <p:nvPr/>
        </p:nvSpPr>
        <p:spPr>
          <a:xfrm>
            <a:off x="6502400" y="2590800"/>
            <a:ext cx="165100" cy="165100"/>
          </a:xfrm>
          <a:prstGeom prst="rect">
            <a:avLst/>
          </a:prstGeom>
          <a:solidFill>
            <a:srgbClr val="3E8AA8"/>
          </a:solidFill>
          <a:ln>
            <a:noFill/>
          </a:ln>
        </p:spPr>
        <p:txBody>
          <a:bodyPr/>
          <a:lstStyle/>
          <a:p>
            <a:endParaRPr/>
          </a:p>
        </p:txBody>
      </p:sp>
      <p:sp>
        <p:nvSpPr>
          <p:cNvPr id="534" name="mx"/>
          <p:cNvSpPr/>
          <p:nvPr/>
        </p:nvSpPr>
        <p:spPr>
          <a:xfrm>
            <a:off x="6680200" y="2590800"/>
            <a:ext cx="165100" cy="165100"/>
          </a:xfrm>
          <a:prstGeom prst="rect">
            <a:avLst/>
          </a:prstGeom>
          <a:solidFill>
            <a:srgbClr val="156082"/>
          </a:solidFill>
          <a:ln>
            <a:noFill/>
          </a:ln>
        </p:spPr>
        <p:txBody>
          <a:bodyPr/>
          <a:lstStyle/>
          <a:p>
            <a:endParaRPr/>
          </a:p>
        </p:txBody>
      </p:sp>
      <p:sp>
        <p:nvSpPr>
          <p:cNvPr id="535" name="mxlbl"/>
          <p:cNvSpPr txBox="1"/>
          <p:nvPr/>
        </p:nvSpPr>
        <p:spPr>
          <a:xfrm>
            <a:off x="5715000" y="2819400"/>
            <a:ext cx="1397000" cy="330200"/>
          </a:xfrm>
          <a:prstGeom prst="rect">
            <a:avLst/>
          </a:prstGeom>
          <a:noFill/>
        </p:spPr>
        <p:txBody>
          <a:bodyPr wrap="square" lIns="0" tIns="0" rIns="0" bIns="0" anchor="ctr"/>
          <a:lstStyle/>
          <a:p>
            <a:pPr algn="ctr">
              <a:lnSpc>
                <a:spcPct val="95000"/>
              </a:lnSpc>
            </a:pPr>
            <a:r>
              <a:rPr lang="it-IT" b="1" dirty="0">
                <a:solidFill>
                  <a:srgbClr val="1A2533"/>
                </a:solidFill>
              </a:rPr>
              <a:t>362 × 362</a:t>
            </a:r>
          </a:p>
        </p:txBody>
      </p:sp>
      <p:sp>
        <p:nvSpPr>
          <p:cNvPr id="536" name="arr2"/>
          <p:cNvSpPr/>
          <p:nvPr/>
        </p:nvSpPr>
        <p:spPr>
          <a:xfrm>
            <a:off x="7061200" y="2133600"/>
            <a:ext cx="457200" cy="254000"/>
          </a:xfrm>
          <a:prstGeom prst="rightArrow">
            <a:avLst/>
          </a:prstGeom>
          <a:solidFill>
            <a:srgbClr val="1A2533"/>
          </a:solidFill>
          <a:ln>
            <a:noFill/>
          </a:ln>
        </p:spPr>
        <p:txBody>
          <a:bodyPr/>
          <a:lstStyle/>
          <a:p>
            <a:endParaRPr/>
          </a:p>
        </p:txBody>
      </p:sp>
      <p:sp>
        <p:nvSpPr>
          <p:cNvPr id="537" name="st1"/>
          <p:cNvSpPr/>
          <p:nvPr/>
        </p:nvSpPr>
        <p:spPr>
          <a:xfrm>
            <a:off x="7670800" y="1828800"/>
            <a:ext cx="736600" cy="736600"/>
          </a:xfrm>
          <a:prstGeom prst="rect">
            <a:avLst/>
          </a:prstGeom>
          <a:solidFill>
            <a:srgbClr val="D6E5EC"/>
          </a:solidFill>
          <a:ln w="12700">
            <a:solidFill>
              <a:srgbClr val="156082"/>
            </a:solidFill>
          </a:ln>
        </p:spPr>
        <p:txBody>
          <a:bodyPr/>
          <a:lstStyle/>
          <a:p>
            <a:endParaRPr/>
          </a:p>
        </p:txBody>
      </p:sp>
      <p:sp>
        <p:nvSpPr>
          <p:cNvPr id="538" name="st2"/>
          <p:cNvSpPr/>
          <p:nvPr/>
        </p:nvSpPr>
        <p:spPr>
          <a:xfrm>
            <a:off x="7772400" y="1930400"/>
            <a:ext cx="736600" cy="736600"/>
          </a:xfrm>
          <a:prstGeom prst="rect">
            <a:avLst/>
          </a:prstGeom>
          <a:solidFill>
            <a:srgbClr val="A8CBD9"/>
          </a:solidFill>
          <a:ln w="12700">
            <a:solidFill>
              <a:srgbClr val="156082"/>
            </a:solidFill>
          </a:ln>
        </p:spPr>
        <p:txBody>
          <a:bodyPr/>
          <a:lstStyle/>
          <a:p>
            <a:endParaRPr/>
          </a:p>
        </p:txBody>
      </p:sp>
      <p:sp>
        <p:nvSpPr>
          <p:cNvPr id="539" name="st3"/>
          <p:cNvSpPr/>
          <p:nvPr/>
        </p:nvSpPr>
        <p:spPr>
          <a:xfrm>
            <a:off x="7874000" y="2032000"/>
            <a:ext cx="736600" cy="736600"/>
          </a:xfrm>
          <a:prstGeom prst="rect">
            <a:avLst/>
          </a:prstGeom>
          <a:solidFill>
            <a:srgbClr val="156082"/>
          </a:solidFill>
          <a:ln w="12700">
            <a:solidFill>
              <a:srgbClr val="FFFFFF"/>
            </a:solidFill>
          </a:ln>
        </p:spPr>
        <p:txBody>
          <a:bodyPr/>
          <a:lstStyle/>
          <a:p>
            <a:endParaRPr/>
          </a:p>
        </p:txBody>
      </p:sp>
      <p:sp>
        <p:nvSpPr>
          <p:cNvPr id="540" name="stlbl"/>
          <p:cNvSpPr txBox="1"/>
          <p:nvPr/>
        </p:nvSpPr>
        <p:spPr>
          <a:xfrm>
            <a:off x="7302499" y="2819400"/>
            <a:ext cx="1939471" cy="330200"/>
          </a:xfrm>
          <a:prstGeom prst="rect">
            <a:avLst/>
          </a:prstGeom>
          <a:noFill/>
        </p:spPr>
        <p:txBody>
          <a:bodyPr wrap="square" lIns="0" tIns="0" rIns="0" bIns="0" anchor="ctr"/>
          <a:lstStyle/>
          <a:p>
            <a:pPr algn="ctr">
              <a:lnSpc>
                <a:spcPct val="95000"/>
              </a:lnSpc>
            </a:pPr>
            <a:r>
              <a:rPr lang="it-IT" b="1" dirty="0">
                <a:solidFill>
                  <a:srgbClr val="1A2533"/>
                </a:solidFill>
              </a:rPr>
              <a:t>461 → 412 matrici</a:t>
            </a:r>
          </a:p>
        </p:txBody>
      </p:sp>
      <p:sp>
        <p:nvSpPr>
          <p:cNvPr id="541" name="arr3"/>
          <p:cNvSpPr/>
          <p:nvPr/>
        </p:nvSpPr>
        <p:spPr>
          <a:xfrm>
            <a:off x="8763000" y="2133600"/>
            <a:ext cx="381000" cy="254000"/>
          </a:xfrm>
          <a:prstGeom prst="rightArrow">
            <a:avLst/>
          </a:prstGeom>
          <a:solidFill>
            <a:srgbClr val="1A2533"/>
          </a:solidFill>
          <a:ln>
            <a:noFill/>
          </a:ln>
        </p:spPr>
        <p:txBody>
          <a:bodyPr/>
          <a:lstStyle/>
          <a:p>
            <a:endParaRPr/>
          </a:p>
        </p:txBody>
      </p:sp>
      <p:sp>
        <p:nvSpPr>
          <p:cNvPr id="542" name="ch1"/>
          <p:cNvSpPr/>
          <p:nvPr/>
        </p:nvSpPr>
        <p:spPr>
          <a:xfrm>
            <a:off x="9220200" y="1854200"/>
            <a:ext cx="203200" cy="203200"/>
          </a:xfrm>
          <a:prstGeom prst="rect">
            <a:avLst/>
          </a:prstGeom>
          <a:solidFill>
            <a:srgbClr val="196B24"/>
          </a:solidFill>
          <a:ln>
            <a:noFill/>
          </a:ln>
        </p:spPr>
        <p:txBody>
          <a:bodyPr/>
          <a:lstStyle/>
          <a:p>
            <a:endParaRPr/>
          </a:p>
        </p:txBody>
      </p:sp>
      <p:sp>
        <p:nvSpPr>
          <p:cNvPr id="543" name="cl1"/>
          <p:cNvSpPr txBox="1"/>
          <p:nvPr/>
        </p:nvSpPr>
        <p:spPr>
          <a:xfrm>
            <a:off x="9499600" y="1803400"/>
            <a:ext cx="1778000" cy="304800"/>
          </a:xfrm>
          <a:prstGeom prst="rect">
            <a:avLst/>
          </a:prstGeom>
          <a:noFill/>
        </p:spPr>
        <p:txBody>
          <a:bodyPr wrap="square" lIns="0" tIns="0" rIns="0" bIns="0" anchor="ctr"/>
          <a:lstStyle/>
          <a:p>
            <a:pPr algn="l">
              <a:lnSpc>
                <a:spcPct val="95000"/>
              </a:lnSpc>
            </a:pPr>
            <a:r>
              <a:rPr lang="it-IT" b="1" dirty="0">
                <a:solidFill>
                  <a:srgbClr val="1A2533"/>
                </a:solidFill>
              </a:rPr>
              <a:t>training 288</a:t>
            </a:r>
          </a:p>
        </p:txBody>
      </p:sp>
      <p:sp>
        <p:nvSpPr>
          <p:cNvPr id="544" name="ch2"/>
          <p:cNvSpPr/>
          <p:nvPr/>
        </p:nvSpPr>
        <p:spPr>
          <a:xfrm>
            <a:off x="9220200" y="2209800"/>
            <a:ext cx="203200" cy="203200"/>
          </a:xfrm>
          <a:prstGeom prst="rect">
            <a:avLst/>
          </a:prstGeom>
          <a:solidFill>
            <a:srgbClr val="A02B93"/>
          </a:solidFill>
          <a:ln>
            <a:noFill/>
          </a:ln>
        </p:spPr>
        <p:txBody>
          <a:bodyPr/>
          <a:lstStyle/>
          <a:p>
            <a:endParaRPr/>
          </a:p>
        </p:txBody>
      </p:sp>
      <p:sp>
        <p:nvSpPr>
          <p:cNvPr id="545" name="cl2"/>
          <p:cNvSpPr txBox="1"/>
          <p:nvPr/>
        </p:nvSpPr>
        <p:spPr>
          <a:xfrm>
            <a:off x="9499600" y="2159000"/>
            <a:ext cx="1778000" cy="304800"/>
          </a:xfrm>
          <a:prstGeom prst="rect">
            <a:avLst/>
          </a:prstGeom>
          <a:noFill/>
        </p:spPr>
        <p:txBody>
          <a:bodyPr wrap="square" lIns="0" tIns="0" rIns="0" bIns="0" anchor="ctr"/>
          <a:lstStyle/>
          <a:p>
            <a:pPr algn="l">
              <a:lnSpc>
                <a:spcPct val="95000"/>
              </a:lnSpc>
            </a:pPr>
            <a:r>
              <a:rPr lang="it-IT" b="1" dirty="0">
                <a:solidFill>
                  <a:srgbClr val="1A2533"/>
                </a:solidFill>
              </a:rPr>
              <a:t>validation 82</a:t>
            </a:r>
          </a:p>
        </p:txBody>
      </p:sp>
      <p:sp>
        <p:nvSpPr>
          <p:cNvPr id="546" name="ch3"/>
          <p:cNvSpPr/>
          <p:nvPr/>
        </p:nvSpPr>
        <p:spPr>
          <a:xfrm>
            <a:off x="9220200" y="2565400"/>
            <a:ext cx="203200" cy="203200"/>
          </a:xfrm>
          <a:prstGeom prst="rect">
            <a:avLst/>
          </a:prstGeom>
          <a:solidFill>
            <a:srgbClr val="C00000"/>
          </a:solidFill>
          <a:ln>
            <a:noFill/>
          </a:ln>
        </p:spPr>
        <p:txBody>
          <a:bodyPr/>
          <a:lstStyle/>
          <a:p>
            <a:endParaRPr/>
          </a:p>
        </p:txBody>
      </p:sp>
      <p:sp>
        <p:nvSpPr>
          <p:cNvPr id="547" name="cl3"/>
          <p:cNvSpPr txBox="1"/>
          <p:nvPr/>
        </p:nvSpPr>
        <p:spPr>
          <a:xfrm>
            <a:off x="9499600" y="2514600"/>
            <a:ext cx="1778000" cy="304800"/>
          </a:xfrm>
          <a:prstGeom prst="rect">
            <a:avLst/>
          </a:prstGeom>
          <a:noFill/>
        </p:spPr>
        <p:txBody>
          <a:bodyPr wrap="square" lIns="0" tIns="0" rIns="0" bIns="0" anchor="ctr"/>
          <a:lstStyle/>
          <a:p>
            <a:pPr algn="l">
              <a:lnSpc>
                <a:spcPct val="95000"/>
              </a:lnSpc>
            </a:pPr>
            <a:r>
              <a:rPr lang="it-IT" b="1" dirty="0">
                <a:solidFill>
                  <a:srgbClr val="1A2533"/>
                </a:solidFill>
              </a:rPr>
              <a:t>test 42</a:t>
            </a:r>
          </a:p>
        </p:txBody>
      </p:sp>
      <p:sp>
        <p:nvSpPr>
          <p:cNvPr id="3" name="PageNumber">
            <a:extLst>
              <a:ext uri="{FF2B5EF4-FFF2-40B4-BE49-F238E27FC236}">
                <a16:creationId xmlns:a16="http://schemas.microsoft.com/office/drawing/2014/main" id="{7404340F-6A2C-4385-A00D-09C2DFA9028C}"/>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8</a:t>
            </a:r>
          </a:p>
        </p:txBody>
      </p:sp>
    </p:spTree>
    <p:extLst>
      <p:ext uri="{BB962C8B-B14F-4D97-AF65-F5344CB8AC3E}">
        <p14:creationId xmlns:p14="http://schemas.microsoft.com/office/powerpoint/2010/main" val="2807929010"/>
      </p:ext>
    </p:extLst>
  </p:cSld>
  <p:clrMapOvr>
    <a:masterClrMapping/>
  </p:clrMapOvr>
  <mc:AlternateContent xmlns:mc="http://schemas.openxmlformats.org/markup-compatibility/2006" xmlns:p14="http://schemas.microsoft.com/office/powerpoint/2010/main">
    <mc:Choice Requires="p14">
      <p:transition spd="slow" p14:dur="2000" advTm="140"/>
    </mc:Choice>
    <mc:Fallback xmlns="">
      <p:transition spd="slow" advTm="14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0EF0C2-89FE-33E1-CDCC-E2A652109C2A}"/>
              </a:ext>
            </a:extLst>
          </p:cNvPr>
          <p:cNvSpPr>
            <a:spLocks noGrp="1"/>
          </p:cNvSpPr>
          <p:nvPr>
            <p:ph type="title"/>
          </p:nvPr>
        </p:nvSpPr>
        <p:spPr>
          <a:xfrm>
            <a:off x="584200" y="279400"/>
            <a:ext cx="11023600" cy="889000"/>
          </a:xfrm>
        </p:spPr>
        <p:txBody>
          <a:bodyPr/>
          <a:lstStyle/>
          <a:p>
            <a:pPr algn="l"/>
            <a:r>
              <a:rPr lang="it-IT" sz="3200" b="1" dirty="0"/>
              <a:t>Analisi dei modelli ricostruttivi</a:t>
            </a:r>
          </a:p>
        </p:txBody>
      </p:sp>
      <p:sp>
        <p:nvSpPr>
          <p:cNvPr id="3" name="CasellaDiTesto 2">
            <a:extLst>
              <a:ext uri="{FF2B5EF4-FFF2-40B4-BE49-F238E27FC236}">
                <a16:creationId xmlns:a16="http://schemas.microsoft.com/office/drawing/2014/main" id="{59F7CECA-A4BD-4A47-B91C-9411CFF4DC1B}"/>
              </a:ext>
            </a:extLst>
          </p:cNvPr>
          <p:cNvSpPr txBox="1"/>
          <p:nvPr/>
        </p:nvSpPr>
        <p:spPr>
          <a:xfrm>
            <a:off x="1328353" y="6149945"/>
            <a:ext cx="3639820" cy="400110"/>
          </a:xfrm>
          <a:prstGeom prst="rect">
            <a:avLst/>
          </a:prstGeom>
          <a:noFill/>
        </p:spPr>
        <p:txBody>
          <a:bodyPr vertOverflow="overflow" vert="horz" wrap="square" rtlCol="0" anchor="t">
            <a:spAutoFit/>
          </a:bodyPr>
          <a:lstStyle/>
          <a:p>
            <a:pPr algn="l">
              <a:buNone/>
            </a:pPr>
            <a:r>
              <a:rPr lang="it-IT" sz="2000" b="1" dirty="0"/>
              <a:t>errore di ricostruzione (MSE)</a:t>
            </a:r>
          </a:p>
        </p:txBody>
      </p:sp>
      <p:sp>
        <p:nvSpPr>
          <p:cNvPr id="4" name="CasellaDiTesto 3">
            <a:extLst>
              <a:ext uri="{FF2B5EF4-FFF2-40B4-BE49-F238E27FC236}">
                <a16:creationId xmlns:a16="http://schemas.microsoft.com/office/drawing/2014/main" id="{08BA234D-DFF2-47C9-AE2F-BE979BC92E6B}"/>
              </a:ext>
            </a:extLst>
          </p:cNvPr>
          <p:cNvSpPr txBox="1"/>
          <p:nvPr/>
        </p:nvSpPr>
        <p:spPr>
          <a:xfrm>
            <a:off x="7237999" y="6149945"/>
            <a:ext cx="3639820" cy="400110"/>
          </a:xfrm>
          <a:prstGeom prst="rect">
            <a:avLst/>
          </a:prstGeom>
          <a:noFill/>
        </p:spPr>
        <p:txBody>
          <a:bodyPr vertOverflow="overflow" vert="horz" wrap="square" rtlCol="0" anchor="t">
            <a:spAutoFit/>
          </a:bodyPr>
          <a:lstStyle/>
          <a:p>
            <a:pPr algn="l">
              <a:buNone/>
            </a:pPr>
            <a:r>
              <a:rPr lang="it-IT" sz="2000" b="1" dirty="0"/>
              <a:t>archi del MST conservati (%)</a:t>
            </a:r>
          </a:p>
        </p:txBody>
      </p:sp>
      <p:pic>
        <p:nvPicPr>
          <p:cNvPr id="5" name="Immagine 4">
            <a:extLst>
              <a:ext uri="{FF2B5EF4-FFF2-40B4-BE49-F238E27FC236}">
                <a16:creationId xmlns:a16="http://schemas.microsoft.com/office/drawing/2014/main" id="{583A25EC-8777-6C56-0868-AFAD62563938}"/>
              </a:ext>
            </a:extLst>
          </p:cNvPr>
          <p:cNvPicPr>
            <a:picLocks noChangeAspect="1"/>
          </p:cNvPicPr>
          <p:nvPr/>
        </p:nvPicPr>
        <p:blipFill>
          <a:blip r:embed="rId3"/>
          <a:srcRect l="1527" t="3356"/>
          <a:stretch>
            <a:fillRect/>
          </a:stretch>
        </p:blipFill>
        <p:spPr>
          <a:xfrm>
            <a:off x="290556" y="3314699"/>
            <a:ext cx="5805443" cy="2835245"/>
          </a:xfrm>
          <a:prstGeom prst="rect">
            <a:avLst/>
          </a:prstGeom>
        </p:spPr>
      </p:pic>
      <p:pic>
        <p:nvPicPr>
          <p:cNvPr id="6" name="Immagine 5">
            <a:extLst>
              <a:ext uri="{FF2B5EF4-FFF2-40B4-BE49-F238E27FC236}">
                <a16:creationId xmlns:a16="http://schemas.microsoft.com/office/drawing/2014/main" id="{4E42B855-5B40-690E-6599-7EA6675CE772}"/>
              </a:ext>
            </a:extLst>
          </p:cNvPr>
          <p:cNvPicPr>
            <a:picLocks noChangeAspect="1"/>
          </p:cNvPicPr>
          <p:nvPr/>
        </p:nvPicPr>
        <p:blipFill>
          <a:blip r:embed="rId4"/>
          <a:srcRect l="1999" t="3356"/>
          <a:stretch>
            <a:fillRect/>
          </a:stretch>
        </p:blipFill>
        <p:spPr>
          <a:xfrm>
            <a:off x="6214374" y="3314699"/>
            <a:ext cx="5805443" cy="2835246"/>
          </a:xfrm>
          <a:prstGeom prst="rect">
            <a:avLst/>
          </a:prstGeom>
        </p:spPr>
      </p:pic>
      <p:sp>
        <p:nvSpPr>
          <p:cNvPr id="700" name="tag"/>
          <p:cNvSpPr/>
          <p:nvPr/>
        </p:nvSpPr>
        <p:spPr>
          <a:xfrm>
            <a:off x="584200" y="1270000"/>
            <a:ext cx="3619500" cy="431800"/>
          </a:xfrm>
          <a:prstGeom prst="roundRect">
            <a:avLst>
              <a:gd name="adj" fmla="val 25000"/>
            </a:avLst>
          </a:prstGeom>
          <a:solidFill>
            <a:srgbClr val="156082"/>
          </a:solidFill>
          <a:ln>
            <a:noFill/>
          </a:ln>
        </p:spPr>
        <p:txBody>
          <a:bodyPr wrap="none" lIns="0" tIns="0" rIns="0" bIns="0" anchor="ctr" anchorCtr="1">
            <a:noAutofit/>
          </a:bodyPr>
          <a:lstStyle/>
          <a:p>
            <a:pPr algn="ctr"/>
            <a:r>
              <a:rPr lang="it-IT" sz="2400" b="1" dirty="0">
                <a:solidFill>
                  <a:srgbClr val="FFFFFF"/>
                </a:solidFill>
              </a:rPr>
              <a:t>PCA</a:t>
            </a:r>
          </a:p>
        </p:txBody>
      </p:sp>
      <p:sp>
        <p:nvSpPr>
          <p:cNvPr id="701" name="desc"/>
          <p:cNvSpPr txBox="1"/>
          <p:nvPr/>
        </p:nvSpPr>
        <p:spPr>
          <a:xfrm>
            <a:off x="4432300" y="1270000"/>
            <a:ext cx="7124700" cy="431800"/>
          </a:xfrm>
          <a:prstGeom prst="rect">
            <a:avLst/>
          </a:prstGeom>
          <a:noFill/>
        </p:spPr>
        <p:txBody>
          <a:bodyPr wrap="square" lIns="0" tIns="0" rIns="0" bIns="0" anchor="ctr">
            <a:noAutofit/>
          </a:bodyPr>
          <a:lstStyle/>
          <a:p>
            <a:pPr algn="l"/>
            <a:r>
              <a:rPr lang="it-IT" sz="2400" dirty="0">
                <a:solidFill>
                  <a:srgbClr val="1A2533"/>
                </a:solidFill>
              </a:rPr>
              <a:t>benchmark lineare</a:t>
            </a:r>
          </a:p>
        </p:txBody>
      </p:sp>
      <p:sp>
        <p:nvSpPr>
          <p:cNvPr id="702" name="tag"/>
          <p:cNvSpPr/>
          <p:nvPr/>
        </p:nvSpPr>
        <p:spPr>
          <a:xfrm>
            <a:off x="584200" y="1778000"/>
            <a:ext cx="3619500" cy="431800"/>
          </a:xfrm>
          <a:prstGeom prst="roundRect">
            <a:avLst>
              <a:gd name="adj" fmla="val 25000"/>
            </a:avLst>
          </a:prstGeom>
          <a:solidFill>
            <a:srgbClr val="196B24"/>
          </a:solidFill>
          <a:ln>
            <a:noFill/>
          </a:ln>
        </p:spPr>
        <p:txBody>
          <a:bodyPr wrap="none" lIns="0" tIns="0" rIns="0" bIns="0" anchor="ctr" anchorCtr="1">
            <a:noAutofit/>
          </a:bodyPr>
          <a:lstStyle/>
          <a:p>
            <a:pPr algn="ctr"/>
            <a:r>
              <a:rPr lang="it-IT" sz="2400" b="1" dirty="0">
                <a:solidFill>
                  <a:srgbClr val="FFFFFF"/>
                </a:solidFill>
              </a:rPr>
              <a:t>autoencoder lineare</a:t>
            </a:r>
          </a:p>
        </p:txBody>
      </p:sp>
      <p:sp>
        <p:nvSpPr>
          <p:cNvPr id="703" name="desc"/>
          <p:cNvSpPr txBox="1"/>
          <p:nvPr/>
        </p:nvSpPr>
        <p:spPr>
          <a:xfrm>
            <a:off x="4432300" y="1778000"/>
            <a:ext cx="7124700" cy="431800"/>
          </a:xfrm>
          <a:prstGeom prst="rect">
            <a:avLst/>
          </a:prstGeom>
          <a:noFill/>
        </p:spPr>
        <p:txBody>
          <a:bodyPr wrap="square" lIns="0" tIns="0" rIns="0" bIns="0" anchor="ctr">
            <a:noAutofit/>
          </a:bodyPr>
          <a:lstStyle/>
          <a:p>
            <a:pPr algn="l"/>
            <a:r>
              <a:rPr lang="it-IT" sz="2400" dirty="0">
                <a:solidFill>
                  <a:srgbClr val="1A2533"/>
                </a:solidFill>
              </a:rPr>
              <a:t>verifica di equivalenza alla PCA</a:t>
            </a:r>
          </a:p>
        </p:txBody>
      </p:sp>
      <p:sp>
        <p:nvSpPr>
          <p:cNvPr id="704" name="tag"/>
          <p:cNvSpPr/>
          <p:nvPr/>
        </p:nvSpPr>
        <p:spPr>
          <a:xfrm>
            <a:off x="584200" y="2286000"/>
            <a:ext cx="3619500" cy="431800"/>
          </a:xfrm>
          <a:prstGeom prst="roundRect">
            <a:avLst>
              <a:gd name="adj" fmla="val 25000"/>
            </a:avLst>
          </a:prstGeom>
          <a:solidFill>
            <a:srgbClr val="C00000"/>
          </a:solidFill>
          <a:ln>
            <a:noFill/>
          </a:ln>
        </p:spPr>
        <p:txBody>
          <a:bodyPr wrap="none" lIns="0" tIns="0" rIns="0" bIns="0" anchor="ctr" anchorCtr="1">
            <a:noAutofit/>
          </a:bodyPr>
          <a:lstStyle/>
          <a:p>
            <a:pPr algn="ctr"/>
            <a:r>
              <a:rPr lang="it-IT" sz="2400" b="1" dirty="0">
                <a:solidFill>
                  <a:srgbClr val="FFFFFF"/>
                </a:solidFill>
              </a:rPr>
              <a:t>autoencoder profondo</a:t>
            </a:r>
          </a:p>
        </p:txBody>
      </p:sp>
      <p:sp>
        <p:nvSpPr>
          <p:cNvPr id="705" name="desc"/>
          <p:cNvSpPr txBox="1"/>
          <p:nvPr/>
        </p:nvSpPr>
        <p:spPr>
          <a:xfrm>
            <a:off x="4432300" y="2286000"/>
            <a:ext cx="7124700" cy="431800"/>
          </a:xfrm>
          <a:prstGeom prst="rect">
            <a:avLst/>
          </a:prstGeom>
          <a:noFill/>
        </p:spPr>
        <p:txBody>
          <a:bodyPr wrap="square" lIns="0" tIns="0" rIns="0" bIns="0" anchor="ctr">
            <a:noAutofit/>
          </a:bodyPr>
          <a:lstStyle/>
          <a:p>
            <a:pPr algn="l"/>
            <a:r>
              <a:rPr lang="it-IT" sz="2400" dirty="0">
                <a:solidFill>
                  <a:srgbClr val="1A2533"/>
                </a:solidFill>
              </a:rPr>
              <a:t>aggiunta di non linearità (</a:t>
            </a:r>
            <a:r>
              <a:rPr lang="it-IT" sz="2400" dirty="0" err="1">
                <a:solidFill>
                  <a:srgbClr val="1A2533"/>
                </a:solidFill>
              </a:rPr>
              <a:t>Leaky</a:t>
            </a:r>
            <a:r>
              <a:rPr lang="it-IT" sz="2400" dirty="0">
                <a:solidFill>
                  <a:srgbClr val="1A2533"/>
                </a:solidFill>
              </a:rPr>
              <a:t> </a:t>
            </a:r>
            <a:r>
              <a:rPr lang="it-IT" sz="2400" dirty="0" err="1">
                <a:solidFill>
                  <a:srgbClr val="1A2533"/>
                </a:solidFill>
              </a:rPr>
              <a:t>ReLU</a:t>
            </a:r>
            <a:r>
              <a:rPr lang="it-IT" sz="2400" dirty="0">
                <a:solidFill>
                  <a:srgbClr val="1A2533"/>
                </a:solidFill>
              </a:rPr>
              <a:t>)</a:t>
            </a:r>
          </a:p>
        </p:txBody>
      </p:sp>
      <p:sp>
        <p:nvSpPr>
          <p:cNvPr id="706" name="tag"/>
          <p:cNvSpPr/>
          <p:nvPr/>
        </p:nvSpPr>
        <p:spPr>
          <a:xfrm>
            <a:off x="584200" y="2794000"/>
            <a:ext cx="3619500" cy="431800"/>
          </a:xfrm>
          <a:prstGeom prst="roundRect">
            <a:avLst>
              <a:gd name="adj" fmla="val 25000"/>
            </a:avLst>
          </a:prstGeom>
          <a:solidFill>
            <a:srgbClr val="E97132"/>
          </a:solidFill>
          <a:ln>
            <a:noFill/>
          </a:ln>
        </p:spPr>
        <p:txBody>
          <a:bodyPr wrap="none" lIns="0" tIns="0" rIns="0" bIns="0" anchor="ctr" anchorCtr="1">
            <a:noAutofit/>
          </a:bodyPr>
          <a:lstStyle/>
          <a:p>
            <a:pPr algn="ctr"/>
            <a:r>
              <a:rPr lang="it-IT" sz="2400" b="1" dirty="0">
                <a:solidFill>
                  <a:srgbClr val="FFFFFF"/>
                </a:solidFill>
              </a:rPr>
              <a:t>VAE</a:t>
            </a:r>
          </a:p>
        </p:txBody>
      </p:sp>
      <p:sp>
        <p:nvSpPr>
          <p:cNvPr id="707" name="desc"/>
          <p:cNvSpPr txBox="1"/>
          <p:nvPr/>
        </p:nvSpPr>
        <p:spPr>
          <a:xfrm>
            <a:off x="4432300" y="2794000"/>
            <a:ext cx="7124700" cy="431800"/>
          </a:xfrm>
          <a:prstGeom prst="rect">
            <a:avLst/>
          </a:prstGeom>
          <a:noFill/>
        </p:spPr>
        <p:txBody>
          <a:bodyPr wrap="square" lIns="0" tIns="0" rIns="0" bIns="0" anchor="ctr">
            <a:noAutofit/>
          </a:bodyPr>
          <a:lstStyle/>
          <a:p>
            <a:pPr algn="l"/>
            <a:r>
              <a:rPr lang="it-IT" sz="2400" dirty="0">
                <a:solidFill>
                  <a:srgbClr val="1A2533"/>
                </a:solidFill>
              </a:rPr>
              <a:t>spazio latente continuo, campionabile</a:t>
            </a:r>
          </a:p>
        </p:txBody>
      </p:sp>
      <p:sp>
        <p:nvSpPr>
          <p:cNvPr id="7" name="PageNumber">
            <a:extLst>
              <a:ext uri="{FF2B5EF4-FFF2-40B4-BE49-F238E27FC236}">
                <a16:creationId xmlns:a16="http://schemas.microsoft.com/office/drawing/2014/main" id="{355405C9-B1D5-4284-BFD2-AC7D32CD74BF}"/>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9</a:t>
            </a:r>
          </a:p>
        </p:txBody>
      </p:sp>
    </p:spTree>
    <p:extLst>
      <p:ext uri="{BB962C8B-B14F-4D97-AF65-F5344CB8AC3E}">
        <p14:creationId xmlns:p14="http://schemas.microsoft.com/office/powerpoint/2010/main" val="2104351315"/>
      </p:ext>
    </p:extLst>
  </p:cSld>
  <p:clrMapOvr>
    <a:masterClrMapping/>
  </p:clrMapOvr>
  <mc:AlternateContent xmlns:mc="http://schemas.openxmlformats.org/markup-compatibility/2006" xmlns:p14="http://schemas.microsoft.com/office/powerpoint/2010/main">
    <mc:Choice Requires="p14">
      <p:transition spd="slow" p14:dur="2000" advTm="43"/>
    </mc:Choice>
    <mc:Fallback xmlns="">
      <p:transition spd="slow" advTm="4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CC4DDB-7418-B020-5E78-C635FB52A670}"/>
              </a:ext>
            </a:extLst>
          </p:cNvPr>
          <p:cNvSpPr>
            <a:spLocks noGrp="1"/>
          </p:cNvSpPr>
          <p:nvPr>
            <p:ph type="title"/>
          </p:nvPr>
        </p:nvSpPr>
        <p:spPr>
          <a:xfrm>
            <a:off x="584200" y="279400"/>
            <a:ext cx="11023600" cy="889000"/>
          </a:xfrm>
        </p:spPr>
        <p:txBody>
          <a:bodyPr/>
          <a:lstStyle/>
          <a:p>
            <a:pPr algn="l"/>
            <a:r>
              <a:rPr lang="it-IT" sz="3200" b="1" dirty="0"/>
              <a:t>Lo spazio latente del VAE</a:t>
            </a:r>
          </a:p>
        </p:txBody>
      </p:sp>
      <p:pic>
        <p:nvPicPr>
          <p:cNvPr id="4" name="Immagine 3">
            <a:extLst>
              <a:ext uri="{FF2B5EF4-FFF2-40B4-BE49-F238E27FC236}">
                <a16:creationId xmlns:a16="http://schemas.microsoft.com/office/drawing/2014/main" id="{6CF9D861-6ECC-3AAB-EF8D-F5C7FE727532}"/>
              </a:ext>
            </a:extLst>
          </p:cNvPr>
          <p:cNvPicPr>
            <a:picLocks noChangeAspect="1"/>
          </p:cNvPicPr>
          <p:nvPr/>
        </p:nvPicPr>
        <p:blipFill>
          <a:blip r:embed="rId3"/>
          <a:srcRect t="6548"/>
          <a:stretch>
            <a:fillRect/>
          </a:stretch>
        </p:blipFill>
        <p:spPr>
          <a:xfrm>
            <a:off x="1714500" y="2286000"/>
            <a:ext cx="8763000" cy="3454400"/>
          </a:xfrm>
          <a:prstGeom prst="rect">
            <a:avLst/>
          </a:prstGeom>
        </p:spPr>
      </p:pic>
      <p:sp>
        <p:nvSpPr>
          <p:cNvPr id="6" name="kcap">
            <a:extLst>
              <a:ext uri="{FF2B5EF4-FFF2-40B4-BE49-F238E27FC236}">
                <a16:creationId xmlns:a16="http://schemas.microsoft.com/office/drawing/2014/main" id="{84120690-3300-438B-9F65-AA50D6015268}"/>
              </a:ext>
            </a:extLst>
          </p:cNvPr>
          <p:cNvSpPr txBox="1"/>
          <p:nvPr/>
        </p:nvSpPr>
        <p:spPr>
          <a:xfrm>
            <a:off x="584200" y="1270000"/>
            <a:ext cx="11023600" cy="914400"/>
          </a:xfrm>
          <a:prstGeom prst="rect">
            <a:avLst/>
          </a:prstGeom>
          <a:noFill/>
        </p:spPr>
        <p:txBody>
          <a:bodyPr vertOverflow="overflow" vert="horz" wrap="square" rtlCol="0" anchor="t">
            <a:noAutofit/>
          </a:bodyPr>
          <a:lstStyle/>
          <a:p>
            <a:pPr marL="342900" indent="-342900">
              <a:lnSpc>
                <a:spcPct val="95000"/>
              </a:lnSpc>
              <a:spcBef>
                <a:spcPts val="600"/>
              </a:spcBef>
              <a:buFont typeface="Arial"/>
              <a:buChar char="•"/>
            </a:pPr>
            <a:r>
              <a:rPr lang="it-IT" sz="2400" b="1" dirty="0">
                <a:solidFill>
                  <a:srgbClr val="1A2533"/>
                </a:solidFill>
              </a:rPr>
              <a:t>costo</a:t>
            </a:r>
            <a:r>
              <a:rPr lang="it-IT" sz="2400" dirty="0">
                <a:solidFill>
                  <a:srgbClr val="1A2533"/>
                </a:solidFill>
              </a:rPr>
              <a:t>: divergenza di Jeffreys sulle matrici + KL con peso unitario</a:t>
            </a:r>
          </a:p>
          <a:p>
            <a:pPr marL="342900" indent="-342900">
              <a:lnSpc>
                <a:spcPct val="95000"/>
              </a:lnSpc>
              <a:spcBef>
                <a:spcPts val="600"/>
              </a:spcBef>
              <a:buFont typeface="Arial"/>
              <a:buChar char="•"/>
            </a:pPr>
            <a:r>
              <a:rPr lang="it-IT" sz="2400" b="1" dirty="0">
                <a:solidFill>
                  <a:srgbClr val="1A2533"/>
                </a:solidFill>
              </a:rPr>
              <a:t>K = 20</a:t>
            </a:r>
            <a:r>
              <a:rPr lang="it-IT" sz="2400" dirty="0">
                <a:solidFill>
                  <a:srgbClr val="1A2533"/>
                </a:solidFill>
              </a:rPr>
              <a:t> dal gomito delle curve d’errore dei modelli deterministici</a:t>
            </a:r>
          </a:p>
        </p:txBody>
      </p:sp>
      <p:sp>
        <p:nvSpPr>
          <p:cNvPr id="3" name="PageNumber">
            <a:extLst>
              <a:ext uri="{FF2B5EF4-FFF2-40B4-BE49-F238E27FC236}">
                <a16:creationId xmlns:a16="http://schemas.microsoft.com/office/drawing/2014/main" id="{AA18D8F4-E3C8-4C6C-B504-84105E8928FD}"/>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10</a:t>
            </a:r>
          </a:p>
        </p:txBody>
      </p:sp>
      <p:sp>
        <p:nvSpPr>
          <p:cNvPr id="5" name="figcap">
            <a:extLst>
              <a:ext uri="{FF2B5EF4-FFF2-40B4-BE49-F238E27FC236}">
                <a16:creationId xmlns:a16="http://schemas.microsoft.com/office/drawing/2014/main" id="{330A240F-B36D-4A8F-9DFB-C5F62E9AF544}"/>
              </a:ext>
            </a:extLst>
          </p:cNvPr>
          <p:cNvSpPr txBox="1"/>
          <p:nvPr/>
        </p:nvSpPr>
        <p:spPr>
          <a:xfrm>
            <a:off x="584200" y="5867400"/>
            <a:ext cx="11023600" cy="431800"/>
          </a:xfrm>
          <a:prstGeom prst="rect">
            <a:avLst/>
          </a:prstGeom>
          <a:noFill/>
        </p:spPr>
        <p:txBody>
          <a:bodyPr vertOverflow="overflow" vert="horz" wrap="square" rtlCol="0" anchor="ctr" anchorCtr="0">
            <a:noAutofit/>
          </a:bodyPr>
          <a:lstStyle/>
          <a:p>
            <a:pPr algn="ctr">
              <a:buNone/>
            </a:pPr>
            <a:r>
              <a:rPr lang="it-IT" sz="2000" dirty="0">
                <a:solidFill>
                  <a:srgbClr val="1A2533"/>
                </a:solidFill>
              </a:rPr>
              <a:t>varianza empirica dei codici z = μ sulle 288 matrici di training</a:t>
            </a:r>
          </a:p>
        </p:txBody>
      </p:sp>
    </p:spTree>
    <p:extLst>
      <p:ext uri="{BB962C8B-B14F-4D97-AF65-F5344CB8AC3E}">
        <p14:creationId xmlns:p14="http://schemas.microsoft.com/office/powerpoint/2010/main" val="1489990161"/>
      </p:ext>
    </p:extLst>
  </p:cSld>
  <p:clrMapOvr>
    <a:masterClrMapping/>
  </p:clrMapOvr>
  <mc:AlternateContent xmlns:mc="http://schemas.openxmlformats.org/markup-compatibility/2006" xmlns:p14="http://schemas.microsoft.com/office/powerpoint/2010/main">
    <mc:Choice Requires="p14">
      <p:transition spd="slow" p14:dur="2000" advTm="18"/>
    </mc:Choice>
    <mc:Fallback xmlns="">
      <p:transition spd="slow" advTm="1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4F3795-0C58-BC93-0964-F309CDFA22D9}"/>
              </a:ext>
            </a:extLst>
          </p:cNvPr>
          <p:cNvSpPr>
            <a:spLocks noGrp="1"/>
          </p:cNvSpPr>
          <p:nvPr>
            <p:ph type="title"/>
          </p:nvPr>
        </p:nvSpPr>
        <p:spPr>
          <a:xfrm>
            <a:off x="584200" y="279400"/>
            <a:ext cx="11023600" cy="889000"/>
          </a:xfrm>
        </p:spPr>
        <p:txBody>
          <a:bodyPr/>
          <a:lstStyle/>
          <a:p>
            <a:pPr algn="l"/>
            <a:r>
              <a:rPr lang="it-IT" sz="3200" b="1" dirty="0"/>
              <a:t>Generazione di matrici sintetiche tramite VAE</a:t>
            </a:r>
          </a:p>
        </p:txBody>
      </p:sp>
      <p:sp>
        <p:nvSpPr>
          <p:cNvPr id="3" name="sub">
            <a:extLst>
              <a:ext uri="{FF2B5EF4-FFF2-40B4-BE49-F238E27FC236}">
                <a16:creationId xmlns:a16="http://schemas.microsoft.com/office/drawing/2014/main" id="{1B396E92-193D-447E-B896-595E7C3CAF88}"/>
              </a:ext>
            </a:extLst>
          </p:cNvPr>
          <p:cNvSpPr txBox="1"/>
          <p:nvPr/>
        </p:nvSpPr>
        <p:spPr>
          <a:xfrm>
            <a:off x="584200" y="1219200"/>
            <a:ext cx="11023600" cy="381000"/>
          </a:xfrm>
          <a:prstGeom prst="rect">
            <a:avLst/>
          </a:prstGeom>
          <a:noFill/>
        </p:spPr>
        <p:txBody>
          <a:bodyPr vertOverflow="overflow" vert="horz" wrap="square" rtlCol="0" anchor="t">
            <a:noAutofit/>
          </a:bodyPr>
          <a:lstStyle/>
          <a:p>
            <a:pPr algn="l">
              <a:buNone/>
            </a:pPr>
            <a:r>
              <a:rPr lang="it-IT" sz="2400" dirty="0">
                <a:solidFill>
                  <a:srgbClr val="156082"/>
                </a:solidFill>
              </a:rPr>
              <a:t>block-bootstrap storico nello spazio latente</a:t>
            </a:r>
          </a:p>
        </p:txBody>
      </p:sp>
      <p:sp>
        <p:nvSpPr>
          <p:cNvPr id="4" name="step1">
            <a:extLst>
              <a:ext uri="{FF2B5EF4-FFF2-40B4-BE49-F238E27FC236}">
                <a16:creationId xmlns:a16="http://schemas.microsoft.com/office/drawing/2014/main" id="{918F8947-CA77-4B9B-A167-F2AEEA83C092}"/>
              </a:ext>
            </a:extLst>
          </p:cNvPr>
          <p:cNvSpPr/>
          <p:nvPr/>
        </p:nvSpPr>
        <p:spPr>
          <a:xfrm>
            <a:off x="584200" y="1905000"/>
            <a:ext cx="3606800" cy="1041400"/>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marL="285750" indent="-285750" algn="l">
              <a:lnSpc>
                <a:spcPts val="2100"/>
              </a:lnSpc>
              <a:tabLst>
                <a:tab pos="285750" algn="l"/>
              </a:tabLst>
            </a:pPr>
            <a:r>
              <a:rPr lang="it-IT" sz="2000" b="1" dirty="0">
                <a:solidFill>
                  <a:srgbClr val="E97132"/>
                </a:solidFill>
              </a:rPr>
              <a:t>1	</a:t>
            </a:r>
            <a:r>
              <a:rPr lang="it-IT" sz="1800" dirty="0">
                <a:solidFill>
                  <a:srgbClr val="1A2533"/>
                </a:solidFill>
              </a:rPr>
              <a:t>codifica delle matrici storiche a passo giornaliero</a:t>
            </a:r>
          </a:p>
        </p:txBody>
      </p:sp>
      <p:sp>
        <p:nvSpPr>
          <p:cNvPr id="5" name="step2">
            <a:extLst>
              <a:ext uri="{FF2B5EF4-FFF2-40B4-BE49-F238E27FC236}">
                <a16:creationId xmlns:a16="http://schemas.microsoft.com/office/drawing/2014/main" id="{48C8306F-3BCF-4F57-AD6C-552578064688}"/>
              </a:ext>
            </a:extLst>
          </p:cNvPr>
          <p:cNvSpPr/>
          <p:nvPr/>
        </p:nvSpPr>
        <p:spPr>
          <a:xfrm>
            <a:off x="584200" y="3365500"/>
            <a:ext cx="3606800" cy="1041400"/>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marL="285750" indent="-285750" algn="l">
              <a:lnSpc>
                <a:spcPts val="2100"/>
              </a:lnSpc>
              <a:tabLst>
                <a:tab pos="285750" algn="l"/>
              </a:tabLst>
            </a:pPr>
            <a:r>
              <a:rPr lang="it-IT" sz="2000" b="1" dirty="0">
                <a:solidFill>
                  <a:srgbClr val="E97132"/>
                </a:solidFill>
              </a:rPr>
              <a:t>2	</a:t>
            </a:r>
            <a:r>
              <a:rPr lang="it-IT" sz="1800" dirty="0">
                <a:solidFill>
                  <a:srgbClr val="1A2533"/>
                </a:solidFill>
              </a:rPr>
              <a:t>incrementi latenti Δz e blocchi di 21 giorni consecutivi</a:t>
            </a:r>
          </a:p>
        </p:txBody>
      </p:sp>
      <p:sp>
        <p:nvSpPr>
          <p:cNvPr id="6" name="step3">
            <a:extLst>
              <a:ext uri="{FF2B5EF4-FFF2-40B4-BE49-F238E27FC236}">
                <a16:creationId xmlns:a16="http://schemas.microsoft.com/office/drawing/2014/main" id="{8DCB056F-E742-41BD-AD27-2EEEDBBC22C7}"/>
              </a:ext>
            </a:extLst>
          </p:cNvPr>
          <p:cNvSpPr/>
          <p:nvPr/>
        </p:nvSpPr>
        <p:spPr>
          <a:xfrm>
            <a:off x="584200" y="4826000"/>
            <a:ext cx="3606800" cy="1041400"/>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marL="285750" indent="-285750" algn="l">
              <a:lnSpc>
                <a:spcPts val="2100"/>
              </a:lnSpc>
              <a:tabLst>
                <a:tab pos="285750" algn="l"/>
              </a:tabLst>
            </a:pPr>
            <a:r>
              <a:rPr lang="it-IT" sz="2000" b="1" dirty="0">
                <a:solidFill>
                  <a:srgbClr val="E97132"/>
                </a:solidFill>
              </a:rPr>
              <a:t>3	</a:t>
            </a:r>
            <a:r>
              <a:rPr lang="it-IT" sz="1800" dirty="0">
                <a:solidFill>
                  <a:srgbClr val="1A2533"/>
                </a:solidFill>
              </a:rPr>
              <a:t>somma sullo stato latente di oggi e decodifica, ripetuta 1.000 volte</a:t>
            </a:r>
          </a:p>
        </p:txBody>
      </p:sp>
      <p:pic>
        <p:nvPicPr>
          <p:cNvPr id="14" name="Copied Picture 14">
            <a:extLst>
              <a:ext uri="{FF2B5EF4-FFF2-40B4-BE49-F238E27FC236}">
                <a16:creationId xmlns:a16="http://schemas.microsoft.com/office/drawing/2014/main" id="{E68781D4-7BC4-3F69-0FAE-3607D2DC24DC}"/>
              </a:ext>
            </a:extLst>
          </p:cNvPr>
          <p:cNvPicPr>
            <a:picLocks noChangeAspect="1"/>
          </p:cNvPicPr>
          <p:nvPr/>
        </p:nvPicPr>
        <p:blipFill>
          <a:blip r:embed="rId3"/>
          <a:srcRect t="3305"/>
          <a:stretch>
            <a:fillRect/>
          </a:stretch>
        </p:blipFill>
        <p:spPr>
          <a:xfrm>
            <a:off x="4227830" y="1775459"/>
            <a:ext cx="7597140" cy="4555599"/>
          </a:xfrm>
          <a:prstGeom prst="rect">
            <a:avLst/>
          </a:prstGeom>
        </p:spPr>
      </p:pic>
      <p:sp>
        <p:nvSpPr>
          <p:cNvPr id="7" name="PageNumber">
            <a:extLst>
              <a:ext uri="{FF2B5EF4-FFF2-40B4-BE49-F238E27FC236}">
                <a16:creationId xmlns:a16="http://schemas.microsoft.com/office/drawing/2014/main" id="{AE7FF4F8-3C72-48AA-ADB0-D5930C5513A1}"/>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11</a:t>
            </a:r>
          </a:p>
        </p:txBody>
      </p:sp>
    </p:spTree>
    <p:extLst>
      <p:ext uri="{BB962C8B-B14F-4D97-AF65-F5344CB8AC3E}">
        <p14:creationId xmlns:p14="http://schemas.microsoft.com/office/powerpoint/2010/main" val="541653091"/>
      </p:ext>
    </p:extLst>
  </p:cSld>
  <p:clrMapOvr>
    <a:masterClrMapping/>
  </p:clrMapOvr>
  <mc:AlternateContent xmlns:mc="http://schemas.openxmlformats.org/markup-compatibility/2006" xmlns:p14="http://schemas.microsoft.com/office/powerpoint/2010/main">
    <mc:Choice Requires="p14">
      <p:transition spd="slow" p14:dur="2000" advTm="81"/>
    </mc:Choice>
    <mc:Fallback xmlns="">
      <p:transition spd="slow" advTm="8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5CA1FF-1C7E-0BAA-4659-F5DA43C28A46}"/>
              </a:ext>
            </a:extLst>
          </p:cNvPr>
          <p:cNvSpPr>
            <a:spLocks noGrp="1"/>
          </p:cNvSpPr>
          <p:nvPr>
            <p:ph type="title"/>
          </p:nvPr>
        </p:nvSpPr>
        <p:spPr>
          <a:xfrm>
            <a:off x="584200" y="279400"/>
            <a:ext cx="11023600" cy="889000"/>
          </a:xfrm>
        </p:spPr>
        <p:txBody>
          <a:bodyPr/>
          <a:lstStyle/>
          <a:p>
            <a:pPr algn="l"/>
            <a:r>
              <a:rPr lang="it-IT" sz="3200" b="1" dirty="0"/>
              <a:t>Validazione, limiti e conclusione</a:t>
            </a:r>
          </a:p>
        </p:txBody>
      </p:sp>
      <p:sp>
        <p:nvSpPr>
          <p:cNvPr id="4" name="kpi0">
            <a:extLst>
              <a:ext uri="{FF2B5EF4-FFF2-40B4-BE49-F238E27FC236}">
                <a16:creationId xmlns:a16="http://schemas.microsoft.com/office/drawing/2014/main" id="{1B14B78F-A544-4768-9ABB-32E2D4819322}"/>
              </a:ext>
            </a:extLst>
          </p:cNvPr>
          <p:cNvSpPr/>
          <p:nvPr/>
        </p:nvSpPr>
        <p:spPr>
          <a:xfrm>
            <a:off x="584200" y="1549400"/>
            <a:ext cx="11023600" cy="1422400"/>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marL="0" indent="0">
              <a:spcAft>
                <a:spcPts val="500"/>
              </a:spcAft>
              <a:buNone/>
            </a:pPr>
            <a:r>
              <a:rPr lang="it-IT" sz="2000" b="1" dirty="0">
                <a:solidFill>
                  <a:srgbClr val="156082"/>
                </a:solidFill>
              </a:rPr>
              <a:t>validazione</a:t>
            </a:r>
          </a:p>
          <a:p>
            <a:pPr marL="228600" indent="-228600">
              <a:lnSpc>
                <a:spcPts val="2100"/>
              </a:lnSpc>
              <a:spcBef>
                <a:spcPts val="200"/>
              </a:spcBef>
              <a:buFont typeface="Arial"/>
              <a:buChar char="•"/>
            </a:pPr>
            <a:r>
              <a:rPr lang="it-IT" sz="1800" dirty="0">
                <a:solidFill>
                  <a:srgbClr val="1A2533"/>
                </a:solidFill>
              </a:rPr>
              <a:t>1.000/1.000 scenari conformi ai cinque fatti stilizzati</a:t>
            </a:r>
          </a:p>
          <a:p>
            <a:pPr marL="228600" indent="-228600">
              <a:lnSpc>
                <a:spcPts val="2100"/>
              </a:lnSpc>
              <a:spcBef>
                <a:spcPts val="200"/>
              </a:spcBef>
              <a:buFont typeface="Arial"/>
              <a:buChar char="•"/>
            </a:pPr>
            <a:r>
              <a:rPr lang="it-IT" sz="1800" dirty="0">
                <a:solidFill>
                  <a:srgbClr val="1A2533"/>
                </a:solidFill>
              </a:rPr>
              <a:t>matrici sintetiche </a:t>
            </a:r>
            <a:r>
              <a:rPr lang="it-IT" sz="1800">
                <a:solidFill>
                  <a:srgbClr val="1A2533"/>
                </a:solidFill>
              </a:rPr>
              <a:t>semidefinite</a:t>
            </a:r>
            <a:r>
              <a:rPr lang="it-IT" sz="1800" dirty="0">
                <a:solidFill>
                  <a:srgbClr val="1A2533"/>
                </a:solidFill>
              </a:rPr>
              <a:t> positive per costruzione (Cholesky)</a:t>
            </a:r>
          </a:p>
        </p:txBody>
      </p:sp>
      <p:sp>
        <p:nvSpPr>
          <p:cNvPr id="7" name="detCard">
            <a:extLst>
              <a:ext uri="{FF2B5EF4-FFF2-40B4-BE49-F238E27FC236}">
                <a16:creationId xmlns:a16="http://schemas.microsoft.com/office/drawing/2014/main" id="{FA7BBF4F-5FEC-4E59-86BD-46707F2FE023}"/>
              </a:ext>
            </a:extLst>
          </p:cNvPr>
          <p:cNvSpPr/>
          <p:nvPr/>
        </p:nvSpPr>
        <p:spPr>
          <a:xfrm>
            <a:off x="584200" y="3251200"/>
            <a:ext cx="5384800" cy="2716463"/>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marL="0" indent="0">
              <a:spcAft>
                <a:spcPts val="500"/>
              </a:spcAft>
              <a:buNone/>
            </a:pPr>
            <a:r>
              <a:rPr lang="it-IT" sz="2000" b="1" dirty="0">
                <a:solidFill>
                  <a:srgbClr val="C00000"/>
                </a:solidFill>
              </a:rPr>
              <a:t>limiti</a:t>
            </a:r>
          </a:p>
          <a:p>
            <a:pPr marL="228600" indent="-228600">
              <a:lnSpc>
                <a:spcPts val="2100"/>
              </a:lnSpc>
              <a:spcBef>
                <a:spcPts val="200"/>
              </a:spcBef>
              <a:buFont typeface="Arial"/>
              <a:buChar char="•"/>
            </a:pPr>
            <a:r>
              <a:rPr lang="it-IT" dirty="0" err="1">
                <a:solidFill>
                  <a:srgbClr val="1A2533"/>
                </a:solidFill>
              </a:rPr>
              <a:t>bias</a:t>
            </a:r>
            <a:r>
              <a:rPr lang="it-IT" dirty="0">
                <a:solidFill>
                  <a:srgbClr val="1A2533"/>
                </a:solidFill>
              </a:rPr>
              <a:t> di sopravvivenza</a:t>
            </a:r>
            <a:r>
              <a:rPr lang="it-IT" sz="1800" dirty="0">
                <a:solidFill>
                  <a:srgbClr val="1A2533"/>
                </a:solidFill>
              </a:rPr>
              <a:t> del campione</a:t>
            </a:r>
          </a:p>
          <a:p>
            <a:pPr marL="228600" indent="-228600">
              <a:lnSpc>
                <a:spcPts val="2100"/>
              </a:lnSpc>
              <a:spcBef>
                <a:spcPts val="200"/>
              </a:spcBef>
              <a:buFont typeface="Arial"/>
              <a:buChar char="•"/>
            </a:pPr>
            <a:r>
              <a:rPr lang="it-IT" dirty="0">
                <a:solidFill>
                  <a:srgbClr val="1A2533"/>
                </a:solidFill>
              </a:rPr>
              <a:t>finestre mobili sovrapposte fino al 98,6%</a:t>
            </a:r>
          </a:p>
          <a:p>
            <a:pPr marL="228600" indent="-228600">
              <a:lnSpc>
                <a:spcPts val="2100"/>
              </a:lnSpc>
              <a:spcBef>
                <a:spcPts val="200"/>
              </a:spcBef>
              <a:buFont typeface="Arial"/>
              <a:buChar char="•"/>
            </a:pPr>
            <a:r>
              <a:rPr lang="it-IT" dirty="0">
                <a:solidFill>
                  <a:srgbClr val="1A2533"/>
                </a:solidFill>
              </a:rPr>
              <a:t>a</a:t>
            </a:r>
            <a:r>
              <a:rPr lang="it-IT" sz="1800" dirty="0">
                <a:solidFill>
                  <a:srgbClr val="1A2533"/>
                </a:solidFill>
              </a:rPr>
              <a:t>ssenz</a:t>
            </a:r>
            <a:r>
              <a:rPr lang="it-IT" dirty="0">
                <a:solidFill>
                  <a:srgbClr val="1A2533"/>
                </a:solidFill>
              </a:rPr>
              <a:t>a di separazione temporale tra i set</a:t>
            </a:r>
            <a:endParaRPr lang="it-IT" sz="1800" dirty="0">
              <a:solidFill>
                <a:srgbClr val="1A2533"/>
              </a:solidFill>
            </a:endParaRPr>
          </a:p>
          <a:p>
            <a:pPr marL="228600" indent="-228600">
              <a:lnSpc>
                <a:spcPts val="2100"/>
              </a:lnSpc>
              <a:spcBef>
                <a:spcPts val="200"/>
              </a:spcBef>
              <a:buFont typeface="Arial"/>
              <a:buChar char="•"/>
            </a:pPr>
            <a:r>
              <a:rPr lang="it-IT" sz="1800" dirty="0">
                <a:solidFill>
                  <a:srgbClr val="1A2533"/>
                </a:solidFill>
              </a:rPr>
              <a:t>un solo stato iniziale analizzato</a:t>
            </a:r>
          </a:p>
          <a:p>
            <a:pPr marL="228600" indent="-228600">
              <a:lnSpc>
                <a:spcPts val="2100"/>
              </a:lnSpc>
              <a:spcBef>
                <a:spcPts val="200"/>
              </a:spcBef>
              <a:buFont typeface="Arial"/>
              <a:buChar char="•"/>
            </a:pPr>
            <a:r>
              <a:rPr lang="it-IT" sz="1800" dirty="0">
                <a:solidFill>
                  <a:srgbClr val="1A2533"/>
                </a:solidFill>
              </a:rPr>
              <a:t>validità limitata ai regimi di mercato standard</a:t>
            </a:r>
          </a:p>
        </p:txBody>
      </p:sp>
      <p:sp>
        <p:nvSpPr>
          <p:cNvPr id="8" name="stressCard">
            <a:extLst>
              <a:ext uri="{FF2B5EF4-FFF2-40B4-BE49-F238E27FC236}">
                <a16:creationId xmlns:a16="http://schemas.microsoft.com/office/drawing/2014/main" id="{2B698CFB-A789-4B88-843D-04B4052DAB2A}"/>
              </a:ext>
            </a:extLst>
          </p:cNvPr>
          <p:cNvSpPr/>
          <p:nvPr/>
        </p:nvSpPr>
        <p:spPr>
          <a:xfrm>
            <a:off x="6223000" y="3251200"/>
            <a:ext cx="5384800" cy="2716463"/>
          </a:xfrm>
          <a:prstGeom prst="roundRect">
            <a:avLst/>
          </a:prstGeom>
          <a:solidFill>
            <a:srgbClr val="ED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marL="0" indent="0">
              <a:spcAft>
                <a:spcPts val="400"/>
              </a:spcAft>
              <a:buNone/>
            </a:pPr>
            <a:r>
              <a:rPr lang="it-IT" sz="2000" b="1" dirty="0">
                <a:solidFill>
                  <a:srgbClr val="156082"/>
                </a:solidFill>
              </a:rPr>
              <a:t>sviluppi futuri</a:t>
            </a:r>
          </a:p>
          <a:p>
            <a:pPr marL="228600" indent="-228600">
              <a:lnSpc>
                <a:spcPts val="1900"/>
              </a:lnSpc>
              <a:spcBef>
                <a:spcPts val="100"/>
              </a:spcBef>
              <a:buFont typeface="Arial"/>
              <a:buChar char="•"/>
            </a:pPr>
            <a:r>
              <a:rPr lang="it-IT" dirty="0">
                <a:solidFill>
                  <a:srgbClr val="1A2533"/>
                </a:solidFill>
              </a:rPr>
              <a:t>rimozione del </a:t>
            </a:r>
            <a:r>
              <a:rPr lang="it-IT" dirty="0" err="1">
                <a:solidFill>
                  <a:srgbClr val="1A2533"/>
                </a:solidFill>
              </a:rPr>
              <a:t>bias</a:t>
            </a:r>
            <a:r>
              <a:rPr lang="it-IT" dirty="0">
                <a:solidFill>
                  <a:srgbClr val="1A2533"/>
                </a:solidFill>
              </a:rPr>
              <a:t> di sopravvivenza e della sovrapposizione tra finestre</a:t>
            </a:r>
          </a:p>
          <a:p>
            <a:pPr marL="228600" indent="-228600">
              <a:lnSpc>
                <a:spcPts val="1900"/>
              </a:lnSpc>
              <a:spcBef>
                <a:spcPts val="100"/>
              </a:spcBef>
              <a:buFont typeface="Arial"/>
              <a:buChar char="•"/>
            </a:pPr>
            <a:r>
              <a:rPr lang="it-IT" dirty="0">
                <a:solidFill>
                  <a:srgbClr val="1A2533"/>
                </a:solidFill>
              </a:rPr>
              <a:t>separazione temporale tra i set</a:t>
            </a:r>
          </a:p>
          <a:p>
            <a:pPr marL="228600" indent="-228600">
              <a:lnSpc>
                <a:spcPts val="1900"/>
              </a:lnSpc>
              <a:spcBef>
                <a:spcPts val="100"/>
              </a:spcBef>
              <a:buFont typeface="Arial"/>
              <a:buChar char="•"/>
            </a:pPr>
            <a:r>
              <a:rPr lang="it-IT" sz="1800" dirty="0">
                <a:solidFill>
                  <a:srgbClr val="1A2533"/>
                </a:solidFill>
              </a:rPr>
              <a:t>rischio di portafoglio su portafogli reali</a:t>
            </a:r>
          </a:p>
          <a:p>
            <a:pPr marL="228600" indent="-228600">
              <a:lnSpc>
                <a:spcPts val="1900"/>
              </a:lnSpc>
              <a:spcBef>
                <a:spcPts val="100"/>
              </a:spcBef>
              <a:buFont typeface="Arial"/>
              <a:buChar char="•"/>
            </a:pPr>
            <a:r>
              <a:rPr lang="it-IT" dirty="0">
                <a:solidFill>
                  <a:srgbClr val="1A2533"/>
                </a:solidFill>
              </a:rPr>
              <a:t>a</a:t>
            </a:r>
            <a:r>
              <a:rPr lang="it-IT" sz="1800" dirty="0">
                <a:solidFill>
                  <a:srgbClr val="1A2533"/>
                </a:solidFill>
              </a:rPr>
              <a:t>pplicazione ad altre asset class</a:t>
            </a:r>
          </a:p>
        </p:txBody>
      </p:sp>
      <p:sp>
        <p:nvSpPr>
          <p:cNvPr id="3" name="PageNumber">
            <a:extLst>
              <a:ext uri="{FF2B5EF4-FFF2-40B4-BE49-F238E27FC236}">
                <a16:creationId xmlns:a16="http://schemas.microsoft.com/office/drawing/2014/main" id="{55356FF4-0A56-4703-92C0-C2AA9F8453DE}"/>
              </a:ext>
            </a:extLst>
          </p:cNvPr>
          <p:cNvSpPr txBox="1"/>
          <p:nvPr/>
        </p:nvSpPr>
        <p:spPr>
          <a:xfrm>
            <a:off x="10871200" y="6451600"/>
            <a:ext cx="863600" cy="330200"/>
          </a:xfrm>
          <a:prstGeom prst="rect">
            <a:avLst/>
          </a:prstGeom>
          <a:noFill/>
        </p:spPr>
        <p:txBody>
          <a:bodyPr vertOverflow="overflow" vert="horz" wrap="none" rtlCol="0" anchor="ctr" anchorCtr="0">
            <a:noAutofit/>
          </a:bodyPr>
          <a:lstStyle/>
          <a:p>
            <a:pPr algn="l"/>
            <a:r>
              <a:rPr lang="it-IT">
                <a:solidFill>
                  <a:srgbClr val="1A2533"/>
                </a:solidFill>
              </a:rPr>
              <a:t>12</a:t>
            </a:r>
          </a:p>
        </p:txBody>
      </p:sp>
    </p:spTree>
    <p:extLst>
      <p:ext uri="{BB962C8B-B14F-4D97-AF65-F5344CB8AC3E}">
        <p14:creationId xmlns:p14="http://schemas.microsoft.com/office/powerpoint/2010/main" val="4288747372"/>
      </p:ext>
    </p:extLst>
  </p:cSld>
  <p:clrMapOvr>
    <a:masterClrMapping/>
  </p:clrMapOvr>
  <mc:AlternateContent xmlns:mc="http://schemas.openxmlformats.org/markup-compatibility/2006" xmlns:p14="http://schemas.microsoft.com/office/powerpoint/2010/main">
    <mc:Choice Requires="p14">
      <p:transition spd="slow" p14:dur="2000" advTm="5"/>
    </mc:Choice>
    <mc:Fallback xmlns="">
      <p:transition spd="slow" advTm="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2DFF6C-0EE4-17F9-7C77-F79137930980}"/>
              </a:ext>
            </a:extLst>
          </p:cNvPr>
          <p:cNvSpPr>
            <a:spLocks noGrp="1"/>
          </p:cNvSpPr>
          <p:nvPr>
            <p:ph type="title"/>
          </p:nvPr>
        </p:nvSpPr>
        <p:spPr/>
        <p:txBody>
          <a:bodyPr/>
          <a:lstStyle/>
          <a:p>
            <a:pPr algn="ctr"/>
            <a:r>
              <a:rPr lang="it-IT" sz="4000" b="1" dirty="0"/>
              <a:t>Grazie per l’attenzione</a:t>
            </a:r>
          </a:p>
        </p:txBody>
      </p:sp>
      <p:sp>
        <p:nvSpPr>
          <p:cNvPr id="3" name="thanks">
            <a:extLst>
              <a:ext uri="{FF2B5EF4-FFF2-40B4-BE49-F238E27FC236}">
                <a16:creationId xmlns:a16="http://schemas.microsoft.com/office/drawing/2014/main" id="{B2B1A6EE-80E6-4689-9F37-AA399134B200}"/>
              </a:ext>
            </a:extLst>
          </p:cNvPr>
          <p:cNvSpPr txBox="1"/>
          <p:nvPr/>
        </p:nvSpPr>
        <p:spPr>
          <a:xfrm>
            <a:off x="508000" y="3048000"/>
            <a:ext cx="11176000" cy="1905000"/>
          </a:xfrm>
          <a:prstGeom prst="rect">
            <a:avLst/>
          </a:prstGeom>
          <a:noFill/>
        </p:spPr>
        <p:txBody>
          <a:bodyPr vertOverflow="overflow" vert="horz" wrap="square" rtlCol="0" anchor="t">
            <a:noAutofit/>
          </a:bodyPr>
          <a:lstStyle/>
          <a:p>
            <a:pPr algn="ctr">
              <a:spcBef>
                <a:spcPts val="600"/>
              </a:spcBef>
              <a:buNone/>
            </a:pPr>
            <a:r>
              <a:rPr lang="it-IT" sz="2400" dirty="0">
                <a:solidFill>
                  <a:srgbClr val="1A2533"/>
                </a:solidFill>
              </a:rPr>
              <a:t>un ringraziamento al prof. Flavio Giobergia</a:t>
            </a:r>
          </a:p>
          <a:p>
            <a:pPr algn="ctr">
              <a:spcBef>
                <a:spcPts val="600"/>
              </a:spcBef>
              <a:buNone/>
            </a:pPr>
            <a:r>
              <a:rPr lang="it-IT" sz="2400" dirty="0">
                <a:solidFill>
                  <a:srgbClr val="1A2533"/>
                </a:solidFill>
              </a:rPr>
              <a:t>e ai </a:t>
            </a:r>
            <a:r>
              <a:rPr lang="it-IT" sz="2400" dirty="0" err="1">
                <a:solidFill>
                  <a:srgbClr val="1A2533"/>
                </a:solidFill>
              </a:rPr>
              <a:t>dott.ri</a:t>
            </a:r>
            <a:r>
              <a:rPr lang="it-IT" sz="2400" dirty="0">
                <a:solidFill>
                  <a:srgbClr val="1A2533"/>
                </a:solidFill>
              </a:rPr>
              <a:t> Sergio Caprioli, Emanuele Cagliero e Riccardo Crupi di Intesa Sanpaolo</a:t>
            </a:r>
          </a:p>
          <a:p>
            <a:pPr algn="ctr">
              <a:spcBef>
                <a:spcPts val="600"/>
              </a:spcBef>
              <a:buNone/>
            </a:pPr>
            <a:r>
              <a:rPr lang="it-IT" sz="2400" b="1" dirty="0">
                <a:solidFill>
                  <a:srgbClr val="156082"/>
                </a:solidFill>
              </a:rPr>
              <a:t>sono a disposizione per le vostre domande</a:t>
            </a:r>
          </a:p>
        </p:txBody>
      </p:sp>
    </p:spTree>
    <p:extLst>
      <p:ext uri="{BB962C8B-B14F-4D97-AF65-F5344CB8AC3E}">
        <p14:creationId xmlns:p14="http://schemas.microsoft.com/office/powerpoint/2010/main" val="703336732"/>
      </p:ext>
    </p:extLst>
  </p:cSld>
  <p:clrMapOvr>
    <a:masterClrMapping/>
  </p:clrMapOvr>
  <mc:AlternateContent xmlns:mc="http://schemas.openxmlformats.org/markup-compatibility/2006" xmlns:p14="http://schemas.microsoft.com/office/powerpoint/2010/main">
    <mc:Choice Requires="p14">
      <p:transition spd="slow" p14:dur="2000" advTm="176"/>
    </mc:Choice>
    <mc:Fallback xmlns="">
      <p:transition spd="slow" advTm="176"/>
    </mc:Fallback>
  </mc:AlternateContent>
</p:sld>
</file>

<file path=ppt/theme/theme1.xml><?xml version="1.0" encoding="utf-8"?>
<a:theme xmlns:a="http://schemas.openxmlformats.org/drawingml/2006/main" name="Tema di Office [1788168264693]">
  <a:themeElements>
    <a:clrScheme name="Office">
      <a:dk1>
        <a:srgbClr val="1A2533"/>
      </a:dk1>
      <a:lt1>
        <a:srgbClr val="FFFFFF"/>
      </a:lt1>
      <a:dk2>
        <a:srgbClr val="0E2841"/>
      </a:dk2>
      <a:lt2>
        <a:srgbClr val="EDF2F7"/>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Franklin Gothic Medium"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16"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59CA54-215F-4E5F-9B48-B7A8C88F0766}">
  <we:reference id="wa200010725" version="1.0.0.1" store="it-IT" storeType="OMEX"/>
  <we:alternateReferences>
    <we:reference id="WA200010725" version="1.0.0.1" store="WA200010725" storeType="OMEX"/>
  </we:alternateReferences>
  <we:properties>
    <we:property name="claude.fileId" value="&quot;35b0f363-2090-4dd2-8dc7-bae7165deb4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2095</Words>
  <Application>Microsoft Office PowerPoint</Application>
  <PresentationFormat>Widescreen</PresentationFormat>
  <Paragraphs>197</Paragraphs>
  <Slides>15</Slides>
  <Notes>15</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15</vt:i4>
      </vt:variant>
    </vt:vector>
  </HeadingPairs>
  <TitlesOfParts>
    <vt:vector size="21" baseType="lpstr">
      <vt:lpstr>Aptos</vt:lpstr>
      <vt:lpstr>Arial</vt:lpstr>
      <vt:lpstr>Cambria Math</vt:lpstr>
      <vt:lpstr>Franklin Gothic Medium</vt:lpstr>
      <vt:lpstr>Segoe UI</vt:lpstr>
      <vt:lpstr>Tema di Office [1788168264693]</vt:lpstr>
      <vt:lpstr>Dai pixel ai portafogli finanziari: generare scenari di mercato realistici tramite variational autoencoder</vt:lpstr>
      <vt:lpstr>Indice</vt:lpstr>
      <vt:lpstr>Il problema e l’obiettivo</vt:lpstr>
      <vt:lpstr>La matrice di correlazione finanziaria</vt:lpstr>
      <vt:lpstr>Fatto 1 · correlazioni spostate verso il positivo</vt:lpstr>
      <vt:lpstr>Fatto 2 · spettro oltre la banda di Marchenko-Pastur</vt:lpstr>
      <vt:lpstr>Fatto 3 · Perron-Frobenius empirica: il market mode</vt:lpstr>
      <vt:lpstr>Fatto 4 · struttura gerarchica a blocchi settoriali</vt:lpstr>
      <vt:lpstr>Fatto 5 · minimum spanning tree invariante di scala</vt:lpstr>
      <vt:lpstr>Il dataset e il pre-processing</vt:lpstr>
      <vt:lpstr>Analisi dei modelli ricostruttivi</vt:lpstr>
      <vt:lpstr>Lo spazio latente del VAE</vt:lpstr>
      <vt:lpstr>Generazione di matrici sintetiche tramite VAE</vt:lpstr>
      <vt:lpstr>Validazione, limiti e conclusione</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Magliano  Dylan</dc:creator>
  <cp:lastModifiedBy>Magliano  Dylan</cp:lastModifiedBy>
  <cp:revision>182</cp:revision>
  <dcterms:created xsi:type="dcterms:W3CDTF">2026-08-31T09:24:24Z</dcterms:created>
  <dcterms:modified xsi:type="dcterms:W3CDTF">2026-09-10T15:14:32Z</dcterms:modified>
</cp:coreProperties>
</file>