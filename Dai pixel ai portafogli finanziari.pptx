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07" r:id="rId2"/>
    <p:sldId id="340" r:id="rId3"/>
    <p:sldId id="410" r:id="rId4"/>
    <p:sldId id="343" r:id="rId5"/>
    <p:sldId id="388" r:id="rId6"/>
    <p:sldId id="384" r:id="rId7"/>
    <p:sldId id="389" r:id="rId8"/>
    <p:sldId id="386" r:id="rId9"/>
    <p:sldId id="387" r:id="rId10"/>
    <p:sldId id="411" r:id="rId11"/>
    <p:sldId id="396" r:id="rId12"/>
    <p:sldId id="419" r:id="rId13"/>
    <p:sldId id="402" r:id="rId14"/>
    <p:sldId id="418" r:id="rId15"/>
    <p:sldId id="409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08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7A146A-8AD1-27F2-906A-B0D2C1AC1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040FBCA-F252-2E80-0409-F7F3F1BD7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EF3899-953D-32F8-DA97-FC7785585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3783-32D1-41E5-A9ED-04B73564542D}" type="datetimeFigureOut">
              <a:rPr lang="it-IT" smtClean="0"/>
              <a:t>02/09/2026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C12EB44-C748-9FBC-1E96-FA344B39A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74A694-B063-0C00-A6E0-D36A5CCDD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B5D7-C0A9-43FA-8C99-6EA84D06B5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429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CD86DD-E8EF-3497-6E0B-5EE43D015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195826-F71A-F038-8724-92CFF03FB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977D21-8096-A501-A520-4336A81F9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3783-32D1-41E5-A9ED-04B73564542D}" type="datetimeFigureOut">
              <a:rPr lang="it-IT" smtClean="0"/>
              <a:t>02/09/2026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1C1A76-8E75-1352-38B2-E0E559C7E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ECD60BA-8E69-C98C-D375-4336E35FF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B5D7-C0A9-43FA-8C99-6EA84D06B5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0851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264A2E-29FD-86EB-E84D-702AF10AB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168C3B7-A518-BD30-BE20-B99B2522C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9A2A34-546E-C741-849A-07559188D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3783-32D1-41E5-A9ED-04B73564542D}" type="datetimeFigureOut">
              <a:rPr lang="it-IT" smtClean="0"/>
              <a:t>02/09/2026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2DA7312-4DD6-67DF-42E8-A13660EBF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733C157-F8FA-DD9C-DFB1-F6036A9D4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B5D7-C0A9-43FA-8C99-6EA84D06B5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99865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7F5EC9-B654-BBE5-70DC-EA497452B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417663-FBB3-5485-6918-7B94A417F6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CA72DD4-01AF-E33F-7DB0-8E28E3FC1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CCEB025-C6D9-CB9D-A3CF-9D7EA361D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3783-32D1-41E5-A9ED-04B73564542D}" type="datetimeFigureOut">
              <a:rPr lang="it-IT" smtClean="0"/>
              <a:t>02/09/2026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EC7E106-156C-2024-80C7-AFA6947DA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617795F-24B9-6C9D-F253-1C9FCFB5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B5D7-C0A9-43FA-8C99-6EA84D06B5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1466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B7E271-78FC-84ED-C1D2-6FAEFB1FC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48D2E9F-770E-F4C7-858C-F68E5C389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661BFF5-AB1F-D0EF-DF9A-8187FA311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1085315-21D7-4B81-C453-F2FCC6043E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5F9C3C5-E43C-493D-B05A-802E59ADE4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096712-80D6-1410-A0B4-1AAF746E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3783-32D1-41E5-A9ED-04B73564542D}" type="datetimeFigureOut">
              <a:rPr lang="it-IT" smtClean="0"/>
              <a:t>02/09/2026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C7D4EA2-CB88-2479-12BC-C40A1BA9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A290C57-EB7C-4EDB-FB5C-CCB54F61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B5D7-C0A9-43FA-8C99-6EA84D06B5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724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FE154D-CE24-1725-526D-115988635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F5082F1-200C-5D13-F403-6F4F525F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3783-32D1-41E5-A9ED-04B73564542D}" type="datetimeFigureOut">
              <a:rPr lang="it-IT" smtClean="0"/>
              <a:t>02/09/2026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464E4C9-FBD1-1BB1-2A61-F153B252B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D2E3766-5AFD-048C-7254-1C5BECF24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B5D7-C0A9-43FA-8C99-6EA84D06B5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7585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48EC499-A02F-FFF0-52E9-2CE0A583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3783-32D1-41E5-A9ED-04B73564542D}" type="datetimeFigureOut">
              <a:rPr lang="it-IT" smtClean="0"/>
              <a:t>02/09/2026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498C719-39B7-A216-AF13-BF57A762E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B13C37A-3D21-F3DF-5774-E8EE1D0C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B5D7-C0A9-43FA-8C99-6EA84D06B5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2032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9AF2C3-BA2E-94A4-93AC-E95EE1C81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DA31E6-C856-D1A5-61DE-0E99C5C15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90AA4A1-CCDD-29A5-72C3-D9EA1A129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57992D4-7486-2365-076E-5EAA679A9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3783-32D1-41E5-A9ED-04B73564542D}" type="datetimeFigureOut">
              <a:rPr lang="it-IT" smtClean="0"/>
              <a:t>02/09/2026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F2F939-869D-C49E-04A5-02F0795C1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516BB05-CD77-4D18-F05D-2313A8890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B5D7-C0A9-43FA-8C99-6EA84D06B5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4989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FEA94D-9CCA-B522-1411-5FB37355D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87BC9DB-E058-E7A7-2661-E6CDBC497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714B08-FB98-5E66-5324-3616BD9BC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6893295-6782-B75F-261E-29D9B073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3783-32D1-41E5-A9ED-04B73564542D}" type="datetimeFigureOut">
              <a:rPr lang="it-IT" smtClean="0"/>
              <a:t>02/09/2026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43C132E-634C-DC47-0A79-E870306B2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560F55A-0D4F-8E10-B40F-F339AF7F1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B5D7-C0A9-43FA-8C99-6EA84D06B5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8535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87E403-5655-9F64-7DFA-AB99A6963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B188B38-6B68-F4A1-8825-764C1AD6AB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0BE8606-B25A-4C26-7C86-312AFA83A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3783-32D1-41E5-A9ED-04B73564542D}" type="datetimeFigureOut">
              <a:rPr lang="it-IT" smtClean="0"/>
              <a:t>02/09/2026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059FC5-4DB8-5967-A6BA-58A92157F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97B043F-726A-7EFF-20E4-5D527485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B5D7-C0A9-43FA-8C99-6EA84D06B5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4971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1CB2CD2-96DC-4BC5-6DAD-DB1035AEB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CF71C5D-FB43-C8D8-8175-61F6D73D06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04F6C5F-A4C9-09D2-CAB3-515F92D42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D3783-32D1-41E5-A9ED-04B73564542D}" type="datetimeFigureOut">
              <a:rPr lang="it-IT" smtClean="0"/>
              <a:t>02/09/2026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BAEC1B9-1D04-3ABA-90E2-66B41C60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1231936-4F19-94B7-1634-BAFB4CE3D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FB5D7-C0A9-43FA-8C99-6EA84D06B53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700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6E9BE22-810A-3327-21CA-C8D62300D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598693E-8E60-778A-4129-30C9B7304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BBE7C11-6478-B060-5B72-7BC4B53B5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5D3783-32D1-41E5-A9ED-04B73564542D}" type="datetimeFigureOut">
              <a:rPr lang="it-IT" smtClean="0"/>
              <a:t>02/09/2026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3F9CA62-B172-8614-B913-54F45FD74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F36A50-F35E-0F41-1DFE-5BE74F0D72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FB5D7-C0A9-43FA-8C99-6EA84D06B533}" type="slidenum">
              <a:rPr lang="it-IT" smtClean="0"/>
              <a:t>‹N›</a:t>
            </a:fld>
            <a:endParaRPr lang="it-IT"/>
          </a:p>
        </p:txBody>
      </p:sp>
      <p:sp>
        <p:nvSpPr>
          <p:cNvPr id="900" name="AccentBarLeft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01" name="AccentBarSegment"/>
          <p:cNvSpPr/>
          <p:nvPr/>
        </p:nvSpPr>
        <p:spPr>
          <a:xfrm>
            <a:off x="0" y="5486400"/>
            <a:ext cx="101600" cy="13716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342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E284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25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A253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A253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53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53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533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533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533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533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F9DCC9-A0D7-165E-07C4-8D994C1ABA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000" y="1122363"/>
            <a:ext cx="11176000" cy="2387600"/>
          </a:xfrm>
        </p:spPr>
        <p:txBody>
          <a:bodyPr>
            <a:normAutofit/>
          </a:bodyPr>
          <a:lstStyle/>
          <a:p>
            <a:pPr algn="ctr">
              <a:lnSpc>
                <a:spcPct val="95000"/>
              </a:lnSpc>
            </a:pPr>
            <a:r>
              <a:rPr lang="it-IT" sz="3400" b="1" dirty="0"/>
              <a:t>Dai pixel ai portafogli finanziari: generare scenari di mercato realistici tramite variational autoencoder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5A668AF-97B7-3548-7F26-0BDD18DD46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000" y="3759200"/>
            <a:ext cx="11176000" cy="1905000"/>
          </a:xfrm>
        </p:spPr>
        <p:txBody>
          <a:bodyPr>
            <a:normAutofit lnSpcReduction="10000"/>
          </a:bodyPr>
          <a:lstStyle/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it-IT" sz="2400" b="1" dirty="0"/>
              <a:t>candidato: Dylan Magliano · s337915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it-IT" sz="2400" dirty="0"/>
              <a:t>relatore: prof. Flavio Giobergia · Politecnico di Torino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it-IT" sz="2400" dirty="0"/>
              <a:t>correlatori: dott. Sergio Caprioli · dott. Emanuele Cagliero · Intesa Sanpaolo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endParaRPr lang="it-IT" sz="2400" dirty="0"/>
          </a:p>
          <a:p>
            <a:pPr algn="ctr">
              <a:lnSpc>
                <a:spcPct val="100000"/>
              </a:lnSpc>
              <a:spcBef>
                <a:spcPts val="200"/>
              </a:spcBef>
              <a:buNone/>
            </a:pPr>
            <a:r>
              <a:rPr lang="it-IT" sz="2400" dirty="0"/>
              <a:t>Politecnico di Torino · A.A. 2025-2026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C506E9E-598A-4DCB-FD90-DA9CD8163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0" y="508000"/>
            <a:ext cx="1270000" cy="12192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7EABB017-89E4-017D-D5EA-112BAAD871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00" t="40500" r="17000" b="41000"/>
          <a:stretch>
            <a:fillRect/>
          </a:stretch>
        </p:blipFill>
        <p:spPr>
          <a:xfrm>
            <a:off x="4762500" y="5867400"/>
            <a:ext cx="26670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9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B077F77-2F1B-B8B3-BDA2-A28DAC4A2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00"/>
            <a:ext cx="10515600" cy="889000"/>
          </a:xfrm>
        </p:spPr>
        <p:txBody>
          <a:bodyPr/>
          <a:lstStyle/>
          <a:p>
            <a:r>
              <a:rPr lang="it-IT" b="1" dirty="0"/>
              <a:t>Indice</a:t>
            </a:r>
          </a:p>
        </p:txBody>
      </p:sp>
      <p:sp>
        <p:nvSpPr>
          <p:cNvPr id="8" name="agenda">
            <a:extLst>
              <a:ext uri="{FF2B5EF4-FFF2-40B4-BE49-F238E27FC236}">
                <a16:creationId xmlns:a16="http://schemas.microsoft.com/office/drawing/2014/main" id="{C6504559-D2CA-46AC-A852-1718D4D5064D}"/>
              </a:ext>
            </a:extLst>
          </p:cNvPr>
          <p:cNvSpPr txBox="1"/>
          <p:nvPr/>
        </p:nvSpPr>
        <p:spPr>
          <a:xfrm>
            <a:off x="838200" y="1333500"/>
            <a:ext cx="10515600" cy="482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571500" indent="-571500">
              <a:lnSpc>
                <a:spcPts val="4800"/>
              </a:lnSpc>
              <a:spcBef>
                <a:spcPts val="0"/>
              </a:spcBef>
              <a:tabLst>
                <a:tab pos="571500" algn="l"/>
              </a:tabLst>
            </a:pPr>
            <a:r>
              <a:rPr lang="it-IT" sz="2400" b="1" dirty="0">
                <a:solidFill>
                  <a:srgbClr val="E97132"/>
                </a:solidFill>
              </a:rPr>
              <a:t>01	</a:t>
            </a:r>
            <a:r>
              <a:rPr lang="it-IT" sz="2400" dirty="0">
                <a:solidFill>
                  <a:srgbClr val="1A2533"/>
                </a:solidFill>
              </a:rPr>
              <a:t>il problema e l’obiettivo</a:t>
            </a:r>
          </a:p>
          <a:p>
            <a:pPr marL="571500" indent="-571500">
              <a:lnSpc>
                <a:spcPts val="4800"/>
              </a:lnSpc>
              <a:spcBef>
                <a:spcPts val="1200"/>
              </a:spcBef>
              <a:tabLst>
                <a:tab pos="571500" algn="l"/>
              </a:tabLst>
            </a:pPr>
            <a:r>
              <a:rPr lang="it-IT" sz="2400" b="1" dirty="0">
                <a:solidFill>
                  <a:srgbClr val="E97132"/>
                </a:solidFill>
              </a:rPr>
              <a:t>02	</a:t>
            </a:r>
            <a:r>
              <a:rPr lang="it-IT" sz="2400" dirty="0">
                <a:solidFill>
                  <a:srgbClr val="1A2533"/>
                </a:solidFill>
              </a:rPr>
              <a:t>la matrice di correlazione finanziaria</a:t>
            </a:r>
          </a:p>
          <a:p>
            <a:pPr marL="571500" indent="-571500">
              <a:lnSpc>
                <a:spcPts val="4800"/>
              </a:lnSpc>
              <a:spcBef>
                <a:spcPts val="1200"/>
              </a:spcBef>
              <a:tabLst>
                <a:tab pos="571500" algn="l"/>
              </a:tabLst>
            </a:pPr>
            <a:r>
              <a:rPr lang="it-IT" sz="2400" b="1" dirty="0">
                <a:solidFill>
                  <a:srgbClr val="E97132"/>
                </a:solidFill>
              </a:rPr>
              <a:t>03	</a:t>
            </a:r>
            <a:r>
              <a:rPr lang="it-IT" sz="2400" dirty="0">
                <a:solidFill>
                  <a:srgbClr val="1A2533"/>
                </a:solidFill>
              </a:rPr>
              <a:t>il dataset e il pre-processing</a:t>
            </a:r>
          </a:p>
          <a:p>
            <a:pPr marL="571500" indent="-571500">
              <a:lnSpc>
                <a:spcPts val="4800"/>
              </a:lnSpc>
              <a:spcBef>
                <a:spcPts val="1200"/>
              </a:spcBef>
              <a:tabLst>
                <a:tab pos="571500" algn="l"/>
              </a:tabLst>
            </a:pPr>
            <a:r>
              <a:rPr lang="it-IT" sz="2400" b="1" dirty="0">
                <a:solidFill>
                  <a:srgbClr val="E97132"/>
                </a:solidFill>
              </a:rPr>
              <a:t>04	</a:t>
            </a:r>
            <a:r>
              <a:rPr lang="it-IT" sz="2400" dirty="0">
                <a:solidFill>
                  <a:srgbClr val="1A2533"/>
                </a:solidFill>
              </a:rPr>
              <a:t>analisi dei modelli ricostruttivi</a:t>
            </a:r>
          </a:p>
          <a:p>
            <a:pPr marL="571500" indent="-571500">
              <a:lnSpc>
                <a:spcPts val="4800"/>
              </a:lnSpc>
              <a:spcBef>
                <a:spcPts val="1200"/>
              </a:spcBef>
              <a:tabLst>
                <a:tab pos="571500" algn="l"/>
              </a:tabLst>
            </a:pPr>
            <a:r>
              <a:rPr lang="it-IT" sz="2400" b="1" dirty="0">
                <a:solidFill>
                  <a:srgbClr val="E97132"/>
                </a:solidFill>
              </a:rPr>
              <a:t>05	</a:t>
            </a:r>
            <a:r>
              <a:rPr lang="it-IT" sz="2400" dirty="0">
                <a:solidFill>
                  <a:srgbClr val="1A2533"/>
                </a:solidFill>
              </a:rPr>
              <a:t>generazione di matrici sintetiche tramite il VAE</a:t>
            </a:r>
          </a:p>
          <a:p>
            <a:pPr marL="571500" indent="-571500">
              <a:lnSpc>
                <a:spcPts val="4800"/>
              </a:lnSpc>
              <a:spcBef>
                <a:spcPts val="1200"/>
              </a:spcBef>
              <a:tabLst>
                <a:tab pos="571500" algn="l"/>
              </a:tabLst>
            </a:pPr>
            <a:r>
              <a:rPr lang="it-IT" sz="2400" b="1" dirty="0">
                <a:solidFill>
                  <a:srgbClr val="E97132"/>
                </a:solidFill>
              </a:rPr>
              <a:t>06	</a:t>
            </a:r>
            <a:r>
              <a:rPr lang="it-IT" sz="2400" dirty="0">
                <a:solidFill>
                  <a:srgbClr val="1A2533"/>
                </a:solidFill>
              </a:rPr>
              <a:t>validazione, limiti e conclusione</a:t>
            </a:r>
          </a:p>
        </p:txBody>
      </p:sp>
    </p:spTree>
    <p:extLst>
      <p:ext uri="{BB962C8B-B14F-4D97-AF65-F5344CB8AC3E}">
        <p14:creationId xmlns:p14="http://schemas.microsoft.com/office/powerpoint/2010/main" val="2153000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BEC641-36F1-B030-3D2F-D4214920C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00"/>
            <a:ext cx="10515600" cy="889000"/>
          </a:xfrm>
        </p:spPr>
        <p:txBody>
          <a:bodyPr/>
          <a:lstStyle/>
          <a:p>
            <a:pPr algn="l"/>
            <a:r>
              <a:rPr lang="it-IT" b="1" dirty="0"/>
              <a:t>Il problema e l’obiettivo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13345F-0754-0AB9-56FC-F5E5094F8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333500"/>
            <a:ext cx="11023600" cy="3810000"/>
          </a:xfrm>
        </p:spPr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r>
              <a:rPr lang="it-IT" sz="2400" dirty="0">
                <a:solidFill>
                  <a:srgbClr val="1A2533"/>
                </a:solidFill>
              </a:rPr>
              <a:t>Markowitz (1952): il rischio dipende da come i titoli si muovono insieme, cioè dalla </a:t>
            </a:r>
            <a:r>
              <a:rPr lang="it-IT" sz="2400" b="1" dirty="0">
                <a:solidFill>
                  <a:srgbClr val="156082"/>
                </a:solidFill>
              </a:rPr>
              <a:t>matrice di correlazione</a:t>
            </a:r>
          </a:p>
          <a:p>
            <a:pPr marL="342900" indent="-342900">
              <a:spcBef>
                <a:spcPts val="3600"/>
              </a:spcBef>
              <a:buFont typeface="Arial"/>
              <a:buChar char="•"/>
            </a:pPr>
            <a:r>
              <a:rPr lang="it-IT" sz="2800" b="1" dirty="0">
                <a:solidFill>
                  <a:srgbClr val="156082"/>
                </a:solidFill>
              </a:rPr>
              <a:t>stima rumorosa</a:t>
            </a:r>
          </a:p>
          <a:p>
            <a:pPr marL="342900" indent="-342900">
              <a:spcBef>
                <a:spcPts val="3600"/>
              </a:spcBef>
              <a:buFont typeface="Arial"/>
              <a:buChar char="•"/>
            </a:pPr>
            <a:r>
              <a:rPr lang="it-IT" sz="2800" b="1" dirty="0">
                <a:solidFill>
                  <a:srgbClr val="156082"/>
                </a:solidFill>
              </a:rPr>
              <a:t>una sola traiettoria storica</a:t>
            </a:r>
          </a:p>
          <a:p>
            <a:pPr marL="342900" indent="-342900">
              <a:spcBef>
                <a:spcPts val="3600"/>
              </a:spcBef>
              <a:buFont typeface="Arial"/>
              <a:buChar char="•"/>
            </a:pPr>
            <a:r>
              <a:rPr lang="it-IT" sz="2800" b="1" dirty="0">
                <a:solidFill>
                  <a:srgbClr val="156082"/>
                </a:solidFill>
              </a:rPr>
              <a:t>matrice fissa nei Monte Carlo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2AF08735-17AF-4F17-9E0C-30B5D08D3E2F}"/>
              </a:ext>
            </a:extLst>
          </p:cNvPr>
          <p:cNvSpPr/>
          <p:nvPr/>
        </p:nvSpPr>
        <p:spPr>
          <a:xfrm>
            <a:off x="584200" y="5397500"/>
            <a:ext cx="11023600" cy="9906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it-IT" sz="2400" b="1" dirty="0">
                <a:solidFill>
                  <a:srgbClr val="FFFFFF"/>
                </a:solidFill>
              </a:rPr>
              <a:t>obiettivo: generare scenari sintetici a orizzonte nominale di 21 giorni, costruiti ricampionando transizioni storiche dello spazio latente di un VAE</a:t>
            </a:r>
          </a:p>
        </p:txBody>
      </p:sp>
      <p:sp>
        <p:nvSpPr>
          <p:cNvPr id="5" name="PageNumber">
            <a:extLst>
              <a:ext uri="{FF2B5EF4-FFF2-40B4-BE49-F238E27FC236}">
                <a16:creationId xmlns:a16="http://schemas.microsoft.com/office/drawing/2014/main" id="{AEE0D59D-A71C-4424-839C-17518719B4A3}"/>
              </a:ext>
            </a:extLst>
          </p:cNvPr>
          <p:cNvSpPr txBox="1"/>
          <p:nvPr/>
        </p:nvSpPr>
        <p:spPr>
          <a:xfrm>
            <a:off x="10871200" y="6451600"/>
            <a:ext cx="8636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it-IT">
                <a:solidFill>
                  <a:srgbClr val="1A253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7501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48C83F1-62AB-B580-FDB4-2B27C74B8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00"/>
            <a:ext cx="10515600" cy="889000"/>
          </a:xfrm>
        </p:spPr>
        <p:txBody>
          <a:bodyPr/>
          <a:lstStyle/>
          <a:p>
            <a:pPr algn="l"/>
            <a:r>
              <a:rPr lang="it-IT" b="1" dirty="0"/>
              <a:t>La matrice di correlazione finanziaria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D00C5DF-930E-CB2B-272B-AE20B3572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3500"/>
            <a:ext cx="5969000" cy="5080000"/>
          </a:xfrm>
        </p:spPr>
        <p:txBody>
          <a:bodyPr anchor="ctr" anchorCtr="0">
            <a:normAutofit/>
          </a:bodyPr>
          <a:lstStyle/>
          <a:p>
            <a:pPr marL="342900" indent="-342900">
              <a:lnSpc>
                <a:spcPct val="95000"/>
              </a:lnSpc>
              <a:spcBef>
                <a:spcPts val="300"/>
              </a:spcBef>
              <a:buFont typeface="Arial"/>
              <a:buChar char="•"/>
            </a:pPr>
            <a:r>
              <a:rPr lang="it-IT" sz="2400" b="1" dirty="0">
                <a:solidFill>
                  <a:srgbClr val="156082"/>
                </a:solidFill>
              </a:rPr>
              <a:t>costruzione: </a:t>
            </a:r>
            <a:r>
              <a:rPr lang="it-IT" sz="2400" dirty="0">
                <a:solidFill>
                  <a:srgbClr val="1A2533"/>
                </a:solidFill>
              </a:rPr>
              <a:t>correlazione di Pearson sui rendimenti logaritmici tra coppie di titoli</a:t>
            </a:r>
          </a:p>
          <a:p>
            <a:pPr marL="342900" indent="-342900">
              <a:lnSpc>
                <a:spcPct val="95000"/>
              </a:lnSpc>
              <a:spcBef>
                <a:spcPts val="1400"/>
              </a:spcBef>
              <a:buFont typeface="Arial"/>
              <a:buChar char="•"/>
            </a:pPr>
            <a:r>
              <a:rPr lang="it-IT" sz="2400" b="1" dirty="0">
                <a:solidFill>
                  <a:srgbClr val="156082"/>
                </a:solidFill>
              </a:rPr>
              <a:t>proprietà: </a:t>
            </a:r>
            <a:r>
              <a:rPr lang="it-IT" sz="2400" dirty="0">
                <a:solidFill>
                  <a:srgbClr val="1A2533"/>
                </a:solidFill>
              </a:rPr>
              <a:t>simmetrica, diagonale unitaria, valori in [−1, +1], </a:t>
            </a:r>
            <a:r>
              <a:rPr lang="it-IT" sz="2400" dirty="0" err="1">
                <a:solidFill>
                  <a:srgbClr val="1A2533"/>
                </a:solidFill>
              </a:rPr>
              <a:t>semidefinita</a:t>
            </a:r>
            <a:r>
              <a:rPr lang="it-IT" sz="2400" dirty="0">
                <a:solidFill>
                  <a:srgbClr val="1A2533"/>
                </a:solidFill>
              </a:rPr>
              <a:t> positiva</a:t>
            </a:r>
            <a:endParaRPr lang="it-IT" sz="2400" dirty="0"/>
          </a:p>
          <a:p>
            <a:pPr marL="342900" indent="-342900">
              <a:lnSpc>
                <a:spcPct val="95000"/>
              </a:lnSpc>
              <a:spcBef>
                <a:spcPts val="1400"/>
              </a:spcBef>
              <a:buFont typeface="Arial"/>
              <a:buChar char="•"/>
            </a:pPr>
            <a:r>
              <a:rPr lang="it-IT" sz="2400" b="1" dirty="0">
                <a:solidFill>
                  <a:srgbClr val="156082"/>
                </a:solidFill>
              </a:rPr>
              <a:t>realismo: </a:t>
            </a:r>
            <a:r>
              <a:rPr lang="it-IT" sz="2400" dirty="0">
                <a:solidFill>
                  <a:srgbClr val="1A2533"/>
                </a:solidFill>
              </a:rPr>
              <a:t>cinque fatti stilizzati noti in letteratura</a:t>
            </a:r>
          </a:p>
        </p:txBody>
      </p:sp>
      <p:pic>
        <p:nvPicPr>
          <p:cNvPr id="5" name="Copied Picture 5">
            <a:extLst>
              <a:ext uri="{FF2B5EF4-FFF2-40B4-BE49-F238E27FC236}">
                <a16:creationId xmlns:a16="http://schemas.microsoft.com/office/drawing/2014/main" id="{422176B5-26EB-2FD5-6834-7526101EEF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48"/>
          <a:stretch>
            <a:fillRect/>
          </a:stretch>
        </p:blipFill>
        <p:spPr>
          <a:xfrm>
            <a:off x="7175500" y="1778000"/>
            <a:ext cx="4191000" cy="4191000"/>
          </a:xfrm>
          <a:prstGeom prst="rect">
            <a:avLst/>
          </a:prstGeom>
        </p:spPr>
      </p:pic>
      <p:sp>
        <p:nvSpPr>
          <p:cNvPr id="4" name="PageNumber">
            <a:extLst>
              <a:ext uri="{FF2B5EF4-FFF2-40B4-BE49-F238E27FC236}">
                <a16:creationId xmlns:a16="http://schemas.microsoft.com/office/drawing/2014/main" id="{3B862C0F-AE9D-422F-B062-5AC95A8EA1C2}"/>
              </a:ext>
            </a:extLst>
          </p:cNvPr>
          <p:cNvSpPr txBox="1"/>
          <p:nvPr/>
        </p:nvSpPr>
        <p:spPr>
          <a:xfrm>
            <a:off x="10871200" y="6451600"/>
            <a:ext cx="8636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it-IT">
                <a:solidFill>
                  <a:srgbClr val="1A253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41778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7A7E8C-D309-1705-0877-4C1B906E8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400"/>
            <a:ext cx="10515600" cy="889000"/>
          </a:xfrm>
        </p:spPr>
        <p:txBody>
          <a:bodyPr>
            <a:normAutofit/>
          </a:bodyPr>
          <a:lstStyle/>
          <a:p>
            <a:pPr algn="l"/>
            <a:r>
              <a:rPr lang="it-IT" sz="3200" b="1" dirty="0"/>
              <a:t>Fatto 1 · correlazioni spostate verso il positivo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95DF61B-C6E1-4506-A3BF-762DCF9FBA69}"/>
              </a:ext>
            </a:extLst>
          </p:cNvPr>
          <p:cNvSpPr txBox="1"/>
          <p:nvPr/>
        </p:nvSpPr>
        <p:spPr>
          <a:xfrm>
            <a:off x="838200" y="1244600"/>
            <a:ext cx="105156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it-IT" sz="2400" b="1" dirty="0">
                <a:solidFill>
                  <a:srgbClr val="156082"/>
                </a:solidFill>
              </a:rPr>
              <a:t>mercato reale: </a:t>
            </a:r>
            <a:r>
              <a:rPr lang="it-IT" sz="2400" dirty="0">
                <a:solidFill>
                  <a:srgbClr val="1A2533"/>
                </a:solidFill>
              </a:rPr>
              <a:t>media sbilanciata verso valori positivi</a:t>
            </a:r>
          </a:p>
          <a:p>
            <a:pPr algn="l">
              <a:buNone/>
            </a:pPr>
            <a:r>
              <a:rPr lang="it-IT" sz="2400" b="1" dirty="0">
                <a:solidFill>
                  <a:srgbClr val="E97132"/>
                </a:solidFill>
              </a:rPr>
              <a:t>matrice di controllo: </a:t>
            </a:r>
            <a:r>
              <a:rPr lang="it-IT" sz="2400" dirty="0">
                <a:solidFill>
                  <a:srgbClr val="1A2533"/>
                </a:solidFill>
              </a:rPr>
              <a:t>media zero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6E99896-F8CF-3396-8501-C1C74DF857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64"/>
          <a:stretch>
            <a:fillRect/>
          </a:stretch>
        </p:blipFill>
        <p:spPr>
          <a:xfrm>
            <a:off x="508000" y="2341548"/>
            <a:ext cx="11176000" cy="3581749"/>
          </a:xfrm>
          <a:prstGeom prst="rect">
            <a:avLst/>
          </a:prstGeom>
        </p:spPr>
      </p:pic>
      <p:sp>
        <p:nvSpPr>
          <p:cNvPr id="5" name="PageNumber">
            <a:extLst>
              <a:ext uri="{FF2B5EF4-FFF2-40B4-BE49-F238E27FC236}">
                <a16:creationId xmlns:a16="http://schemas.microsoft.com/office/drawing/2014/main" id="{2E5402A4-30B7-4901-875F-5A81566E875A}"/>
              </a:ext>
            </a:extLst>
          </p:cNvPr>
          <p:cNvSpPr txBox="1"/>
          <p:nvPr/>
        </p:nvSpPr>
        <p:spPr>
          <a:xfrm>
            <a:off x="10871200" y="6451600"/>
            <a:ext cx="8636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it-IT">
                <a:solidFill>
                  <a:srgbClr val="1A253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5383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FD3F3B-265E-8B3B-EC51-D61FE378F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400"/>
            <a:ext cx="10515600" cy="889000"/>
          </a:xfrm>
        </p:spPr>
        <p:txBody>
          <a:bodyPr>
            <a:normAutofit/>
          </a:bodyPr>
          <a:lstStyle/>
          <a:p>
            <a:pPr algn="l"/>
            <a:r>
              <a:rPr lang="it-IT" sz="3200" b="1" dirty="0"/>
              <a:t>Fatto 2 · spettro oltre la banda di Marchenko-Pastur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F544EAB-33CA-43B8-BF65-F84A990AEE85}"/>
              </a:ext>
            </a:extLst>
          </p:cNvPr>
          <p:cNvSpPr txBox="1"/>
          <p:nvPr/>
        </p:nvSpPr>
        <p:spPr>
          <a:xfrm>
            <a:off x="838200" y="1244600"/>
            <a:ext cx="10515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it-IT" sz="2400" b="1" dirty="0">
                <a:solidFill>
                  <a:srgbClr val="156082"/>
                </a:solidFill>
              </a:rPr>
              <a:t>mercato reale: </a:t>
            </a:r>
            <a:r>
              <a:rPr lang="it-IT" sz="2400" dirty="0">
                <a:solidFill>
                  <a:srgbClr val="1A2533"/>
                </a:solidFill>
              </a:rPr>
              <a:t>un autovalore dominante e pochi modi settoriali fuori banda</a:t>
            </a:r>
          </a:p>
          <a:p>
            <a:pPr algn="l">
              <a:buNone/>
            </a:pPr>
            <a:r>
              <a:rPr lang="it-IT" sz="2400" b="1" dirty="0">
                <a:solidFill>
                  <a:srgbClr val="E97132"/>
                </a:solidFill>
              </a:rPr>
              <a:t>matrice di controllo: </a:t>
            </a:r>
            <a:r>
              <a:rPr lang="it-IT" sz="2400" dirty="0">
                <a:solidFill>
                  <a:srgbClr val="1A2533"/>
                </a:solidFill>
              </a:rPr>
              <a:t>spettro dentro la banda teorica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8F8DD05-A443-F620-936E-9022E9629E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57"/>
          <a:stretch>
            <a:fillRect/>
          </a:stretch>
        </p:blipFill>
        <p:spPr>
          <a:xfrm>
            <a:off x="428969" y="3429000"/>
            <a:ext cx="11022490" cy="30395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f1">
                <a:extLst>
                  <a:ext uri="{FF2B5EF4-FFF2-40B4-BE49-F238E27FC236}">
                    <a16:creationId xmlns:a16="http://schemas.microsoft.com/office/drawing/2014/main" id="{56DDBE76-9165-4FFD-BC50-4B0B6E7A5D6C}"/>
                  </a:ext>
                </a:extLst>
              </p:cNvPr>
              <p:cNvSpPr txBox="1"/>
              <p:nvPr/>
            </p:nvSpPr>
            <p:spPr>
              <a:xfrm>
                <a:off x="1239519" y="2595033"/>
                <a:ext cx="1466427" cy="635000"/>
              </a:xfrm>
              <a:prstGeom prst="rect">
                <a:avLst/>
              </a:prstGeom>
              <a:noFill/>
            </p:spPr>
            <p:txBody>
              <a:bodyPr vertOverflow="overflow" vert="horz" wrap="non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2200" i="1">
                          <a:solidFill>
                            <a:srgbClr val="0E2841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it-IT" sz="2200" i="0">
                          <a:solidFill>
                            <a:srgbClr val="0E284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it-IT" sz="2200" i="1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200" i="1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it-IT" sz="2200" i="1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9" name="f1">
                <a:extLst>
                  <a:ext uri="{FF2B5EF4-FFF2-40B4-BE49-F238E27FC236}">
                    <a16:creationId xmlns:a16="http://schemas.microsoft.com/office/drawing/2014/main" id="{56DDBE76-9165-4FFD-BC50-4B0B6E7A5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519" y="2595033"/>
                <a:ext cx="1466427" cy="635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f2">
                <a:extLst>
                  <a:ext uri="{FF2B5EF4-FFF2-40B4-BE49-F238E27FC236}">
                    <a16:creationId xmlns:a16="http://schemas.microsoft.com/office/drawing/2014/main" id="{01CF6920-5B21-4110-9009-22EDCF3DA6E0}"/>
                  </a:ext>
                </a:extLst>
              </p:cNvPr>
              <p:cNvSpPr txBox="1"/>
              <p:nvPr/>
            </p:nvSpPr>
            <p:spPr>
              <a:xfrm>
                <a:off x="3163145" y="2595033"/>
                <a:ext cx="2475653" cy="635000"/>
              </a:xfrm>
              <a:prstGeom prst="rect">
                <a:avLst/>
              </a:prstGeom>
              <a:noFill/>
            </p:spPr>
            <p:txBody>
              <a:bodyPr vertOverflow="overflow" vert="horz" wrap="non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2200" i="1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200" i="1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it-IT" sz="2200" i="0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  <m:r>
                        <a:rPr lang="it-IT" sz="2200" i="0">
                          <a:solidFill>
                            <a:srgbClr val="0E284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it-IT" sz="2200" i="1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sz="2200" i="1">
                                  <a:solidFill>
                                    <a:srgbClr val="0E284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sz="2200" i="1">
                                  <a:solidFill>
                                    <a:srgbClr val="0E284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it-IT" sz="2200" i="0">
                                  <a:solidFill>
                                    <a:srgbClr val="0E2841"/>
                                  </a:solidFill>
                                  <a:latin typeface="Cambria Math" panose="02040503050406030204" pitchFamily="18" charset="0"/>
                                </a:rPr>
                                <m:t> ± </m:t>
                              </m:r>
                              <m:rad>
                                <m:radPr>
                                  <m:degHide m:val="on"/>
                                  <m:ctrlPr>
                                    <a:rPr lang="it-IT" sz="2200" i="1">
                                      <a:solidFill>
                                        <a:srgbClr val="0E284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it-IT" sz="2200" i="1">
                                      <a:solidFill>
                                        <a:srgbClr val="0E2841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it-IT" sz="2200" i="0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0" name="f2">
                <a:extLst>
                  <a:ext uri="{FF2B5EF4-FFF2-40B4-BE49-F238E27FC236}">
                    <a16:creationId xmlns:a16="http://schemas.microsoft.com/office/drawing/2014/main" id="{01CF6920-5B21-4110-9009-22EDCF3DA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3145" y="2595033"/>
                <a:ext cx="2475653" cy="635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f3">
                <a:extLst>
                  <a:ext uri="{FF2B5EF4-FFF2-40B4-BE49-F238E27FC236}">
                    <a16:creationId xmlns:a16="http://schemas.microsoft.com/office/drawing/2014/main" id="{516ED317-9E9B-4E5A-96A2-9547F5DEFF02}"/>
                  </a:ext>
                </a:extLst>
              </p:cNvPr>
              <p:cNvSpPr txBox="1"/>
              <p:nvPr/>
            </p:nvSpPr>
            <p:spPr>
              <a:xfrm>
                <a:off x="5987627" y="2429933"/>
                <a:ext cx="6080759" cy="965200"/>
              </a:xfrm>
              <a:prstGeom prst="rect">
                <a:avLst/>
              </a:prstGeom>
              <a:noFill/>
            </p:spPr>
            <p:txBody>
              <a:bodyPr vertOverflow="overflow" vert="horz" wrap="none" rtlCol="0" anchor="ctr" anchorCtr="0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it-IT" sz="2200" i="1">
                          <a:solidFill>
                            <a:srgbClr val="0E284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sz="2200" i="1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200" i="1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it-IT" sz="2200" i="0">
                          <a:solidFill>
                            <a:srgbClr val="0E284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it-IT" sz="2200" i="0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200" i="0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sz="2200" i="0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sz="2200" i="1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it-IT" sz="2200" i="1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it-IT" sz="2200" i="0">
                          <a:solidFill>
                            <a:srgbClr val="0E2841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f>
                        <m:fPr>
                          <m:ctrlPr>
                            <a:rPr lang="it-IT" sz="2200" i="1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it-IT" sz="2200" i="1">
                                  <a:solidFill>
                                    <a:srgbClr val="0E284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it-IT" sz="2200" i="1">
                                      <a:solidFill>
                                        <a:srgbClr val="0E284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2200" i="1">
                                          <a:solidFill>
                                            <a:srgbClr val="0E284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2200" i="1">
                                          <a:solidFill>
                                            <a:srgbClr val="0E284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it-IT" sz="2200" i="0">
                                          <a:solidFill>
                                            <a:srgbClr val="0E284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b>
                                  </m:sSub>
                                  <m:r>
                                    <a:rPr lang="it-IT" sz="2200" i="0">
                                      <a:solidFill>
                                        <a:srgbClr val="0E284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r>
                                    <a:rPr lang="it-IT" sz="2200" i="1">
                                      <a:solidFill>
                                        <a:srgbClr val="0E284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it-IT" sz="2200" i="1">
                                      <a:solidFill>
                                        <a:srgbClr val="0E284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2200" i="1">
                                      <a:solidFill>
                                        <a:srgbClr val="0E284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it-IT" sz="2200" i="0">
                                      <a:solidFill>
                                        <a:srgbClr val="0E2841"/>
                                      </a:solidFill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sSub>
                                    <m:sSubPr>
                                      <m:ctrlPr>
                                        <a:rPr lang="it-IT" sz="2200" i="1">
                                          <a:solidFill>
                                            <a:srgbClr val="0E284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2200" i="1">
                                          <a:solidFill>
                                            <a:srgbClr val="0E284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it-IT" sz="2200" i="0">
                                          <a:solidFill>
                                            <a:srgbClr val="0E284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rad>
                        </m:num>
                        <m:den>
                          <m:r>
                            <a:rPr lang="it-IT" sz="2200" i="1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it-IT" sz="2200" i="0">
                          <a:solidFill>
                            <a:srgbClr val="0E2841"/>
                          </a:solidFill>
                          <a:latin typeface="Cambria Math" panose="02040503050406030204" pitchFamily="18" charset="0"/>
                        </a:rPr>
                        <m:t> · </m:t>
                      </m:r>
                      <m:sSub>
                        <m:sSubPr>
                          <m:ctrlPr>
                            <a:rPr lang="it-IT" sz="2200" i="0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200" i="0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  <m:t>𝟙</m:t>
                          </m:r>
                        </m:e>
                        <m:sub>
                          <m:sSub>
                            <m:sSubPr>
                              <m:ctrlPr>
                                <a:rPr lang="it-IT" sz="2200" i="1">
                                  <a:solidFill>
                                    <a:srgbClr val="0E284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200" i="1">
                                  <a:solidFill>
                                    <a:srgbClr val="0E284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it-IT" sz="2200" i="0">
                                  <a:solidFill>
                                    <a:srgbClr val="0E284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b>
                          </m:sSub>
                          <m:r>
                            <a:rPr lang="it-IT" sz="2200" i="0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it-IT" sz="2200" i="1">
                                  <a:solidFill>
                                    <a:srgbClr val="0E284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200" i="1">
                                  <a:solidFill>
                                    <a:srgbClr val="0E284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it-IT" sz="2200" i="0">
                                  <a:solidFill>
                                    <a:srgbClr val="0E284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it-IT" sz="2200" i="1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200" i="1">
                              <a:solidFill>
                                <a:srgbClr val="0E284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it-IT" sz="2200" dirty="0"/>
              </a:p>
            </p:txBody>
          </p:sp>
        </mc:Choice>
        <mc:Fallback xmlns="">
          <p:sp>
            <p:nvSpPr>
              <p:cNvPr id="11" name="f3">
                <a:extLst>
                  <a:ext uri="{FF2B5EF4-FFF2-40B4-BE49-F238E27FC236}">
                    <a16:creationId xmlns:a16="http://schemas.microsoft.com/office/drawing/2014/main" id="{516ED317-9E9B-4E5A-96A2-9547F5DEF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627" y="2429933"/>
                <a:ext cx="6080759" cy="965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PageNumber">
            <a:extLst>
              <a:ext uri="{FF2B5EF4-FFF2-40B4-BE49-F238E27FC236}">
                <a16:creationId xmlns:a16="http://schemas.microsoft.com/office/drawing/2014/main" id="{C214F6FF-8F78-428D-AEE1-2EDA6AC98E6F}"/>
              </a:ext>
            </a:extLst>
          </p:cNvPr>
          <p:cNvSpPr txBox="1"/>
          <p:nvPr/>
        </p:nvSpPr>
        <p:spPr>
          <a:xfrm>
            <a:off x="10871200" y="6502400"/>
            <a:ext cx="863600" cy="3048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it-IT">
                <a:solidFill>
                  <a:srgbClr val="1A253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04969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F5687A-1C8E-2E9F-4A87-98471C11D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400"/>
            <a:ext cx="10515600" cy="889000"/>
          </a:xfrm>
        </p:spPr>
        <p:txBody>
          <a:bodyPr>
            <a:normAutofit/>
          </a:bodyPr>
          <a:lstStyle/>
          <a:p>
            <a:pPr algn="l"/>
            <a:r>
              <a:rPr lang="it-IT" sz="3200" b="1" dirty="0"/>
              <a:t>Fatto 3 · Perron-Frobenius empirica: il market mode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DDAF663-6580-49AA-A094-2FCB22EC794A}"/>
              </a:ext>
            </a:extLst>
          </p:cNvPr>
          <p:cNvSpPr txBox="1"/>
          <p:nvPr/>
        </p:nvSpPr>
        <p:spPr>
          <a:xfrm>
            <a:off x="838200" y="1244600"/>
            <a:ext cx="1106805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it-IT" sz="2400" b="1" dirty="0">
                <a:solidFill>
                  <a:srgbClr val="156082"/>
                </a:solidFill>
              </a:rPr>
              <a:t>mercato reale: </a:t>
            </a:r>
            <a:r>
              <a:rPr lang="it-IT" sz="2400" dirty="0">
                <a:solidFill>
                  <a:srgbClr val="1A2533"/>
                </a:solidFill>
              </a:rPr>
              <a:t>λ</a:t>
            </a:r>
            <a:r>
              <a:rPr lang="it-IT" sz="2400" baseline="-25000" dirty="0">
                <a:solidFill>
                  <a:srgbClr val="1A2533"/>
                </a:solidFill>
              </a:rPr>
              <a:t>1</a:t>
            </a:r>
            <a:r>
              <a:rPr lang="it-IT" sz="2400" dirty="0">
                <a:solidFill>
                  <a:srgbClr val="1A2533"/>
                </a:solidFill>
              </a:rPr>
              <a:t> &gt; 0 con molteplicità uno, v</a:t>
            </a:r>
            <a:r>
              <a:rPr lang="it-IT" sz="2400" baseline="-25000" dirty="0">
                <a:solidFill>
                  <a:srgbClr val="1A2533"/>
                </a:solidFill>
              </a:rPr>
              <a:t>1</a:t>
            </a:r>
            <a:r>
              <a:rPr lang="it-IT" sz="2400" dirty="0">
                <a:solidFill>
                  <a:srgbClr val="1A2533"/>
                </a:solidFill>
              </a:rPr>
              <a:t> a componenti di segno concorde</a:t>
            </a:r>
          </a:p>
          <a:p>
            <a:r>
              <a:rPr lang="it-IT" sz="2400" b="1" dirty="0">
                <a:solidFill>
                  <a:srgbClr val="E97132"/>
                </a:solidFill>
              </a:rPr>
              <a:t>matrice di controllo: </a:t>
            </a:r>
            <a:r>
              <a:rPr lang="it-IT" sz="2400" dirty="0">
                <a:solidFill>
                  <a:srgbClr val="1A2533"/>
                </a:solidFill>
              </a:rPr>
              <a:t>segni casuali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7EB3C7D-D0B1-F7A6-7830-F15EA8D5F6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85"/>
          <a:stretch>
            <a:fillRect/>
          </a:stretch>
        </p:blipFill>
        <p:spPr>
          <a:xfrm>
            <a:off x="457200" y="2489200"/>
            <a:ext cx="11277600" cy="3600450"/>
          </a:xfrm>
          <a:prstGeom prst="rect">
            <a:avLst/>
          </a:prstGeom>
        </p:spPr>
      </p:pic>
      <p:sp>
        <p:nvSpPr>
          <p:cNvPr id="5" name="PageNumber">
            <a:extLst>
              <a:ext uri="{FF2B5EF4-FFF2-40B4-BE49-F238E27FC236}">
                <a16:creationId xmlns:a16="http://schemas.microsoft.com/office/drawing/2014/main" id="{F551279A-A611-4903-8828-577FDD06766D}"/>
              </a:ext>
            </a:extLst>
          </p:cNvPr>
          <p:cNvSpPr txBox="1"/>
          <p:nvPr/>
        </p:nvSpPr>
        <p:spPr>
          <a:xfrm>
            <a:off x="10871200" y="6451600"/>
            <a:ext cx="8636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it-IT">
                <a:solidFill>
                  <a:srgbClr val="1A253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624359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9E3F82-10B7-780D-3DED-8BC2A3255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400"/>
            <a:ext cx="10515600" cy="889000"/>
          </a:xfrm>
        </p:spPr>
        <p:txBody>
          <a:bodyPr>
            <a:normAutofit/>
          </a:bodyPr>
          <a:lstStyle/>
          <a:p>
            <a:pPr algn="l"/>
            <a:r>
              <a:rPr lang="it-IT" sz="3200" b="1" dirty="0"/>
              <a:t>Fatto 4 · struttura gerarchica a blocchi settoriali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15B1EBF-4A7D-4B77-A8FD-1E684A5E88FB}"/>
              </a:ext>
            </a:extLst>
          </p:cNvPr>
          <p:cNvSpPr txBox="1"/>
          <p:nvPr/>
        </p:nvSpPr>
        <p:spPr>
          <a:xfrm>
            <a:off x="838200" y="1244600"/>
            <a:ext cx="105156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it-IT" sz="2400" b="1" dirty="0">
                <a:solidFill>
                  <a:srgbClr val="156082"/>
                </a:solidFill>
              </a:rPr>
              <a:t>mercato reale: </a:t>
            </a:r>
            <a:r>
              <a:rPr lang="it-IT" sz="2400" dirty="0">
                <a:solidFill>
                  <a:srgbClr val="1A2533"/>
                </a:solidFill>
              </a:rPr>
              <a:t>blocchi settoriali compatti</a:t>
            </a:r>
          </a:p>
          <a:p>
            <a:pPr algn="l">
              <a:buNone/>
            </a:pPr>
            <a:r>
              <a:rPr lang="it-IT" sz="2400" b="1" dirty="0">
                <a:solidFill>
                  <a:srgbClr val="E97132"/>
                </a:solidFill>
              </a:rPr>
              <a:t>matrice di controllo: </a:t>
            </a:r>
            <a:r>
              <a:rPr lang="it-IT" sz="2400" dirty="0">
                <a:solidFill>
                  <a:srgbClr val="1A2533"/>
                </a:solidFill>
              </a:rPr>
              <a:t>nessuna struttura gerarchica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C4A15B5-1630-2D6C-CBDF-F5CC897443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83"/>
          <a:stretch>
            <a:fillRect/>
          </a:stretch>
        </p:blipFill>
        <p:spPr>
          <a:xfrm>
            <a:off x="1816225" y="2108436"/>
            <a:ext cx="8559549" cy="4604285"/>
          </a:xfrm>
          <a:prstGeom prst="rect">
            <a:avLst/>
          </a:prstGeom>
        </p:spPr>
      </p:pic>
      <p:sp>
        <p:nvSpPr>
          <p:cNvPr id="4" name="PageNumber">
            <a:extLst>
              <a:ext uri="{FF2B5EF4-FFF2-40B4-BE49-F238E27FC236}">
                <a16:creationId xmlns:a16="http://schemas.microsoft.com/office/drawing/2014/main" id="{FBD9FBD3-6517-4975-BDE9-118309D39177}"/>
              </a:ext>
            </a:extLst>
          </p:cNvPr>
          <p:cNvSpPr txBox="1"/>
          <p:nvPr/>
        </p:nvSpPr>
        <p:spPr>
          <a:xfrm>
            <a:off x="10871200" y="6451600"/>
            <a:ext cx="8636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it-IT">
                <a:solidFill>
                  <a:srgbClr val="1A253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14265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91403C-3EEC-C9BF-A29B-D5F0FE4FB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400"/>
            <a:ext cx="10515600" cy="889000"/>
          </a:xfrm>
        </p:spPr>
        <p:txBody>
          <a:bodyPr>
            <a:normAutofit/>
          </a:bodyPr>
          <a:lstStyle/>
          <a:p>
            <a:pPr algn="l"/>
            <a:r>
              <a:rPr lang="it-IT" sz="3200" b="1" dirty="0"/>
              <a:t>Fatto 5 · minimum spanning tree invariante di scala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B6BE808-C2C0-4706-AC48-84C6F53CD340}"/>
              </a:ext>
            </a:extLst>
          </p:cNvPr>
          <p:cNvSpPr txBox="1"/>
          <p:nvPr/>
        </p:nvSpPr>
        <p:spPr>
          <a:xfrm>
            <a:off x="838200" y="1244600"/>
            <a:ext cx="105156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it-IT" sz="2400" b="1" dirty="0">
                <a:solidFill>
                  <a:srgbClr val="156082"/>
                </a:solidFill>
              </a:rPr>
              <a:t>mercato reale: </a:t>
            </a:r>
            <a:r>
              <a:rPr lang="it-IT" sz="2400" dirty="0">
                <a:solidFill>
                  <a:srgbClr val="1A2533"/>
                </a:solidFill>
              </a:rPr>
              <a:t>gradi a legge di potenza</a:t>
            </a:r>
          </a:p>
          <a:p>
            <a:pPr algn="l">
              <a:buNone/>
            </a:pPr>
            <a:r>
              <a:rPr lang="it-IT" sz="2400" b="1" dirty="0">
                <a:solidFill>
                  <a:srgbClr val="E97132"/>
                </a:solidFill>
              </a:rPr>
              <a:t>matrice di controllo: </a:t>
            </a:r>
            <a:r>
              <a:rPr lang="it-IT" sz="2400" dirty="0">
                <a:solidFill>
                  <a:srgbClr val="1A2533"/>
                </a:solidFill>
              </a:rPr>
              <a:t>nessuna legge di potenza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A99561A-D80A-61DD-37DC-E786D14817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83"/>
          <a:stretch>
            <a:fillRect/>
          </a:stretch>
        </p:blipFill>
        <p:spPr>
          <a:xfrm>
            <a:off x="771613" y="2406271"/>
            <a:ext cx="10648773" cy="3665635"/>
          </a:xfrm>
          <a:prstGeom prst="rect">
            <a:avLst/>
          </a:prstGeom>
        </p:spPr>
      </p:pic>
      <p:sp>
        <p:nvSpPr>
          <p:cNvPr id="5" name="PageNumber">
            <a:extLst>
              <a:ext uri="{FF2B5EF4-FFF2-40B4-BE49-F238E27FC236}">
                <a16:creationId xmlns:a16="http://schemas.microsoft.com/office/drawing/2014/main" id="{5E9D5F1D-A304-45A3-9EBC-99EBE3267731}"/>
              </a:ext>
            </a:extLst>
          </p:cNvPr>
          <p:cNvSpPr txBox="1"/>
          <p:nvPr/>
        </p:nvSpPr>
        <p:spPr>
          <a:xfrm>
            <a:off x="10871200" y="6451600"/>
            <a:ext cx="8636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it-IT">
                <a:solidFill>
                  <a:srgbClr val="1A253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19784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19174E-B48C-B87C-DA5E-EDDBDE795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79400"/>
            <a:ext cx="11023600" cy="889000"/>
          </a:xfrm>
        </p:spPr>
        <p:txBody>
          <a:bodyPr>
            <a:normAutofit/>
          </a:bodyPr>
          <a:lstStyle/>
          <a:p>
            <a:pPr algn="l"/>
            <a:r>
              <a:rPr lang="it-IT" sz="3200" b="1" dirty="0"/>
              <a:t>Il dataset e il pre-processing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76035FEC-7717-4772-8892-0643BF61EAFC}"/>
              </a:ext>
            </a:extLst>
          </p:cNvPr>
          <p:cNvSpPr/>
          <p:nvPr/>
        </p:nvSpPr>
        <p:spPr>
          <a:xfrm>
            <a:off x="584200" y="3378200"/>
            <a:ext cx="11023600" cy="2870200"/>
          </a:xfrm>
          <a:prstGeom prst="roundRect">
            <a:avLst/>
          </a:prstGeom>
          <a:solidFill>
            <a:srgbClr val="DEEB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tIns="114300" rtlCol="0" anchor="t" anchorCtr="0"/>
          <a:lstStyle/>
          <a:p>
            <a:pPr>
              <a:spcAft>
                <a:spcPts val="400"/>
              </a:spcAft>
              <a:buNone/>
            </a:pPr>
            <a:r>
              <a:rPr lang="it-IT" sz="2000" b="1" dirty="0">
                <a:solidFill>
                  <a:srgbClr val="156082"/>
                </a:solidFill>
              </a:rPr>
              <a:t>dalla matrice di correlazione al fattore di Cholesky</a:t>
            </a:r>
          </a:p>
        </p:txBody>
      </p:sp>
      <p:sp>
        <p:nvSpPr>
          <p:cNvPr id="246" name="g">
            <a:extLst>
              <a:ext uri="{FF2B5EF4-FFF2-40B4-BE49-F238E27FC236}">
                <a16:creationId xmlns:a16="http://schemas.microsoft.com/office/drawing/2014/main" id="{37C8B337-33FA-452F-BB56-B5F2F77DE960}"/>
              </a:ext>
            </a:extLst>
          </p:cNvPr>
          <p:cNvSpPr/>
          <p:nvPr/>
        </p:nvSpPr>
        <p:spPr>
          <a:xfrm>
            <a:off x="723900" y="44704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47" name="g">
            <a:extLst>
              <a:ext uri="{FF2B5EF4-FFF2-40B4-BE49-F238E27FC236}">
                <a16:creationId xmlns:a16="http://schemas.microsoft.com/office/drawing/2014/main" id="{F71F18CD-3443-4997-8383-BC58A1AD48C8}"/>
              </a:ext>
            </a:extLst>
          </p:cNvPr>
          <p:cNvSpPr/>
          <p:nvPr/>
        </p:nvSpPr>
        <p:spPr>
          <a:xfrm>
            <a:off x="889000" y="44704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48" name="g">
            <a:extLst>
              <a:ext uri="{FF2B5EF4-FFF2-40B4-BE49-F238E27FC236}">
                <a16:creationId xmlns:a16="http://schemas.microsoft.com/office/drawing/2014/main" id="{3DEC01AF-BD65-4F35-A025-D2C7F45ADB14}"/>
              </a:ext>
            </a:extLst>
          </p:cNvPr>
          <p:cNvSpPr/>
          <p:nvPr/>
        </p:nvSpPr>
        <p:spPr>
          <a:xfrm>
            <a:off x="1054100" y="44704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49" name="g">
            <a:extLst>
              <a:ext uri="{FF2B5EF4-FFF2-40B4-BE49-F238E27FC236}">
                <a16:creationId xmlns:a16="http://schemas.microsoft.com/office/drawing/2014/main" id="{D3FCF42E-6849-4B0A-AE49-DA2E6BFF1EC4}"/>
              </a:ext>
            </a:extLst>
          </p:cNvPr>
          <p:cNvSpPr/>
          <p:nvPr/>
        </p:nvSpPr>
        <p:spPr>
          <a:xfrm>
            <a:off x="1219200" y="44704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0" name="g">
            <a:extLst>
              <a:ext uri="{FF2B5EF4-FFF2-40B4-BE49-F238E27FC236}">
                <a16:creationId xmlns:a16="http://schemas.microsoft.com/office/drawing/2014/main" id="{9FAE6DF1-4837-4750-A8BA-421EB4E522A0}"/>
              </a:ext>
            </a:extLst>
          </p:cNvPr>
          <p:cNvSpPr/>
          <p:nvPr/>
        </p:nvSpPr>
        <p:spPr>
          <a:xfrm>
            <a:off x="723900" y="46355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1" name="g">
            <a:extLst>
              <a:ext uri="{FF2B5EF4-FFF2-40B4-BE49-F238E27FC236}">
                <a16:creationId xmlns:a16="http://schemas.microsoft.com/office/drawing/2014/main" id="{D4B68031-638A-4078-A569-3FF7A48B7AAB}"/>
              </a:ext>
            </a:extLst>
          </p:cNvPr>
          <p:cNvSpPr/>
          <p:nvPr/>
        </p:nvSpPr>
        <p:spPr>
          <a:xfrm>
            <a:off x="889000" y="46355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2" name="g">
            <a:extLst>
              <a:ext uri="{FF2B5EF4-FFF2-40B4-BE49-F238E27FC236}">
                <a16:creationId xmlns:a16="http://schemas.microsoft.com/office/drawing/2014/main" id="{D48A1B0A-5D14-45F6-B3FC-DE238C859C57}"/>
              </a:ext>
            </a:extLst>
          </p:cNvPr>
          <p:cNvSpPr/>
          <p:nvPr/>
        </p:nvSpPr>
        <p:spPr>
          <a:xfrm>
            <a:off x="1054100" y="46355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3" name="g">
            <a:extLst>
              <a:ext uri="{FF2B5EF4-FFF2-40B4-BE49-F238E27FC236}">
                <a16:creationId xmlns:a16="http://schemas.microsoft.com/office/drawing/2014/main" id="{BBCF43D4-DBFD-4FF0-B29D-92DBB7577962}"/>
              </a:ext>
            </a:extLst>
          </p:cNvPr>
          <p:cNvSpPr/>
          <p:nvPr/>
        </p:nvSpPr>
        <p:spPr>
          <a:xfrm>
            <a:off x="1219200" y="46355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4" name="g">
            <a:extLst>
              <a:ext uri="{FF2B5EF4-FFF2-40B4-BE49-F238E27FC236}">
                <a16:creationId xmlns:a16="http://schemas.microsoft.com/office/drawing/2014/main" id="{FFABCD7F-0767-4A04-8642-4B4D4504544D}"/>
              </a:ext>
            </a:extLst>
          </p:cNvPr>
          <p:cNvSpPr/>
          <p:nvPr/>
        </p:nvSpPr>
        <p:spPr>
          <a:xfrm>
            <a:off x="723900" y="48006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5" name="g">
            <a:extLst>
              <a:ext uri="{FF2B5EF4-FFF2-40B4-BE49-F238E27FC236}">
                <a16:creationId xmlns:a16="http://schemas.microsoft.com/office/drawing/2014/main" id="{E822CA4D-FC3F-4145-89FC-DCA090CA2E04}"/>
              </a:ext>
            </a:extLst>
          </p:cNvPr>
          <p:cNvSpPr/>
          <p:nvPr/>
        </p:nvSpPr>
        <p:spPr>
          <a:xfrm>
            <a:off x="889000" y="48006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6" name="g">
            <a:extLst>
              <a:ext uri="{FF2B5EF4-FFF2-40B4-BE49-F238E27FC236}">
                <a16:creationId xmlns:a16="http://schemas.microsoft.com/office/drawing/2014/main" id="{854F999C-B520-462B-BBAC-81A01619E911}"/>
              </a:ext>
            </a:extLst>
          </p:cNvPr>
          <p:cNvSpPr/>
          <p:nvPr/>
        </p:nvSpPr>
        <p:spPr>
          <a:xfrm>
            <a:off x="1054100" y="48006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7" name="g">
            <a:extLst>
              <a:ext uri="{FF2B5EF4-FFF2-40B4-BE49-F238E27FC236}">
                <a16:creationId xmlns:a16="http://schemas.microsoft.com/office/drawing/2014/main" id="{55F815CC-6A4C-4A82-95BE-6C4868133849}"/>
              </a:ext>
            </a:extLst>
          </p:cNvPr>
          <p:cNvSpPr/>
          <p:nvPr/>
        </p:nvSpPr>
        <p:spPr>
          <a:xfrm>
            <a:off x="1219200" y="48006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8" name="g">
            <a:extLst>
              <a:ext uri="{FF2B5EF4-FFF2-40B4-BE49-F238E27FC236}">
                <a16:creationId xmlns:a16="http://schemas.microsoft.com/office/drawing/2014/main" id="{1342DF4A-2A09-4BE2-B265-DC7E0DED0646}"/>
              </a:ext>
            </a:extLst>
          </p:cNvPr>
          <p:cNvSpPr/>
          <p:nvPr/>
        </p:nvSpPr>
        <p:spPr>
          <a:xfrm>
            <a:off x="723900" y="49657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59" name="g">
            <a:extLst>
              <a:ext uri="{FF2B5EF4-FFF2-40B4-BE49-F238E27FC236}">
                <a16:creationId xmlns:a16="http://schemas.microsoft.com/office/drawing/2014/main" id="{D0CD928C-9B28-4454-815B-8423837D39FD}"/>
              </a:ext>
            </a:extLst>
          </p:cNvPr>
          <p:cNvSpPr/>
          <p:nvPr/>
        </p:nvSpPr>
        <p:spPr>
          <a:xfrm>
            <a:off x="889000" y="49657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0" name="g">
            <a:extLst>
              <a:ext uri="{FF2B5EF4-FFF2-40B4-BE49-F238E27FC236}">
                <a16:creationId xmlns:a16="http://schemas.microsoft.com/office/drawing/2014/main" id="{D11C3959-BC8A-4498-B238-1881F29D649F}"/>
              </a:ext>
            </a:extLst>
          </p:cNvPr>
          <p:cNvSpPr/>
          <p:nvPr/>
        </p:nvSpPr>
        <p:spPr>
          <a:xfrm>
            <a:off x="1054100" y="49657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1" name="g">
            <a:extLst>
              <a:ext uri="{FF2B5EF4-FFF2-40B4-BE49-F238E27FC236}">
                <a16:creationId xmlns:a16="http://schemas.microsoft.com/office/drawing/2014/main" id="{E5DCF4D3-5E5C-40AC-8F10-E977A9B0B6BC}"/>
              </a:ext>
            </a:extLst>
          </p:cNvPr>
          <p:cNvSpPr/>
          <p:nvPr/>
        </p:nvSpPr>
        <p:spPr>
          <a:xfrm>
            <a:off x="1219200" y="4965700"/>
            <a:ext cx="146050" cy="146050"/>
          </a:xfrm>
          <a:prstGeom prst="rect">
            <a:avLst/>
          </a:prstGeom>
          <a:solidFill>
            <a:srgbClr val="9AA5B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2" name="g">
            <a:extLst>
              <a:ext uri="{FF2B5EF4-FFF2-40B4-BE49-F238E27FC236}">
                <a16:creationId xmlns:a16="http://schemas.microsoft.com/office/drawing/2014/main" id="{1D75AB30-9981-4C41-93E8-C97937B4D4B0}"/>
              </a:ext>
            </a:extLst>
          </p:cNvPr>
          <p:cNvSpPr/>
          <p:nvPr/>
        </p:nvSpPr>
        <p:spPr>
          <a:xfrm>
            <a:off x="1892300" y="44704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3" name="g">
            <a:extLst>
              <a:ext uri="{FF2B5EF4-FFF2-40B4-BE49-F238E27FC236}">
                <a16:creationId xmlns:a16="http://schemas.microsoft.com/office/drawing/2014/main" id="{07B673B2-1DEA-435B-BA9D-ED83CA00AB44}"/>
              </a:ext>
            </a:extLst>
          </p:cNvPr>
          <p:cNvSpPr/>
          <p:nvPr/>
        </p:nvSpPr>
        <p:spPr>
          <a:xfrm>
            <a:off x="2057400" y="4470400"/>
            <a:ext cx="146050" cy="146050"/>
          </a:xfrm>
          <a:prstGeom prst="rect">
            <a:avLst/>
          </a:prstGeom>
          <a:solidFill>
            <a:srgbClr val="E4EA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4" name="g">
            <a:extLst>
              <a:ext uri="{FF2B5EF4-FFF2-40B4-BE49-F238E27FC236}">
                <a16:creationId xmlns:a16="http://schemas.microsoft.com/office/drawing/2014/main" id="{016255E3-C62C-4A13-8CA3-096899D6DFBD}"/>
              </a:ext>
            </a:extLst>
          </p:cNvPr>
          <p:cNvSpPr/>
          <p:nvPr/>
        </p:nvSpPr>
        <p:spPr>
          <a:xfrm>
            <a:off x="2222500" y="4470400"/>
            <a:ext cx="146050" cy="146050"/>
          </a:xfrm>
          <a:prstGeom prst="rect">
            <a:avLst/>
          </a:prstGeom>
          <a:solidFill>
            <a:srgbClr val="E4EA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5" name="g">
            <a:extLst>
              <a:ext uri="{FF2B5EF4-FFF2-40B4-BE49-F238E27FC236}">
                <a16:creationId xmlns:a16="http://schemas.microsoft.com/office/drawing/2014/main" id="{423B7C61-BDF0-481A-93AF-42023E08081A}"/>
              </a:ext>
            </a:extLst>
          </p:cNvPr>
          <p:cNvSpPr/>
          <p:nvPr/>
        </p:nvSpPr>
        <p:spPr>
          <a:xfrm>
            <a:off x="2387600" y="4470400"/>
            <a:ext cx="146050" cy="146050"/>
          </a:xfrm>
          <a:prstGeom prst="rect">
            <a:avLst/>
          </a:prstGeom>
          <a:solidFill>
            <a:srgbClr val="E4EA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6" name="g">
            <a:extLst>
              <a:ext uri="{FF2B5EF4-FFF2-40B4-BE49-F238E27FC236}">
                <a16:creationId xmlns:a16="http://schemas.microsoft.com/office/drawing/2014/main" id="{BD915265-0C2C-4006-B749-059D979B38BF}"/>
              </a:ext>
            </a:extLst>
          </p:cNvPr>
          <p:cNvSpPr/>
          <p:nvPr/>
        </p:nvSpPr>
        <p:spPr>
          <a:xfrm>
            <a:off x="1892300" y="46355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7" name="g">
            <a:extLst>
              <a:ext uri="{FF2B5EF4-FFF2-40B4-BE49-F238E27FC236}">
                <a16:creationId xmlns:a16="http://schemas.microsoft.com/office/drawing/2014/main" id="{7F80E335-97D8-4D7B-A215-FAEE66754C34}"/>
              </a:ext>
            </a:extLst>
          </p:cNvPr>
          <p:cNvSpPr/>
          <p:nvPr/>
        </p:nvSpPr>
        <p:spPr>
          <a:xfrm>
            <a:off x="2057400" y="46355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8" name="g">
            <a:extLst>
              <a:ext uri="{FF2B5EF4-FFF2-40B4-BE49-F238E27FC236}">
                <a16:creationId xmlns:a16="http://schemas.microsoft.com/office/drawing/2014/main" id="{FCDA8F9C-E749-4C5D-8F7C-C7D3CBCDC9A3}"/>
              </a:ext>
            </a:extLst>
          </p:cNvPr>
          <p:cNvSpPr/>
          <p:nvPr/>
        </p:nvSpPr>
        <p:spPr>
          <a:xfrm>
            <a:off x="2222500" y="4635500"/>
            <a:ext cx="146050" cy="146050"/>
          </a:xfrm>
          <a:prstGeom prst="rect">
            <a:avLst/>
          </a:prstGeom>
          <a:solidFill>
            <a:srgbClr val="E4EA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69" name="g">
            <a:extLst>
              <a:ext uri="{FF2B5EF4-FFF2-40B4-BE49-F238E27FC236}">
                <a16:creationId xmlns:a16="http://schemas.microsoft.com/office/drawing/2014/main" id="{7A1DD55F-2FA4-43C7-AFD5-60B44BA15E3B}"/>
              </a:ext>
            </a:extLst>
          </p:cNvPr>
          <p:cNvSpPr/>
          <p:nvPr/>
        </p:nvSpPr>
        <p:spPr>
          <a:xfrm>
            <a:off x="2387600" y="4635500"/>
            <a:ext cx="146050" cy="146050"/>
          </a:xfrm>
          <a:prstGeom prst="rect">
            <a:avLst/>
          </a:prstGeom>
          <a:solidFill>
            <a:srgbClr val="E4EA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0" name="g">
            <a:extLst>
              <a:ext uri="{FF2B5EF4-FFF2-40B4-BE49-F238E27FC236}">
                <a16:creationId xmlns:a16="http://schemas.microsoft.com/office/drawing/2014/main" id="{EFF860D8-92EF-497C-B699-F9BD7F3CB193}"/>
              </a:ext>
            </a:extLst>
          </p:cNvPr>
          <p:cNvSpPr/>
          <p:nvPr/>
        </p:nvSpPr>
        <p:spPr>
          <a:xfrm>
            <a:off x="1892300" y="48006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1" name="g">
            <a:extLst>
              <a:ext uri="{FF2B5EF4-FFF2-40B4-BE49-F238E27FC236}">
                <a16:creationId xmlns:a16="http://schemas.microsoft.com/office/drawing/2014/main" id="{1DE862F0-BC48-437D-8F4F-61B5F1A6D442}"/>
              </a:ext>
            </a:extLst>
          </p:cNvPr>
          <p:cNvSpPr/>
          <p:nvPr/>
        </p:nvSpPr>
        <p:spPr>
          <a:xfrm>
            <a:off x="2057400" y="48006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2" name="g">
            <a:extLst>
              <a:ext uri="{FF2B5EF4-FFF2-40B4-BE49-F238E27FC236}">
                <a16:creationId xmlns:a16="http://schemas.microsoft.com/office/drawing/2014/main" id="{3544777F-7F69-466F-B8C2-9C7FB39BE24E}"/>
              </a:ext>
            </a:extLst>
          </p:cNvPr>
          <p:cNvSpPr/>
          <p:nvPr/>
        </p:nvSpPr>
        <p:spPr>
          <a:xfrm>
            <a:off x="2222500" y="48006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3" name="g">
            <a:extLst>
              <a:ext uri="{FF2B5EF4-FFF2-40B4-BE49-F238E27FC236}">
                <a16:creationId xmlns:a16="http://schemas.microsoft.com/office/drawing/2014/main" id="{9A8D3909-025B-4F39-845B-E5934D713903}"/>
              </a:ext>
            </a:extLst>
          </p:cNvPr>
          <p:cNvSpPr/>
          <p:nvPr/>
        </p:nvSpPr>
        <p:spPr>
          <a:xfrm>
            <a:off x="2387600" y="4800600"/>
            <a:ext cx="146050" cy="146050"/>
          </a:xfrm>
          <a:prstGeom prst="rect">
            <a:avLst/>
          </a:prstGeom>
          <a:solidFill>
            <a:srgbClr val="E4EA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4" name="g">
            <a:extLst>
              <a:ext uri="{FF2B5EF4-FFF2-40B4-BE49-F238E27FC236}">
                <a16:creationId xmlns:a16="http://schemas.microsoft.com/office/drawing/2014/main" id="{EECB8CFC-39CA-4406-ADD0-E761E9E79E87}"/>
              </a:ext>
            </a:extLst>
          </p:cNvPr>
          <p:cNvSpPr/>
          <p:nvPr/>
        </p:nvSpPr>
        <p:spPr>
          <a:xfrm>
            <a:off x="1892300" y="49657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5" name="g">
            <a:extLst>
              <a:ext uri="{FF2B5EF4-FFF2-40B4-BE49-F238E27FC236}">
                <a16:creationId xmlns:a16="http://schemas.microsoft.com/office/drawing/2014/main" id="{A5E50BEB-4B12-4824-80DC-7CABD220A326}"/>
              </a:ext>
            </a:extLst>
          </p:cNvPr>
          <p:cNvSpPr/>
          <p:nvPr/>
        </p:nvSpPr>
        <p:spPr>
          <a:xfrm>
            <a:off x="2057400" y="49657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6" name="g">
            <a:extLst>
              <a:ext uri="{FF2B5EF4-FFF2-40B4-BE49-F238E27FC236}">
                <a16:creationId xmlns:a16="http://schemas.microsoft.com/office/drawing/2014/main" id="{061B974E-4EC3-4A59-8088-31D2C5A23C69}"/>
              </a:ext>
            </a:extLst>
          </p:cNvPr>
          <p:cNvSpPr/>
          <p:nvPr/>
        </p:nvSpPr>
        <p:spPr>
          <a:xfrm>
            <a:off x="2222500" y="49657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7" name="g">
            <a:extLst>
              <a:ext uri="{FF2B5EF4-FFF2-40B4-BE49-F238E27FC236}">
                <a16:creationId xmlns:a16="http://schemas.microsoft.com/office/drawing/2014/main" id="{CC0235EE-5A97-4392-8C33-ED34A1986A7B}"/>
              </a:ext>
            </a:extLst>
          </p:cNvPr>
          <p:cNvSpPr/>
          <p:nvPr/>
        </p:nvSpPr>
        <p:spPr>
          <a:xfrm>
            <a:off x="2387600" y="49657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8" name="v">
            <a:extLst>
              <a:ext uri="{FF2B5EF4-FFF2-40B4-BE49-F238E27FC236}">
                <a16:creationId xmlns:a16="http://schemas.microsoft.com/office/drawing/2014/main" id="{6B9CA104-2769-44DF-951B-0E3340718820}"/>
              </a:ext>
            </a:extLst>
          </p:cNvPr>
          <p:cNvSpPr/>
          <p:nvPr/>
        </p:nvSpPr>
        <p:spPr>
          <a:xfrm>
            <a:off x="3060700" y="47117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79" name="v">
            <a:extLst>
              <a:ext uri="{FF2B5EF4-FFF2-40B4-BE49-F238E27FC236}">
                <a16:creationId xmlns:a16="http://schemas.microsoft.com/office/drawing/2014/main" id="{04391CAB-B12B-4C1A-92B7-B37E5147D661}"/>
              </a:ext>
            </a:extLst>
          </p:cNvPr>
          <p:cNvSpPr/>
          <p:nvPr/>
        </p:nvSpPr>
        <p:spPr>
          <a:xfrm>
            <a:off x="3225800" y="47117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0" name="v">
            <a:extLst>
              <a:ext uri="{FF2B5EF4-FFF2-40B4-BE49-F238E27FC236}">
                <a16:creationId xmlns:a16="http://schemas.microsoft.com/office/drawing/2014/main" id="{38E2C509-59CF-4F4A-9F81-A977512D8FFA}"/>
              </a:ext>
            </a:extLst>
          </p:cNvPr>
          <p:cNvSpPr/>
          <p:nvPr/>
        </p:nvSpPr>
        <p:spPr>
          <a:xfrm>
            <a:off x="3390900" y="47117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1" name="v">
            <a:extLst>
              <a:ext uri="{FF2B5EF4-FFF2-40B4-BE49-F238E27FC236}">
                <a16:creationId xmlns:a16="http://schemas.microsoft.com/office/drawing/2014/main" id="{1DD1E6E1-8412-4511-958F-466BC8D38E4F}"/>
              </a:ext>
            </a:extLst>
          </p:cNvPr>
          <p:cNvSpPr/>
          <p:nvPr/>
        </p:nvSpPr>
        <p:spPr>
          <a:xfrm>
            <a:off x="3556000" y="47117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2" name="v">
            <a:extLst>
              <a:ext uri="{FF2B5EF4-FFF2-40B4-BE49-F238E27FC236}">
                <a16:creationId xmlns:a16="http://schemas.microsoft.com/office/drawing/2014/main" id="{CD018697-A07E-4785-92BF-8BA22E85BA3F}"/>
              </a:ext>
            </a:extLst>
          </p:cNvPr>
          <p:cNvSpPr/>
          <p:nvPr/>
        </p:nvSpPr>
        <p:spPr>
          <a:xfrm>
            <a:off x="3721100" y="47117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3" name="v">
            <a:extLst>
              <a:ext uri="{FF2B5EF4-FFF2-40B4-BE49-F238E27FC236}">
                <a16:creationId xmlns:a16="http://schemas.microsoft.com/office/drawing/2014/main" id="{98129082-AA9D-41B5-B5E8-DF2184790D6B}"/>
              </a:ext>
            </a:extLst>
          </p:cNvPr>
          <p:cNvSpPr/>
          <p:nvPr/>
        </p:nvSpPr>
        <p:spPr>
          <a:xfrm>
            <a:off x="3886200" y="47117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4" name="v">
            <a:extLst>
              <a:ext uri="{FF2B5EF4-FFF2-40B4-BE49-F238E27FC236}">
                <a16:creationId xmlns:a16="http://schemas.microsoft.com/office/drawing/2014/main" id="{D1FB65AD-FDA2-4A1F-8E1D-FB0833F6B43E}"/>
              </a:ext>
            </a:extLst>
          </p:cNvPr>
          <p:cNvSpPr/>
          <p:nvPr/>
        </p:nvSpPr>
        <p:spPr>
          <a:xfrm>
            <a:off x="4051300" y="47117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5" name="v">
            <a:extLst>
              <a:ext uri="{FF2B5EF4-FFF2-40B4-BE49-F238E27FC236}">
                <a16:creationId xmlns:a16="http://schemas.microsoft.com/office/drawing/2014/main" id="{D148F240-9349-4A14-BB9B-6337CF3F65D2}"/>
              </a:ext>
            </a:extLst>
          </p:cNvPr>
          <p:cNvSpPr/>
          <p:nvPr/>
        </p:nvSpPr>
        <p:spPr>
          <a:xfrm>
            <a:off x="4216400" y="47117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6" name="v">
            <a:extLst>
              <a:ext uri="{FF2B5EF4-FFF2-40B4-BE49-F238E27FC236}">
                <a16:creationId xmlns:a16="http://schemas.microsoft.com/office/drawing/2014/main" id="{9273AA20-D5A9-409F-B1FF-9D9D1CC0F336}"/>
              </a:ext>
            </a:extLst>
          </p:cNvPr>
          <p:cNvSpPr/>
          <p:nvPr/>
        </p:nvSpPr>
        <p:spPr>
          <a:xfrm>
            <a:off x="4381500" y="47117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7" name="v">
            <a:extLst>
              <a:ext uri="{FF2B5EF4-FFF2-40B4-BE49-F238E27FC236}">
                <a16:creationId xmlns:a16="http://schemas.microsoft.com/office/drawing/2014/main" id="{D111F0CA-471D-4E13-B4D5-7AA2603183C2}"/>
              </a:ext>
            </a:extLst>
          </p:cNvPr>
          <p:cNvSpPr/>
          <p:nvPr/>
        </p:nvSpPr>
        <p:spPr>
          <a:xfrm>
            <a:off x="4546600" y="4711700"/>
            <a:ext cx="146050" cy="14605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8" name="v">
            <a:extLst>
              <a:ext uri="{FF2B5EF4-FFF2-40B4-BE49-F238E27FC236}">
                <a16:creationId xmlns:a16="http://schemas.microsoft.com/office/drawing/2014/main" id="{C1AC6663-432E-4643-ACCD-D5F504647B89}"/>
              </a:ext>
            </a:extLst>
          </p:cNvPr>
          <p:cNvSpPr/>
          <p:nvPr/>
        </p:nvSpPr>
        <p:spPr>
          <a:xfrm>
            <a:off x="7378700" y="47117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89" name="v">
            <a:extLst>
              <a:ext uri="{FF2B5EF4-FFF2-40B4-BE49-F238E27FC236}">
                <a16:creationId xmlns:a16="http://schemas.microsoft.com/office/drawing/2014/main" id="{D7FDF15E-65BA-48BD-8F42-670642CD55CD}"/>
              </a:ext>
            </a:extLst>
          </p:cNvPr>
          <p:cNvSpPr/>
          <p:nvPr/>
        </p:nvSpPr>
        <p:spPr>
          <a:xfrm>
            <a:off x="7543800" y="47117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0" name="v">
            <a:extLst>
              <a:ext uri="{FF2B5EF4-FFF2-40B4-BE49-F238E27FC236}">
                <a16:creationId xmlns:a16="http://schemas.microsoft.com/office/drawing/2014/main" id="{089750D0-706B-43FA-9385-CDA42AEF52DD}"/>
              </a:ext>
            </a:extLst>
          </p:cNvPr>
          <p:cNvSpPr/>
          <p:nvPr/>
        </p:nvSpPr>
        <p:spPr>
          <a:xfrm>
            <a:off x="7708900" y="47117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1" name="v">
            <a:extLst>
              <a:ext uri="{FF2B5EF4-FFF2-40B4-BE49-F238E27FC236}">
                <a16:creationId xmlns:a16="http://schemas.microsoft.com/office/drawing/2014/main" id="{7D000234-7E5B-455F-AFFD-87635D15EBE4}"/>
              </a:ext>
            </a:extLst>
          </p:cNvPr>
          <p:cNvSpPr/>
          <p:nvPr/>
        </p:nvSpPr>
        <p:spPr>
          <a:xfrm>
            <a:off x="7874000" y="47117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2" name="v">
            <a:extLst>
              <a:ext uri="{FF2B5EF4-FFF2-40B4-BE49-F238E27FC236}">
                <a16:creationId xmlns:a16="http://schemas.microsoft.com/office/drawing/2014/main" id="{755DA1A3-E28F-48AB-9A0F-C53693F898EC}"/>
              </a:ext>
            </a:extLst>
          </p:cNvPr>
          <p:cNvSpPr/>
          <p:nvPr/>
        </p:nvSpPr>
        <p:spPr>
          <a:xfrm>
            <a:off x="8039100" y="47117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3" name="v">
            <a:extLst>
              <a:ext uri="{FF2B5EF4-FFF2-40B4-BE49-F238E27FC236}">
                <a16:creationId xmlns:a16="http://schemas.microsoft.com/office/drawing/2014/main" id="{5393C6CE-006A-4A1F-85D6-6F57A1C4AC32}"/>
              </a:ext>
            </a:extLst>
          </p:cNvPr>
          <p:cNvSpPr/>
          <p:nvPr/>
        </p:nvSpPr>
        <p:spPr>
          <a:xfrm>
            <a:off x="8204200" y="47117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4" name="v">
            <a:extLst>
              <a:ext uri="{FF2B5EF4-FFF2-40B4-BE49-F238E27FC236}">
                <a16:creationId xmlns:a16="http://schemas.microsoft.com/office/drawing/2014/main" id="{137ACF73-CB8A-4CD0-9E08-E76C5F1EBC5B}"/>
              </a:ext>
            </a:extLst>
          </p:cNvPr>
          <p:cNvSpPr/>
          <p:nvPr/>
        </p:nvSpPr>
        <p:spPr>
          <a:xfrm>
            <a:off x="8369300" y="47117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5" name="v">
            <a:extLst>
              <a:ext uri="{FF2B5EF4-FFF2-40B4-BE49-F238E27FC236}">
                <a16:creationId xmlns:a16="http://schemas.microsoft.com/office/drawing/2014/main" id="{B08CC724-77A4-4703-A592-8C0DDA67E107}"/>
              </a:ext>
            </a:extLst>
          </p:cNvPr>
          <p:cNvSpPr/>
          <p:nvPr/>
        </p:nvSpPr>
        <p:spPr>
          <a:xfrm>
            <a:off x="8534400" y="47117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6" name="v">
            <a:extLst>
              <a:ext uri="{FF2B5EF4-FFF2-40B4-BE49-F238E27FC236}">
                <a16:creationId xmlns:a16="http://schemas.microsoft.com/office/drawing/2014/main" id="{C66E19BE-2B30-410C-A1F0-C37C1977FD91}"/>
              </a:ext>
            </a:extLst>
          </p:cNvPr>
          <p:cNvSpPr/>
          <p:nvPr/>
        </p:nvSpPr>
        <p:spPr>
          <a:xfrm>
            <a:off x="8699500" y="47117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7" name="v">
            <a:extLst>
              <a:ext uri="{FF2B5EF4-FFF2-40B4-BE49-F238E27FC236}">
                <a16:creationId xmlns:a16="http://schemas.microsoft.com/office/drawing/2014/main" id="{1BE4275E-05D4-4B82-96F6-03A96B832D6F}"/>
              </a:ext>
            </a:extLst>
          </p:cNvPr>
          <p:cNvSpPr/>
          <p:nvPr/>
        </p:nvSpPr>
        <p:spPr>
          <a:xfrm>
            <a:off x="8864600" y="47117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8" name="g">
            <a:extLst>
              <a:ext uri="{FF2B5EF4-FFF2-40B4-BE49-F238E27FC236}">
                <a16:creationId xmlns:a16="http://schemas.microsoft.com/office/drawing/2014/main" id="{798699CD-C6D8-42CF-9DD8-C8BE51DC6C6B}"/>
              </a:ext>
            </a:extLst>
          </p:cNvPr>
          <p:cNvSpPr/>
          <p:nvPr/>
        </p:nvSpPr>
        <p:spPr>
          <a:xfrm>
            <a:off x="9537700" y="44704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299" name="g">
            <a:extLst>
              <a:ext uri="{FF2B5EF4-FFF2-40B4-BE49-F238E27FC236}">
                <a16:creationId xmlns:a16="http://schemas.microsoft.com/office/drawing/2014/main" id="{4CBC7A39-186E-43BC-8C71-9B450FE3413A}"/>
              </a:ext>
            </a:extLst>
          </p:cNvPr>
          <p:cNvSpPr/>
          <p:nvPr/>
        </p:nvSpPr>
        <p:spPr>
          <a:xfrm>
            <a:off x="9702800" y="4470400"/>
            <a:ext cx="146050" cy="146050"/>
          </a:xfrm>
          <a:prstGeom prst="rect">
            <a:avLst/>
          </a:prstGeom>
          <a:solidFill>
            <a:srgbClr val="FBE3D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0" name="g">
            <a:extLst>
              <a:ext uri="{FF2B5EF4-FFF2-40B4-BE49-F238E27FC236}">
                <a16:creationId xmlns:a16="http://schemas.microsoft.com/office/drawing/2014/main" id="{3B34DEA1-15CD-40F6-9BE6-37B83F308AC7}"/>
              </a:ext>
            </a:extLst>
          </p:cNvPr>
          <p:cNvSpPr/>
          <p:nvPr/>
        </p:nvSpPr>
        <p:spPr>
          <a:xfrm>
            <a:off x="9867900" y="4470400"/>
            <a:ext cx="146050" cy="146050"/>
          </a:xfrm>
          <a:prstGeom prst="rect">
            <a:avLst/>
          </a:prstGeom>
          <a:solidFill>
            <a:srgbClr val="FBE3D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1" name="g">
            <a:extLst>
              <a:ext uri="{FF2B5EF4-FFF2-40B4-BE49-F238E27FC236}">
                <a16:creationId xmlns:a16="http://schemas.microsoft.com/office/drawing/2014/main" id="{538C0CE5-0986-4CF4-BF90-8E149803FEB6}"/>
              </a:ext>
            </a:extLst>
          </p:cNvPr>
          <p:cNvSpPr/>
          <p:nvPr/>
        </p:nvSpPr>
        <p:spPr>
          <a:xfrm>
            <a:off x="10033000" y="4470400"/>
            <a:ext cx="146050" cy="146050"/>
          </a:xfrm>
          <a:prstGeom prst="rect">
            <a:avLst/>
          </a:prstGeom>
          <a:solidFill>
            <a:srgbClr val="FBE3D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2" name="g">
            <a:extLst>
              <a:ext uri="{FF2B5EF4-FFF2-40B4-BE49-F238E27FC236}">
                <a16:creationId xmlns:a16="http://schemas.microsoft.com/office/drawing/2014/main" id="{09C4ACE5-24E4-4C5A-A812-2D5D931E2403}"/>
              </a:ext>
            </a:extLst>
          </p:cNvPr>
          <p:cNvSpPr/>
          <p:nvPr/>
        </p:nvSpPr>
        <p:spPr>
          <a:xfrm>
            <a:off x="9537700" y="46355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3" name="g">
            <a:extLst>
              <a:ext uri="{FF2B5EF4-FFF2-40B4-BE49-F238E27FC236}">
                <a16:creationId xmlns:a16="http://schemas.microsoft.com/office/drawing/2014/main" id="{78DA5BED-76A7-4042-AD63-BBDB2BA73A03}"/>
              </a:ext>
            </a:extLst>
          </p:cNvPr>
          <p:cNvSpPr/>
          <p:nvPr/>
        </p:nvSpPr>
        <p:spPr>
          <a:xfrm>
            <a:off x="9702800" y="46355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4" name="g">
            <a:extLst>
              <a:ext uri="{FF2B5EF4-FFF2-40B4-BE49-F238E27FC236}">
                <a16:creationId xmlns:a16="http://schemas.microsoft.com/office/drawing/2014/main" id="{41476C40-832C-46E6-B375-8ECA2716B1F2}"/>
              </a:ext>
            </a:extLst>
          </p:cNvPr>
          <p:cNvSpPr/>
          <p:nvPr/>
        </p:nvSpPr>
        <p:spPr>
          <a:xfrm>
            <a:off x="9867900" y="4635500"/>
            <a:ext cx="146050" cy="146050"/>
          </a:xfrm>
          <a:prstGeom prst="rect">
            <a:avLst/>
          </a:prstGeom>
          <a:solidFill>
            <a:srgbClr val="FBE3D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5" name="g">
            <a:extLst>
              <a:ext uri="{FF2B5EF4-FFF2-40B4-BE49-F238E27FC236}">
                <a16:creationId xmlns:a16="http://schemas.microsoft.com/office/drawing/2014/main" id="{7631A3B4-17BE-44D3-8F7F-1AD8F5CA53D6}"/>
              </a:ext>
            </a:extLst>
          </p:cNvPr>
          <p:cNvSpPr/>
          <p:nvPr/>
        </p:nvSpPr>
        <p:spPr>
          <a:xfrm>
            <a:off x="10033000" y="4635500"/>
            <a:ext cx="146050" cy="146050"/>
          </a:xfrm>
          <a:prstGeom prst="rect">
            <a:avLst/>
          </a:prstGeom>
          <a:solidFill>
            <a:srgbClr val="FBE3D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6" name="g">
            <a:extLst>
              <a:ext uri="{FF2B5EF4-FFF2-40B4-BE49-F238E27FC236}">
                <a16:creationId xmlns:a16="http://schemas.microsoft.com/office/drawing/2014/main" id="{C050C8A9-9323-4C40-AEF5-708389F67DFD}"/>
              </a:ext>
            </a:extLst>
          </p:cNvPr>
          <p:cNvSpPr/>
          <p:nvPr/>
        </p:nvSpPr>
        <p:spPr>
          <a:xfrm>
            <a:off x="9537700" y="48006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7" name="g">
            <a:extLst>
              <a:ext uri="{FF2B5EF4-FFF2-40B4-BE49-F238E27FC236}">
                <a16:creationId xmlns:a16="http://schemas.microsoft.com/office/drawing/2014/main" id="{D3361677-BD2B-4832-A4B4-76A5889FEF74}"/>
              </a:ext>
            </a:extLst>
          </p:cNvPr>
          <p:cNvSpPr/>
          <p:nvPr/>
        </p:nvSpPr>
        <p:spPr>
          <a:xfrm>
            <a:off x="9702800" y="48006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8" name="g">
            <a:extLst>
              <a:ext uri="{FF2B5EF4-FFF2-40B4-BE49-F238E27FC236}">
                <a16:creationId xmlns:a16="http://schemas.microsoft.com/office/drawing/2014/main" id="{A3C41E15-2948-4950-9303-D949A3C38024}"/>
              </a:ext>
            </a:extLst>
          </p:cNvPr>
          <p:cNvSpPr/>
          <p:nvPr/>
        </p:nvSpPr>
        <p:spPr>
          <a:xfrm>
            <a:off x="9867900" y="48006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09" name="g">
            <a:extLst>
              <a:ext uri="{FF2B5EF4-FFF2-40B4-BE49-F238E27FC236}">
                <a16:creationId xmlns:a16="http://schemas.microsoft.com/office/drawing/2014/main" id="{805695E5-7D78-488E-B3AF-62FDA37EFB7C}"/>
              </a:ext>
            </a:extLst>
          </p:cNvPr>
          <p:cNvSpPr/>
          <p:nvPr/>
        </p:nvSpPr>
        <p:spPr>
          <a:xfrm>
            <a:off x="10033000" y="4800600"/>
            <a:ext cx="146050" cy="146050"/>
          </a:xfrm>
          <a:prstGeom prst="rect">
            <a:avLst/>
          </a:prstGeom>
          <a:solidFill>
            <a:srgbClr val="FBE3D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0" name="g">
            <a:extLst>
              <a:ext uri="{FF2B5EF4-FFF2-40B4-BE49-F238E27FC236}">
                <a16:creationId xmlns:a16="http://schemas.microsoft.com/office/drawing/2014/main" id="{1F111000-1F7C-4263-9B3E-50A255E98539}"/>
              </a:ext>
            </a:extLst>
          </p:cNvPr>
          <p:cNvSpPr/>
          <p:nvPr/>
        </p:nvSpPr>
        <p:spPr>
          <a:xfrm>
            <a:off x="9537700" y="49657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1" name="g">
            <a:extLst>
              <a:ext uri="{FF2B5EF4-FFF2-40B4-BE49-F238E27FC236}">
                <a16:creationId xmlns:a16="http://schemas.microsoft.com/office/drawing/2014/main" id="{AE11FA71-36F4-474D-AFC7-72347B068930}"/>
              </a:ext>
            </a:extLst>
          </p:cNvPr>
          <p:cNvSpPr/>
          <p:nvPr/>
        </p:nvSpPr>
        <p:spPr>
          <a:xfrm>
            <a:off x="9702800" y="49657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2" name="g">
            <a:extLst>
              <a:ext uri="{FF2B5EF4-FFF2-40B4-BE49-F238E27FC236}">
                <a16:creationId xmlns:a16="http://schemas.microsoft.com/office/drawing/2014/main" id="{1DB9ABD4-40DF-45BF-B35D-088E768A43D9}"/>
              </a:ext>
            </a:extLst>
          </p:cNvPr>
          <p:cNvSpPr/>
          <p:nvPr/>
        </p:nvSpPr>
        <p:spPr>
          <a:xfrm>
            <a:off x="9867900" y="49657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3" name="g">
            <a:extLst>
              <a:ext uri="{FF2B5EF4-FFF2-40B4-BE49-F238E27FC236}">
                <a16:creationId xmlns:a16="http://schemas.microsoft.com/office/drawing/2014/main" id="{C2C8EC67-2650-4D29-B157-270083525DA5}"/>
              </a:ext>
            </a:extLst>
          </p:cNvPr>
          <p:cNvSpPr/>
          <p:nvPr/>
        </p:nvSpPr>
        <p:spPr>
          <a:xfrm>
            <a:off x="10033000" y="4965700"/>
            <a:ext cx="146050" cy="14605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4" name="g">
            <a:extLst>
              <a:ext uri="{FF2B5EF4-FFF2-40B4-BE49-F238E27FC236}">
                <a16:creationId xmlns:a16="http://schemas.microsoft.com/office/drawing/2014/main" id="{8BFEEC94-7B6B-4D90-962B-E55F290CB193}"/>
              </a:ext>
            </a:extLst>
          </p:cNvPr>
          <p:cNvSpPr/>
          <p:nvPr/>
        </p:nvSpPr>
        <p:spPr>
          <a:xfrm>
            <a:off x="10706100" y="44704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5" name="g">
            <a:extLst>
              <a:ext uri="{FF2B5EF4-FFF2-40B4-BE49-F238E27FC236}">
                <a16:creationId xmlns:a16="http://schemas.microsoft.com/office/drawing/2014/main" id="{DCBD17EC-9B74-4A74-82FB-3439BE5FAA49}"/>
              </a:ext>
            </a:extLst>
          </p:cNvPr>
          <p:cNvSpPr/>
          <p:nvPr/>
        </p:nvSpPr>
        <p:spPr>
          <a:xfrm>
            <a:off x="10871200" y="44704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6" name="g">
            <a:extLst>
              <a:ext uri="{FF2B5EF4-FFF2-40B4-BE49-F238E27FC236}">
                <a16:creationId xmlns:a16="http://schemas.microsoft.com/office/drawing/2014/main" id="{7930F184-6328-4EFE-8C52-BEA373C9E83E}"/>
              </a:ext>
            </a:extLst>
          </p:cNvPr>
          <p:cNvSpPr/>
          <p:nvPr/>
        </p:nvSpPr>
        <p:spPr>
          <a:xfrm>
            <a:off x="11036300" y="44704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7" name="g">
            <a:extLst>
              <a:ext uri="{FF2B5EF4-FFF2-40B4-BE49-F238E27FC236}">
                <a16:creationId xmlns:a16="http://schemas.microsoft.com/office/drawing/2014/main" id="{772FECB2-27E5-42BD-A4A0-6B3B3E92C19F}"/>
              </a:ext>
            </a:extLst>
          </p:cNvPr>
          <p:cNvSpPr/>
          <p:nvPr/>
        </p:nvSpPr>
        <p:spPr>
          <a:xfrm>
            <a:off x="11201400" y="44704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8" name="g">
            <a:extLst>
              <a:ext uri="{FF2B5EF4-FFF2-40B4-BE49-F238E27FC236}">
                <a16:creationId xmlns:a16="http://schemas.microsoft.com/office/drawing/2014/main" id="{419CA0E3-E10E-4069-B6F6-52B0AF40FA9D}"/>
              </a:ext>
            </a:extLst>
          </p:cNvPr>
          <p:cNvSpPr/>
          <p:nvPr/>
        </p:nvSpPr>
        <p:spPr>
          <a:xfrm>
            <a:off x="10706100" y="46355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19" name="g">
            <a:extLst>
              <a:ext uri="{FF2B5EF4-FFF2-40B4-BE49-F238E27FC236}">
                <a16:creationId xmlns:a16="http://schemas.microsoft.com/office/drawing/2014/main" id="{5C127F60-6EF6-4994-B9EB-BC590A846AC0}"/>
              </a:ext>
            </a:extLst>
          </p:cNvPr>
          <p:cNvSpPr/>
          <p:nvPr/>
        </p:nvSpPr>
        <p:spPr>
          <a:xfrm>
            <a:off x="10871200" y="46355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0" name="g">
            <a:extLst>
              <a:ext uri="{FF2B5EF4-FFF2-40B4-BE49-F238E27FC236}">
                <a16:creationId xmlns:a16="http://schemas.microsoft.com/office/drawing/2014/main" id="{8E445058-B7FD-4378-BD5E-9DF08CDB263A}"/>
              </a:ext>
            </a:extLst>
          </p:cNvPr>
          <p:cNvSpPr/>
          <p:nvPr/>
        </p:nvSpPr>
        <p:spPr>
          <a:xfrm>
            <a:off x="11036300" y="46355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1" name="g">
            <a:extLst>
              <a:ext uri="{FF2B5EF4-FFF2-40B4-BE49-F238E27FC236}">
                <a16:creationId xmlns:a16="http://schemas.microsoft.com/office/drawing/2014/main" id="{097E933E-4463-486A-9169-5C48D45B9A5A}"/>
              </a:ext>
            </a:extLst>
          </p:cNvPr>
          <p:cNvSpPr/>
          <p:nvPr/>
        </p:nvSpPr>
        <p:spPr>
          <a:xfrm>
            <a:off x="11201400" y="46355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2" name="g">
            <a:extLst>
              <a:ext uri="{FF2B5EF4-FFF2-40B4-BE49-F238E27FC236}">
                <a16:creationId xmlns:a16="http://schemas.microsoft.com/office/drawing/2014/main" id="{AA22CB63-721A-4053-9E71-214EB0E9E9DD}"/>
              </a:ext>
            </a:extLst>
          </p:cNvPr>
          <p:cNvSpPr/>
          <p:nvPr/>
        </p:nvSpPr>
        <p:spPr>
          <a:xfrm>
            <a:off x="10706100" y="48006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3" name="g">
            <a:extLst>
              <a:ext uri="{FF2B5EF4-FFF2-40B4-BE49-F238E27FC236}">
                <a16:creationId xmlns:a16="http://schemas.microsoft.com/office/drawing/2014/main" id="{06D4E143-CDE7-4A58-84E1-8369CB38EE03}"/>
              </a:ext>
            </a:extLst>
          </p:cNvPr>
          <p:cNvSpPr/>
          <p:nvPr/>
        </p:nvSpPr>
        <p:spPr>
          <a:xfrm>
            <a:off x="10871200" y="48006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4" name="g">
            <a:extLst>
              <a:ext uri="{FF2B5EF4-FFF2-40B4-BE49-F238E27FC236}">
                <a16:creationId xmlns:a16="http://schemas.microsoft.com/office/drawing/2014/main" id="{48D2468B-CE50-4D86-8687-3C355DADCE93}"/>
              </a:ext>
            </a:extLst>
          </p:cNvPr>
          <p:cNvSpPr/>
          <p:nvPr/>
        </p:nvSpPr>
        <p:spPr>
          <a:xfrm>
            <a:off x="11036300" y="48006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5" name="g">
            <a:extLst>
              <a:ext uri="{FF2B5EF4-FFF2-40B4-BE49-F238E27FC236}">
                <a16:creationId xmlns:a16="http://schemas.microsoft.com/office/drawing/2014/main" id="{ADB6E70C-45E2-49C6-909C-43D33149F70B}"/>
              </a:ext>
            </a:extLst>
          </p:cNvPr>
          <p:cNvSpPr/>
          <p:nvPr/>
        </p:nvSpPr>
        <p:spPr>
          <a:xfrm>
            <a:off x="11201400" y="48006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6" name="g">
            <a:extLst>
              <a:ext uri="{FF2B5EF4-FFF2-40B4-BE49-F238E27FC236}">
                <a16:creationId xmlns:a16="http://schemas.microsoft.com/office/drawing/2014/main" id="{A50E3657-56AA-49A9-A224-41BD03A4554D}"/>
              </a:ext>
            </a:extLst>
          </p:cNvPr>
          <p:cNvSpPr/>
          <p:nvPr/>
        </p:nvSpPr>
        <p:spPr>
          <a:xfrm>
            <a:off x="10706100" y="49657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7" name="g">
            <a:extLst>
              <a:ext uri="{FF2B5EF4-FFF2-40B4-BE49-F238E27FC236}">
                <a16:creationId xmlns:a16="http://schemas.microsoft.com/office/drawing/2014/main" id="{D01394B3-3907-4386-A3C3-609A050745CF}"/>
              </a:ext>
            </a:extLst>
          </p:cNvPr>
          <p:cNvSpPr/>
          <p:nvPr/>
        </p:nvSpPr>
        <p:spPr>
          <a:xfrm>
            <a:off x="10871200" y="49657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8" name="g">
            <a:extLst>
              <a:ext uri="{FF2B5EF4-FFF2-40B4-BE49-F238E27FC236}">
                <a16:creationId xmlns:a16="http://schemas.microsoft.com/office/drawing/2014/main" id="{1302DEE0-CA53-4563-AED0-E82BE4D00A7C}"/>
              </a:ext>
            </a:extLst>
          </p:cNvPr>
          <p:cNvSpPr/>
          <p:nvPr/>
        </p:nvSpPr>
        <p:spPr>
          <a:xfrm>
            <a:off x="11036300" y="49657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29" name="g">
            <a:extLst>
              <a:ext uri="{FF2B5EF4-FFF2-40B4-BE49-F238E27FC236}">
                <a16:creationId xmlns:a16="http://schemas.microsoft.com/office/drawing/2014/main" id="{385BE6C1-9E51-44E5-B85D-DAEEABBB4DC5}"/>
              </a:ext>
            </a:extLst>
          </p:cNvPr>
          <p:cNvSpPr/>
          <p:nvPr/>
        </p:nvSpPr>
        <p:spPr>
          <a:xfrm>
            <a:off x="11201400" y="4965700"/>
            <a:ext cx="146050" cy="146050"/>
          </a:xfrm>
          <a:prstGeom prst="rect">
            <a:avLst/>
          </a:prstGeom>
          <a:solidFill>
            <a:srgbClr val="F0A47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0" name="ar">
            <a:extLst>
              <a:ext uri="{FF2B5EF4-FFF2-40B4-BE49-F238E27FC236}">
                <a16:creationId xmlns:a16="http://schemas.microsoft.com/office/drawing/2014/main" id="{FEF5466B-390B-4D0F-A57E-CFB2E7306D41}"/>
              </a:ext>
            </a:extLst>
          </p:cNvPr>
          <p:cNvSpPr/>
          <p:nvPr/>
        </p:nvSpPr>
        <p:spPr>
          <a:xfrm>
            <a:off x="1460500" y="4686300"/>
            <a:ext cx="355600" cy="2286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1" name="ar">
            <a:extLst>
              <a:ext uri="{FF2B5EF4-FFF2-40B4-BE49-F238E27FC236}">
                <a16:creationId xmlns:a16="http://schemas.microsoft.com/office/drawing/2014/main" id="{3AB7BCEC-ABF0-4945-BF6D-8359B62960CF}"/>
              </a:ext>
            </a:extLst>
          </p:cNvPr>
          <p:cNvSpPr/>
          <p:nvPr/>
        </p:nvSpPr>
        <p:spPr>
          <a:xfrm>
            <a:off x="2628900" y="4686300"/>
            <a:ext cx="355600" cy="2286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2" name="ar">
            <a:extLst>
              <a:ext uri="{FF2B5EF4-FFF2-40B4-BE49-F238E27FC236}">
                <a16:creationId xmlns:a16="http://schemas.microsoft.com/office/drawing/2014/main" id="{DE9CB2C0-B228-4D44-9ADC-7D0C1C62D081}"/>
              </a:ext>
            </a:extLst>
          </p:cNvPr>
          <p:cNvSpPr/>
          <p:nvPr/>
        </p:nvSpPr>
        <p:spPr>
          <a:xfrm>
            <a:off x="4787900" y="4686300"/>
            <a:ext cx="355600" cy="2286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3" name="ar">
            <a:extLst>
              <a:ext uri="{FF2B5EF4-FFF2-40B4-BE49-F238E27FC236}">
                <a16:creationId xmlns:a16="http://schemas.microsoft.com/office/drawing/2014/main" id="{12532D0E-E323-49C9-A69B-6F30C5C5E0B8}"/>
              </a:ext>
            </a:extLst>
          </p:cNvPr>
          <p:cNvSpPr/>
          <p:nvPr/>
        </p:nvSpPr>
        <p:spPr>
          <a:xfrm>
            <a:off x="6946900" y="4686300"/>
            <a:ext cx="355600" cy="2286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4" name="ar">
            <a:extLst>
              <a:ext uri="{FF2B5EF4-FFF2-40B4-BE49-F238E27FC236}">
                <a16:creationId xmlns:a16="http://schemas.microsoft.com/office/drawing/2014/main" id="{E055B5BF-1A3C-4BCE-859A-98BDEE506A05}"/>
              </a:ext>
            </a:extLst>
          </p:cNvPr>
          <p:cNvSpPr/>
          <p:nvPr/>
        </p:nvSpPr>
        <p:spPr>
          <a:xfrm>
            <a:off x="9105900" y="4686300"/>
            <a:ext cx="355600" cy="2286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5" name="ar">
            <a:extLst>
              <a:ext uri="{FF2B5EF4-FFF2-40B4-BE49-F238E27FC236}">
                <a16:creationId xmlns:a16="http://schemas.microsoft.com/office/drawing/2014/main" id="{AF131404-0C34-4F2B-A40E-586C90BC5143}"/>
              </a:ext>
            </a:extLst>
          </p:cNvPr>
          <p:cNvSpPr/>
          <p:nvPr/>
        </p:nvSpPr>
        <p:spPr>
          <a:xfrm>
            <a:off x="10274300" y="4686300"/>
            <a:ext cx="355600" cy="228600"/>
          </a:xfrm>
          <a:prstGeom prst="rightArrow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it-IT"/>
          </a:p>
        </p:txBody>
      </p:sp>
      <p:sp>
        <p:nvSpPr>
          <p:cNvPr id="336" name="modelbox">
            <a:extLst>
              <a:ext uri="{FF2B5EF4-FFF2-40B4-BE49-F238E27FC236}">
                <a16:creationId xmlns:a16="http://schemas.microsoft.com/office/drawing/2014/main" id="{95FB6DAD-5933-4ADC-9CD0-23A64F549DCC}"/>
              </a:ext>
            </a:extLst>
          </p:cNvPr>
          <p:cNvSpPr/>
          <p:nvPr/>
        </p:nvSpPr>
        <p:spPr>
          <a:xfrm>
            <a:off x="5219700" y="4356100"/>
            <a:ext cx="1651000" cy="889000"/>
          </a:xfrm>
          <a:prstGeom prst="roundRect">
            <a:avLst/>
          </a:prstGeom>
          <a:solidFill>
            <a:srgbClr val="0E284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it-IT" sz="2000" b="1">
                <a:solidFill>
                  <a:srgbClr val="FFFFFF"/>
                </a:solidFill>
              </a:rPr>
              <a:t>modello</a:t>
            </a:r>
          </a:p>
        </p:txBody>
      </p:sp>
      <p:sp>
        <p:nvSpPr>
          <p:cNvPr id="337" name="lb">
            <a:extLst>
              <a:ext uri="{FF2B5EF4-FFF2-40B4-BE49-F238E27FC236}">
                <a16:creationId xmlns:a16="http://schemas.microsoft.com/office/drawing/2014/main" id="{196BE8EA-E271-4C18-9204-420CE98D020F}"/>
              </a:ext>
            </a:extLst>
          </p:cNvPr>
          <p:cNvSpPr txBox="1"/>
          <p:nvPr/>
        </p:nvSpPr>
        <p:spPr>
          <a:xfrm>
            <a:off x="889000" y="5222875"/>
            <a:ext cx="36195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b="1" dirty="0">
                <a:solidFill>
                  <a:srgbClr val="1A2533"/>
                </a:solidFill>
              </a:rPr>
              <a:t>C</a:t>
            </a:r>
          </a:p>
        </p:txBody>
      </p:sp>
      <p:sp>
        <p:nvSpPr>
          <p:cNvPr id="338" name="lb">
            <a:extLst>
              <a:ext uri="{FF2B5EF4-FFF2-40B4-BE49-F238E27FC236}">
                <a16:creationId xmlns:a16="http://schemas.microsoft.com/office/drawing/2014/main" id="{F0E450E9-A676-4F82-8F7C-C892462A63DF}"/>
              </a:ext>
            </a:extLst>
          </p:cNvPr>
          <p:cNvSpPr txBox="1"/>
          <p:nvPr/>
        </p:nvSpPr>
        <p:spPr>
          <a:xfrm>
            <a:off x="2060575" y="5222875"/>
            <a:ext cx="36195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b="1" dirty="0">
                <a:solidFill>
                  <a:srgbClr val="1A2533"/>
                </a:solidFill>
              </a:rPr>
              <a:t>L</a:t>
            </a:r>
          </a:p>
        </p:txBody>
      </p:sp>
      <p:sp>
        <p:nvSpPr>
          <p:cNvPr id="339" name="lb">
            <a:extLst>
              <a:ext uri="{FF2B5EF4-FFF2-40B4-BE49-F238E27FC236}">
                <a16:creationId xmlns:a16="http://schemas.microsoft.com/office/drawing/2014/main" id="{CAF2F460-1B55-4F05-BE5B-8C195CB4B720}"/>
              </a:ext>
            </a:extLst>
          </p:cNvPr>
          <p:cNvSpPr txBox="1"/>
          <p:nvPr/>
        </p:nvSpPr>
        <p:spPr>
          <a:xfrm>
            <a:off x="3485515" y="5184140"/>
            <a:ext cx="97155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b="1" dirty="0" err="1">
                <a:solidFill>
                  <a:srgbClr val="1A2533"/>
                </a:solidFill>
              </a:rPr>
              <a:t>vec</a:t>
            </a:r>
            <a:r>
              <a:rPr lang="it-IT" b="1" dirty="0">
                <a:solidFill>
                  <a:srgbClr val="1A2533"/>
                </a:solidFill>
              </a:rPr>
              <a:t>(L)</a:t>
            </a:r>
          </a:p>
        </p:txBody>
      </p:sp>
      <p:sp>
        <p:nvSpPr>
          <p:cNvPr id="340" name="lb">
            <a:extLst>
              <a:ext uri="{FF2B5EF4-FFF2-40B4-BE49-F238E27FC236}">
                <a16:creationId xmlns:a16="http://schemas.microsoft.com/office/drawing/2014/main" id="{B59CD29B-7C77-4D56-A3BC-8DFB4B8A5C90}"/>
              </a:ext>
            </a:extLst>
          </p:cNvPr>
          <p:cNvSpPr txBox="1"/>
          <p:nvPr/>
        </p:nvSpPr>
        <p:spPr>
          <a:xfrm>
            <a:off x="7813675" y="5207000"/>
            <a:ext cx="92710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b="1" dirty="0" err="1">
                <a:solidFill>
                  <a:srgbClr val="1A2533"/>
                </a:solidFill>
              </a:rPr>
              <a:t>vec</a:t>
            </a:r>
            <a:r>
              <a:rPr lang="it-IT" b="1" dirty="0">
                <a:solidFill>
                  <a:srgbClr val="1A2533"/>
                </a:solidFill>
              </a:rPr>
              <a:t>(L̃)</a:t>
            </a:r>
          </a:p>
        </p:txBody>
      </p:sp>
      <p:sp>
        <p:nvSpPr>
          <p:cNvPr id="341" name="lb">
            <a:extLst>
              <a:ext uri="{FF2B5EF4-FFF2-40B4-BE49-F238E27FC236}">
                <a16:creationId xmlns:a16="http://schemas.microsoft.com/office/drawing/2014/main" id="{57EE4467-02A4-4AF3-84EC-6F0CEDEAE67F}"/>
              </a:ext>
            </a:extLst>
          </p:cNvPr>
          <p:cNvSpPr txBox="1"/>
          <p:nvPr/>
        </p:nvSpPr>
        <p:spPr>
          <a:xfrm>
            <a:off x="9725025" y="5213350"/>
            <a:ext cx="38608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b="1">
                <a:solidFill>
                  <a:srgbClr val="1A2533"/>
                </a:solidFill>
              </a:rPr>
              <a:t>L̃</a:t>
            </a:r>
          </a:p>
        </p:txBody>
      </p:sp>
      <p:sp>
        <p:nvSpPr>
          <p:cNvPr id="342" name="lb">
            <a:extLst>
              <a:ext uri="{FF2B5EF4-FFF2-40B4-BE49-F238E27FC236}">
                <a16:creationId xmlns:a16="http://schemas.microsoft.com/office/drawing/2014/main" id="{44281ACF-E99A-4CB3-81B8-2CF4B470C4D7}"/>
              </a:ext>
            </a:extLst>
          </p:cNvPr>
          <p:cNvSpPr txBox="1"/>
          <p:nvPr/>
        </p:nvSpPr>
        <p:spPr>
          <a:xfrm>
            <a:off x="10534650" y="5222875"/>
            <a:ext cx="1073150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b="1" dirty="0">
                <a:solidFill>
                  <a:srgbClr val="1A2533"/>
                </a:solidFill>
              </a:rPr>
              <a:t>C̃ = L̃ L̃ᵀ</a:t>
            </a:r>
          </a:p>
        </p:txBody>
      </p:sp>
      <p:sp>
        <p:nvSpPr>
          <p:cNvPr id="343" name="modelsub">
            <a:extLst>
              <a:ext uri="{FF2B5EF4-FFF2-40B4-BE49-F238E27FC236}">
                <a16:creationId xmlns:a16="http://schemas.microsoft.com/office/drawing/2014/main" id="{20992034-18BC-4D08-942F-DA561707FB31}"/>
              </a:ext>
            </a:extLst>
          </p:cNvPr>
          <p:cNvSpPr txBox="1"/>
          <p:nvPr/>
        </p:nvSpPr>
        <p:spPr>
          <a:xfrm>
            <a:off x="5198997" y="5229923"/>
            <a:ext cx="1621155" cy="3302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it-IT" b="1" dirty="0">
                <a:solidFill>
                  <a:srgbClr val="1A2533"/>
                </a:solidFill>
              </a:rPr>
              <a:t>PCA · AE · VAE</a:t>
            </a:r>
          </a:p>
        </p:txBody>
      </p:sp>
      <p:sp>
        <p:nvSpPr>
          <p:cNvPr id="400" name="cardwin">
            <a:extLst>
              <a:ext uri="{FF2B5EF4-FFF2-40B4-BE49-F238E27FC236}">
                <a16:creationId xmlns:a16="http://schemas.microsoft.com/office/drawing/2014/main" id="{76035FEC-7717-4772-8892-0643BF61EAFC}"/>
              </a:ext>
            </a:extLst>
          </p:cNvPr>
          <p:cNvSpPr/>
          <p:nvPr/>
        </p:nvSpPr>
        <p:spPr>
          <a:xfrm>
            <a:off x="584200" y="1270000"/>
            <a:ext cx="11023600" cy="2006600"/>
          </a:xfrm>
          <a:prstGeom prst="roundRect">
            <a:avLst/>
          </a:prstGeom>
          <a:solidFill>
            <a:srgbClr val="DEEBF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/>
          <a:lstStyle/>
          <a:p>
            <a:endParaRPr/>
          </a:p>
        </p:txBody>
      </p:sp>
      <p:sp>
        <p:nvSpPr>
          <p:cNvPr id="500" name="wlbl"/>
          <p:cNvSpPr txBox="1"/>
          <p:nvPr/>
        </p:nvSpPr>
        <p:spPr>
          <a:xfrm>
            <a:off x="838200" y="1346200"/>
            <a:ext cx="43942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lang="it-IT" sz="1800" b="1" dirty="0">
                <a:solidFill>
                  <a:srgbClr val="156082"/>
                </a:solidFill>
              </a:rPr>
              <a:t>finestra 724 giorni · passo 10 giorni</a:t>
            </a:r>
          </a:p>
        </p:txBody>
      </p:sp>
      <p:sp>
        <p:nvSpPr>
          <p:cNvPr id="501" name="win1"/>
          <p:cNvSpPr/>
          <p:nvPr/>
        </p:nvSpPr>
        <p:spPr>
          <a:xfrm>
            <a:off x="914400" y="1752600"/>
            <a:ext cx="1905000" cy="190500"/>
          </a:xfrm>
          <a:prstGeom prst="roundRect">
            <a:avLst/>
          </a:prstGeom>
          <a:solidFill>
            <a:srgbClr val="156082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2" name="win2"/>
          <p:cNvSpPr/>
          <p:nvPr/>
        </p:nvSpPr>
        <p:spPr>
          <a:xfrm>
            <a:off x="1270000" y="2006600"/>
            <a:ext cx="1905000" cy="190500"/>
          </a:xfrm>
          <a:prstGeom prst="roundRect">
            <a:avLst/>
          </a:prstGeom>
          <a:solidFill>
            <a:srgbClr val="0F9ED5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3" name="win3"/>
          <p:cNvSpPr/>
          <p:nvPr/>
        </p:nvSpPr>
        <p:spPr>
          <a:xfrm>
            <a:off x="1625600" y="2260600"/>
            <a:ext cx="1905000" cy="190500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4" name="wdots"/>
          <p:cNvSpPr txBox="1"/>
          <p:nvPr/>
        </p:nvSpPr>
        <p:spPr>
          <a:xfrm>
            <a:off x="3606800" y="2235200"/>
            <a:ext cx="508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lang="it-IT" sz="1800" b="1" dirty="0">
                <a:solidFill>
                  <a:srgbClr val="1A2533"/>
                </a:solidFill>
              </a:rPr>
              <a:t>…</a:t>
            </a:r>
          </a:p>
        </p:txBody>
      </p:sp>
      <p:sp>
        <p:nvSpPr>
          <p:cNvPr id="505" name="axis"/>
          <p:cNvSpPr/>
          <p:nvPr/>
        </p:nvSpPr>
        <p:spPr>
          <a:xfrm>
            <a:off x="914400" y="2565400"/>
            <a:ext cx="4318000" cy="50800"/>
          </a:xfrm>
          <a:prstGeom prst="rect">
            <a:avLst/>
          </a:prstGeom>
          <a:solidFill>
            <a:srgbClr val="A6B0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6" name="tick1"/>
          <p:cNvSpPr/>
          <p:nvPr/>
        </p:nvSpPr>
        <p:spPr>
          <a:xfrm>
            <a:off x="914400" y="2489200"/>
            <a:ext cx="38100" cy="203200"/>
          </a:xfrm>
          <a:prstGeom prst="rect">
            <a:avLst/>
          </a:prstGeom>
          <a:solidFill>
            <a:srgbClr val="A6B0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7" name="tick2"/>
          <p:cNvSpPr/>
          <p:nvPr/>
        </p:nvSpPr>
        <p:spPr>
          <a:xfrm>
            <a:off x="5194300" y="2489200"/>
            <a:ext cx="38100" cy="203200"/>
          </a:xfrm>
          <a:prstGeom prst="rect">
            <a:avLst/>
          </a:prstGeom>
          <a:solidFill>
            <a:srgbClr val="A6B0B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8" name="axlbl"/>
          <p:cNvSpPr txBox="1"/>
          <p:nvPr/>
        </p:nvSpPr>
        <p:spPr>
          <a:xfrm>
            <a:off x="889000" y="2749550"/>
            <a:ext cx="4318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95000"/>
              </a:lnSpc>
            </a:pPr>
            <a:r>
              <a:rPr lang="it-IT" b="1" dirty="0">
                <a:solidFill>
                  <a:srgbClr val="1A2533"/>
                </a:solidFill>
              </a:rPr>
              <a:t>S&amp;P 500 · 362 titoli · 2000-2020</a:t>
            </a:r>
          </a:p>
        </p:txBody>
      </p:sp>
      <p:sp>
        <p:nvSpPr>
          <p:cNvPr id="509" name="arr1"/>
          <p:cNvSpPr/>
          <p:nvPr/>
        </p:nvSpPr>
        <p:spPr>
          <a:xfrm>
            <a:off x="5334000" y="2133600"/>
            <a:ext cx="457200" cy="254000"/>
          </a:xfrm>
          <a:prstGeom prst="rightArrow">
            <a:avLst/>
          </a:prstGeom>
          <a:solidFill>
            <a:srgbClr val="1A25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0" name="mx"/>
          <p:cNvSpPr/>
          <p:nvPr/>
        </p:nvSpPr>
        <p:spPr>
          <a:xfrm>
            <a:off x="5969000" y="1879600"/>
            <a:ext cx="165100" cy="1651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1" name="mx"/>
          <p:cNvSpPr/>
          <p:nvPr/>
        </p:nvSpPr>
        <p:spPr>
          <a:xfrm>
            <a:off x="6146800" y="1879600"/>
            <a:ext cx="165100" cy="165100"/>
          </a:xfrm>
          <a:prstGeom prst="rect">
            <a:avLst/>
          </a:prstGeom>
          <a:solidFill>
            <a:srgbClr val="3E8A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2" name="mx"/>
          <p:cNvSpPr/>
          <p:nvPr/>
        </p:nvSpPr>
        <p:spPr>
          <a:xfrm>
            <a:off x="6324600" y="1879600"/>
            <a:ext cx="165100" cy="165100"/>
          </a:xfrm>
          <a:prstGeom prst="rect">
            <a:avLst/>
          </a:prstGeom>
          <a:solidFill>
            <a:srgbClr val="7FB4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3" name="mx"/>
          <p:cNvSpPr/>
          <p:nvPr/>
        </p:nvSpPr>
        <p:spPr>
          <a:xfrm>
            <a:off x="6502400" y="1879600"/>
            <a:ext cx="165100" cy="165100"/>
          </a:xfrm>
          <a:prstGeom prst="rect">
            <a:avLst/>
          </a:prstGeom>
          <a:solidFill>
            <a:srgbClr val="A8CB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4" name="mx"/>
          <p:cNvSpPr/>
          <p:nvPr/>
        </p:nvSpPr>
        <p:spPr>
          <a:xfrm>
            <a:off x="6680200" y="1879600"/>
            <a:ext cx="165100" cy="165100"/>
          </a:xfrm>
          <a:prstGeom prst="rect">
            <a:avLst/>
          </a:prstGeom>
          <a:solidFill>
            <a:srgbClr val="D6E5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5" name="mx"/>
          <p:cNvSpPr/>
          <p:nvPr/>
        </p:nvSpPr>
        <p:spPr>
          <a:xfrm>
            <a:off x="5969000" y="2057400"/>
            <a:ext cx="165100" cy="165100"/>
          </a:xfrm>
          <a:prstGeom prst="rect">
            <a:avLst/>
          </a:prstGeom>
          <a:solidFill>
            <a:srgbClr val="3E8A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6" name="mx"/>
          <p:cNvSpPr/>
          <p:nvPr/>
        </p:nvSpPr>
        <p:spPr>
          <a:xfrm>
            <a:off x="6146800" y="2057400"/>
            <a:ext cx="165100" cy="1651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7" name="mx"/>
          <p:cNvSpPr/>
          <p:nvPr/>
        </p:nvSpPr>
        <p:spPr>
          <a:xfrm>
            <a:off x="6324600" y="2057400"/>
            <a:ext cx="165100" cy="165100"/>
          </a:xfrm>
          <a:prstGeom prst="rect">
            <a:avLst/>
          </a:prstGeom>
          <a:solidFill>
            <a:srgbClr val="3E8A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8" name="mx"/>
          <p:cNvSpPr/>
          <p:nvPr/>
        </p:nvSpPr>
        <p:spPr>
          <a:xfrm>
            <a:off x="6502400" y="2057400"/>
            <a:ext cx="165100" cy="165100"/>
          </a:xfrm>
          <a:prstGeom prst="rect">
            <a:avLst/>
          </a:prstGeom>
          <a:solidFill>
            <a:srgbClr val="7FB4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9" name="mx"/>
          <p:cNvSpPr/>
          <p:nvPr/>
        </p:nvSpPr>
        <p:spPr>
          <a:xfrm>
            <a:off x="6680200" y="2057400"/>
            <a:ext cx="165100" cy="165100"/>
          </a:xfrm>
          <a:prstGeom prst="rect">
            <a:avLst/>
          </a:prstGeom>
          <a:solidFill>
            <a:srgbClr val="A8CB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0" name="mx"/>
          <p:cNvSpPr/>
          <p:nvPr/>
        </p:nvSpPr>
        <p:spPr>
          <a:xfrm>
            <a:off x="5969000" y="2235200"/>
            <a:ext cx="165100" cy="165100"/>
          </a:xfrm>
          <a:prstGeom prst="rect">
            <a:avLst/>
          </a:prstGeom>
          <a:solidFill>
            <a:srgbClr val="7FB4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1" name="mx"/>
          <p:cNvSpPr/>
          <p:nvPr/>
        </p:nvSpPr>
        <p:spPr>
          <a:xfrm>
            <a:off x="6146800" y="2235200"/>
            <a:ext cx="165100" cy="165100"/>
          </a:xfrm>
          <a:prstGeom prst="rect">
            <a:avLst/>
          </a:prstGeom>
          <a:solidFill>
            <a:srgbClr val="3E8A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2" name="mx"/>
          <p:cNvSpPr/>
          <p:nvPr/>
        </p:nvSpPr>
        <p:spPr>
          <a:xfrm>
            <a:off x="6324600" y="2235200"/>
            <a:ext cx="165100" cy="1651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3" name="mx"/>
          <p:cNvSpPr/>
          <p:nvPr/>
        </p:nvSpPr>
        <p:spPr>
          <a:xfrm>
            <a:off x="6502400" y="2235200"/>
            <a:ext cx="165100" cy="165100"/>
          </a:xfrm>
          <a:prstGeom prst="rect">
            <a:avLst/>
          </a:prstGeom>
          <a:solidFill>
            <a:srgbClr val="3E8A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4" name="mx"/>
          <p:cNvSpPr/>
          <p:nvPr/>
        </p:nvSpPr>
        <p:spPr>
          <a:xfrm>
            <a:off x="6680200" y="2235200"/>
            <a:ext cx="165100" cy="165100"/>
          </a:xfrm>
          <a:prstGeom prst="rect">
            <a:avLst/>
          </a:prstGeom>
          <a:solidFill>
            <a:srgbClr val="7FB4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5" name="mx"/>
          <p:cNvSpPr/>
          <p:nvPr/>
        </p:nvSpPr>
        <p:spPr>
          <a:xfrm>
            <a:off x="5969000" y="2413000"/>
            <a:ext cx="165100" cy="165100"/>
          </a:xfrm>
          <a:prstGeom prst="rect">
            <a:avLst/>
          </a:prstGeom>
          <a:solidFill>
            <a:srgbClr val="A8CB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6" name="mx"/>
          <p:cNvSpPr/>
          <p:nvPr/>
        </p:nvSpPr>
        <p:spPr>
          <a:xfrm>
            <a:off x="6146800" y="2413000"/>
            <a:ext cx="165100" cy="165100"/>
          </a:xfrm>
          <a:prstGeom prst="rect">
            <a:avLst/>
          </a:prstGeom>
          <a:solidFill>
            <a:srgbClr val="7FB4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7" name="mx"/>
          <p:cNvSpPr/>
          <p:nvPr/>
        </p:nvSpPr>
        <p:spPr>
          <a:xfrm>
            <a:off x="6324600" y="2413000"/>
            <a:ext cx="165100" cy="165100"/>
          </a:xfrm>
          <a:prstGeom prst="rect">
            <a:avLst/>
          </a:prstGeom>
          <a:solidFill>
            <a:srgbClr val="3E8A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8" name="mx"/>
          <p:cNvSpPr/>
          <p:nvPr/>
        </p:nvSpPr>
        <p:spPr>
          <a:xfrm>
            <a:off x="6502400" y="2413000"/>
            <a:ext cx="165100" cy="1651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9" name="mx"/>
          <p:cNvSpPr/>
          <p:nvPr/>
        </p:nvSpPr>
        <p:spPr>
          <a:xfrm>
            <a:off x="6680200" y="2413000"/>
            <a:ext cx="165100" cy="165100"/>
          </a:xfrm>
          <a:prstGeom prst="rect">
            <a:avLst/>
          </a:prstGeom>
          <a:solidFill>
            <a:srgbClr val="3E8A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0" name="mx"/>
          <p:cNvSpPr/>
          <p:nvPr/>
        </p:nvSpPr>
        <p:spPr>
          <a:xfrm>
            <a:off x="5969000" y="2590800"/>
            <a:ext cx="165100" cy="165100"/>
          </a:xfrm>
          <a:prstGeom prst="rect">
            <a:avLst/>
          </a:prstGeom>
          <a:solidFill>
            <a:srgbClr val="D6E5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1" name="mx"/>
          <p:cNvSpPr/>
          <p:nvPr/>
        </p:nvSpPr>
        <p:spPr>
          <a:xfrm>
            <a:off x="6146800" y="2590800"/>
            <a:ext cx="165100" cy="165100"/>
          </a:xfrm>
          <a:prstGeom prst="rect">
            <a:avLst/>
          </a:prstGeom>
          <a:solidFill>
            <a:srgbClr val="A8CB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2" name="mx"/>
          <p:cNvSpPr/>
          <p:nvPr/>
        </p:nvSpPr>
        <p:spPr>
          <a:xfrm>
            <a:off x="6324600" y="2590800"/>
            <a:ext cx="165100" cy="165100"/>
          </a:xfrm>
          <a:prstGeom prst="rect">
            <a:avLst/>
          </a:prstGeom>
          <a:solidFill>
            <a:srgbClr val="7FB4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3" name="mx"/>
          <p:cNvSpPr/>
          <p:nvPr/>
        </p:nvSpPr>
        <p:spPr>
          <a:xfrm>
            <a:off x="6502400" y="2590800"/>
            <a:ext cx="165100" cy="165100"/>
          </a:xfrm>
          <a:prstGeom prst="rect">
            <a:avLst/>
          </a:prstGeom>
          <a:solidFill>
            <a:srgbClr val="3E8A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4" name="mx"/>
          <p:cNvSpPr/>
          <p:nvPr/>
        </p:nvSpPr>
        <p:spPr>
          <a:xfrm>
            <a:off x="6680200" y="2590800"/>
            <a:ext cx="165100" cy="1651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5" name="mxlbl"/>
          <p:cNvSpPr txBox="1"/>
          <p:nvPr/>
        </p:nvSpPr>
        <p:spPr>
          <a:xfrm>
            <a:off x="5715000" y="2819400"/>
            <a:ext cx="13970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95000"/>
              </a:lnSpc>
            </a:pPr>
            <a:r>
              <a:rPr lang="it-IT" b="1" dirty="0">
                <a:solidFill>
                  <a:srgbClr val="1A2533"/>
                </a:solidFill>
              </a:rPr>
              <a:t>362 × 362</a:t>
            </a:r>
          </a:p>
        </p:txBody>
      </p:sp>
      <p:sp>
        <p:nvSpPr>
          <p:cNvPr id="536" name="arr2"/>
          <p:cNvSpPr/>
          <p:nvPr/>
        </p:nvSpPr>
        <p:spPr>
          <a:xfrm>
            <a:off x="7061200" y="2133600"/>
            <a:ext cx="457200" cy="254000"/>
          </a:xfrm>
          <a:prstGeom prst="rightArrow">
            <a:avLst/>
          </a:prstGeom>
          <a:solidFill>
            <a:srgbClr val="1A25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7" name="st1"/>
          <p:cNvSpPr/>
          <p:nvPr/>
        </p:nvSpPr>
        <p:spPr>
          <a:xfrm>
            <a:off x="7670800" y="1828800"/>
            <a:ext cx="736600" cy="736600"/>
          </a:xfrm>
          <a:prstGeom prst="rect">
            <a:avLst/>
          </a:prstGeom>
          <a:solidFill>
            <a:srgbClr val="D6E5EC"/>
          </a:solidFill>
          <a:ln w="12700">
            <a:solidFill>
              <a:srgbClr val="1560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8" name="st2"/>
          <p:cNvSpPr/>
          <p:nvPr/>
        </p:nvSpPr>
        <p:spPr>
          <a:xfrm>
            <a:off x="7772400" y="1930400"/>
            <a:ext cx="736600" cy="736600"/>
          </a:xfrm>
          <a:prstGeom prst="rect">
            <a:avLst/>
          </a:prstGeom>
          <a:solidFill>
            <a:srgbClr val="A8CBD9"/>
          </a:solidFill>
          <a:ln w="12700">
            <a:solidFill>
              <a:srgbClr val="15608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9" name="st3"/>
          <p:cNvSpPr/>
          <p:nvPr/>
        </p:nvSpPr>
        <p:spPr>
          <a:xfrm>
            <a:off x="7874000" y="2032000"/>
            <a:ext cx="736600" cy="736600"/>
          </a:xfrm>
          <a:prstGeom prst="rect">
            <a:avLst/>
          </a:prstGeom>
          <a:solidFill>
            <a:srgbClr val="156082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0" name="stlbl"/>
          <p:cNvSpPr txBox="1"/>
          <p:nvPr/>
        </p:nvSpPr>
        <p:spPr>
          <a:xfrm>
            <a:off x="7302499" y="2819400"/>
            <a:ext cx="1939471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95000"/>
              </a:lnSpc>
            </a:pPr>
            <a:r>
              <a:rPr lang="it-IT" b="1" dirty="0">
                <a:solidFill>
                  <a:srgbClr val="1A2533"/>
                </a:solidFill>
              </a:rPr>
              <a:t>461 → 412 matrici</a:t>
            </a:r>
          </a:p>
        </p:txBody>
      </p:sp>
      <p:sp>
        <p:nvSpPr>
          <p:cNvPr id="541" name="arr3"/>
          <p:cNvSpPr/>
          <p:nvPr/>
        </p:nvSpPr>
        <p:spPr>
          <a:xfrm>
            <a:off x="8763000" y="2133600"/>
            <a:ext cx="381000" cy="254000"/>
          </a:xfrm>
          <a:prstGeom prst="rightArrow">
            <a:avLst/>
          </a:prstGeom>
          <a:solidFill>
            <a:srgbClr val="1A25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2" name="ch1"/>
          <p:cNvSpPr/>
          <p:nvPr/>
        </p:nvSpPr>
        <p:spPr>
          <a:xfrm>
            <a:off x="9220200" y="1854200"/>
            <a:ext cx="203200" cy="20320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3" name="cl1"/>
          <p:cNvSpPr txBox="1"/>
          <p:nvPr/>
        </p:nvSpPr>
        <p:spPr>
          <a:xfrm>
            <a:off x="9499600" y="1803400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lang="it-IT" b="1" dirty="0">
                <a:solidFill>
                  <a:srgbClr val="1A2533"/>
                </a:solidFill>
              </a:rPr>
              <a:t>training 288</a:t>
            </a:r>
          </a:p>
        </p:txBody>
      </p:sp>
      <p:sp>
        <p:nvSpPr>
          <p:cNvPr id="544" name="ch2"/>
          <p:cNvSpPr/>
          <p:nvPr/>
        </p:nvSpPr>
        <p:spPr>
          <a:xfrm>
            <a:off x="9220200" y="2209800"/>
            <a:ext cx="203200" cy="203200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5" name="cl2"/>
          <p:cNvSpPr txBox="1"/>
          <p:nvPr/>
        </p:nvSpPr>
        <p:spPr>
          <a:xfrm>
            <a:off x="9499600" y="2159000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lang="it-IT" b="1" dirty="0">
                <a:solidFill>
                  <a:srgbClr val="1A2533"/>
                </a:solidFill>
              </a:rPr>
              <a:t>validation 82</a:t>
            </a:r>
          </a:p>
        </p:txBody>
      </p:sp>
      <p:sp>
        <p:nvSpPr>
          <p:cNvPr id="546" name="ch3"/>
          <p:cNvSpPr/>
          <p:nvPr/>
        </p:nvSpPr>
        <p:spPr>
          <a:xfrm>
            <a:off x="9220200" y="2565400"/>
            <a:ext cx="203200" cy="203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7" name="cl3"/>
          <p:cNvSpPr txBox="1"/>
          <p:nvPr/>
        </p:nvSpPr>
        <p:spPr>
          <a:xfrm>
            <a:off x="9499600" y="2514600"/>
            <a:ext cx="17780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5000"/>
              </a:lnSpc>
            </a:pPr>
            <a:r>
              <a:rPr lang="it-IT" b="1" dirty="0">
                <a:solidFill>
                  <a:srgbClr val="1A2533"/>
                </a:solidFill>
              </a:rPr>
              <a:t>test 42</a:t>
            </a:r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7404340F-6A2C-4385-A00D-09C2DFA9028C}"/>
              </a:ext>
            </a:extLst>
          </p:cNvPr>
          <p:cNvSpPr txBox="1"/>
          <p:nvPr/>
        </p:nvSpPr>
        <p:spPr>
          <a:xfrm>
            <a:off x="10871200" y="6451600"/>
            <a:ext cx="8636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it-IT">
                <a:solidFill>
                  <a:srgbClr val="1A253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20629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0EF0C2-89FE-33E1-CDCC-E2A652109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79400"/>
            <a:ext cx="11023600" cy="889000"/>
          </a:xfrm>
        </p:spPr>
        <p:txBody>
          <a:bodyPr/>
          <a:lstStyle/>
          <a:p>
            <a:pPr algn="l"/>
            <a:r>
              <a:rPr lang="it-IT" sz="3200" b="1" dirty="0"/>
              <a:t>Analisi dei modelli ricostruttivi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9F7CECA-A4BD-4A47-B91C-9411CFF4DC1B}"/>
              </a:ext>
            </a:extLst>
          </p:cNvPr>
          <p:cNvSpPr txBox="1"/>
          <p:nvPr/>
        </p:nvSpPr>
        <p:spPr>
          <a:xfrm>
            <a:off x="1328353" y="6149945"/>
            <a:ext cx="363982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it-IT" sz="2000" b="1" dirty="0"/>
              <a:t>errore di ricostruzione (MSE)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8BA234D-DFF2-47C9-AE2F-BE979BC92E6B}"/>
              </a:ext>
            </a:extLst>
          </p:cNvPr>
          <p:cNvSpPr txBox="1"/>
          <p:nvPr/>
        </p:nvSpPr>
        <p:spPr>
          <a:xfrm>
            <a:off x="7237999" y="6149945"/>
            <a:ext cx="363982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buNone/>
            </a:pPr>
            <a:r>
              <a:rPr lang="it-IT" sz="2000" b="1" dirty="0"/>
              <a:t>archi del MST conservati (%)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83A25EC-8777-6C56-0868-AFAD625639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7" t="3356"/>
          <a:stretch>
            <a:fillRect/>
          </a:stretch>
        </p:blipFill>
        <p:spPr>
          <a:xfrm>
            <a:off x="290556" y="3314699"/>
            <a:ext cx="5805443" cy="283524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4E42B855-5B40-690E-6599-7EA6675CE7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99" t="3356"/>
          <a:stretch>
            <a:fillRect/>
          </a:stretch>
        </p:blipFill>
        <p:spPr>
          <a:xfrm>
            <a:off x="6214374" y="3314699"/>
            <a:ext cx="5805443" cy="2835246"/>
          </a:xfrm>
          <a:prstGeom prst="rect">
            <a:avLst/>
          </a:prstGeom>
        </p:spPr>
      </p:pic>
      <p:sp>
        <p:nvSpPr>
          <p:cNvPr id="700" name="tag"/>
          <p:cNvSpPr/>
          <p:nvPr/>
        </p:nvSpPr>
        <p:spPr>
          <a:xfrm>
            <a:off x="584200" y="1270000"/>
            <a:ext cx="3619500" cy="4318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it-IT" sz="2400" b="1" dirty="0">
                <a:solidFill>
                  <a:srgbClr val="FFFFFF"/>
                </a:solidFill>
              </a:rPr>
              <a:t>PCA</a:t>
            </a:r>
          </a:p>
        </p:txBody>
      </p:sp>
      <p:sp>
        <p:nvSpPr>
          <p:cNvPr id="701" name="desc"/>
          <p:cNvSpPr txBox="1"/>
          <p:nvPr/>
        </p:nvSpPr>
        <p:spPr>
          <a:xfrm>
            <a:off x="4432300" y="1270000"/>
            <a:ext cx="71247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it-IT" sz="2400" dirty="0">
                <a:solidFill>
                  <a:srgbClr val="1A2533"/>
                </a:solidFill>
              </a:rPr>
              <a:t>benchmark lineare</a:t>
            </a:r>
          </a:p>
        </p:txBody>
      </p:sp>
      <p:sp>
        <p:nvSpPr>
          <p:cNvPr id="702" name="tag"/>
          <p:cNvSpPr/>
          <p:nvPr/>
        </p:nvSpPr>
        <p:spPr>
          <a:xfrm>
            <a:off x="584200" y="1778000"/>
            <a:ext cx="3619500" cy="431800"/>
          </a:xfrm>
          <a:prstGeom prst="roundRect">
            <a:avLst>
              <a:gd name="adj" fmla="val 25000"/>
            </a:avLst>
          </a:prstGeom>
          <a:solidFill>
            <a:srgbClr val="196B24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it-IT" sz="2400" b="1" dirty="0">
                <a:solidFill>
                  <a:srgbClr val="FFFFFF"/>
                </a:solidFill>
              </a:rPr>
              <a:t>autoencoder lineare</a:t>
            </a:r>
          </a:p>
        </p:txBody>
      </p:sp>
      <p:sp>
        <p:nvSpPr>
          <p:cNvPr id="703" name="desc"/>
          <p:cNvSpPr txBox="1"/>
          <p:nvPr/>
        </p:nvSpPr>
        <p:spPr>
          <a:xfrm>
            <a:off x="4432300" y="1778000"/>
            <a:ext cx="71247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it-IT" sz="2400" dirty="0">
                <a:solidFill>
                  <a:srgbClr val="1A2533"/>
                </a:solidFill>
              </a:rPr>
              <a:t>verifica di equivalenza alla PCA</a:t>
            </a:r>
          </a:p>
        </p:txBody>
      </p:sp>
      <p:sp>
        <p:nvSpPr>
          <p:cNvPr id="704" name="tag"/>
          <p:cNvSpPr/>
          <p:nvPr/>
        </p:nvSpPr>
        <p:spPr>
          <a:xfrm>
            <a:off x="584200" y="2286000"/>
            <a:ext cx="3619500" cy="431800"/>
          </a:xfrm>
          <a:prstGeom prst="roundRect">
            <a:avLst>
              <a:gd name="adj" fmla="val 25000"/>
            </a:avLst>
          </a:prstGeom>
          <a:solidFill>
            <a:srgbClr val="C00000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it-IT" sz="2400" b="1" dirty="0">
                <a:solidFill>
                  <a:srgbClr val="FFFFFF"/>
                </a:solidFill>
              </a:rPr>
              <a:t>autoencoder profondo</a:t>
            </a:r>
          </a:p>
        </p:txBody>
      </p:sp>
      <p:sp>
        <p:nvSpPr>
          <p:cNvPr id="705" name="desc"/>
          <p:cNvSpPr txBox="1"/>
          <p:nvPr/>
        </p:nvSpPr>
        <p:spPr>
          <a:xfrm>
            <a:off x="4432300" y="2286000"/>
            <a:ext cx="71247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it-IT" sz="2400" dirty="0">
                <a:solidFill>
                  <a:srgbClr val="1A2533"/>
                </a:solidFill>
              </a:rPr>
              <a:t>aggiunta di non linearità (</a:t>
            </a:r>
            <a:r>
              <a:rPr lang="it-IT" sz="2400" dirty="0" err="1">
                <a:solidFill>
                  <a:srgbClr val="1A2533"/>
                </a:solidFill>
              </a:rPr>
              <a:t>Leaky</a:t>
            </a:r>
            <a:r>
              <a:rPr lang="it-IT" sz="2400" dirty="0">
                <a:solidFill>
                  <a:srgbClr val="1A2533"/>
                </a:solidFill>
              </a:rPr>
              <a:t> </a:t>
            </a:r>
            <a:r>
              <a:rPr lang="it-IT" sz="2400" dirty="0" err="1">
                <a:solidFill>
                  <a:srgbClr val="1A2533"/>
                </a:solidFill>
              </a:rPr>
              <a:t>ReLU</a:t>
            </a:r>
            <a:r>
              <a:rPr lang="it-IT" sz="2400" dirty="0">
                <a:solidFill>
                  <a:srgbClr val="1A2533"/>
                </a:solidFill>
              </a:rPr>
              <a:t>)</a:t>
            </a:r>
          </a:p>
        </p:txBody>
      </p:sp>
      <p:sp>
        <p:nvSpPr>
          <p:cNvPr id="706" name="tag"/>
          <p:cNvSpPr/>
          <p:nvPr/>
        </p:nvSpPr>
        <p:spPr>
          <a:xfrm>
            <a:off x="584200" y="2794000"/>
            <a:ext cx="3619500" cy="431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</p:spPr>
        <p:txBody>
          <a:bodyPr wrap="none" lIns="0" tIns="0" rIns="0" bIns="0" anchor="ctr" anchorCtr="1">
            <a:noAutofit/>
          </a:bodyPr>
          <a:lstStyle/>
          <a:p>
            <a:pPr algn="ctr"/>
            <a:r>
              <a:rPr lang="it-IT" sz="2400" b="1" dirty="0">
                <a:solidFill>
                  <a:srgbClr val="FFFFFF"/>
                </a:solidFill>
              </a:rPr>
              <a:t>VAE</a:t>
            </a:r>
          </a:p>
        </p:txBody>
      </p:sp>
      <p:sp>
        <p:nvSpPr>
          <p:cNvPr id="707" name="desc"/>
          <p:cNvSpPr txBox="1"/>
          <p:nvPr/>
        </p:nvSpPr>
        <p:spPr>
          <a:xfrm>
            <a:off x="4432300" y="2794000"/>
            <a:ext cx="71247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it-IT" sz="2400" dirty="0">
                <a:solidFill>
                  <a:srgbClr val="1A2533"/>
                </a:solidFill>
              </a:rPr>
              <a:t>spazio latente continuo, campionabile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355405C9-B1D5-4284-BFD2-AC7D32CD74BF}"/>
              </a:ext>
            </a:extLst>
          </p:cNvPr>
          <p:cNvSpPr txBox="1"/>
          <p:nvPr/>
        </p:nvSpPr>
        <p:spPr>
          <a:xfrm>
            <a:off x="10871200" y="6451600"/>
            <a:ext cx="8636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it-IT">
                <a:solidFill>
                  <a:srgbClr val="1A253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36249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CC4DDB-7418-B020-5E78-C635FB52A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79400"/>
            <a:ext cx="11023600" cy="889000"/>
          </a:xfrm>
        </p:spPr>
        <p:txBody>
          <a:bodyPr/>
          <a:lstStyle/>
          <a:p>
            <a:pPr algn="l"/>
            <a:r>
              <a:rPr lang="it-IT" sz="3200" b="1" dirty="0"/>
              <a:t>Lo spazio latente del VAE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CF9D861-6ECC-3AAB-EF8D-F5C7FE7275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48"/>
          <a:stretch>
            <a:fillRect/>
          </a:stretch>
        </p:blipFill>
        <p:spPr>
          <a:xfrm>
            <a:off x="1714500" y="2286000"/>
            <a:ext cx="8763000" cy="3454400"/>
          </a:xfrm>
          <a:prstGeom prst="rect">
            <a:avLst/>
          </a:prstGeom>
        </p:spPr>
      </p:pic>
      <p:sp>
        <p:nvSpPr>
          <p:cNvPr id="6" name="kcap">
            <a:extLst>
              <a:ext uri="{FF2B5EF4-FFF2-40B4-BE49-F238E27FC236}">
                <a16:creationId xmlns:a16="http://schemas.microsoft.com/office/drawing/2014/main" id="{84120690-3300-438B-9F65-AA50D6015268}"/>
              </a:ext>
            </a:extLst>
          </p:cNvPr>
          <p:cNvSpPr txBox="1"/>
          <p:nvPr/>
        </p:nvSpPr>
        <p:spPr>
          <a:xfrm>
            <a:off x="584200" y="1270000"/>
            <a:ext cx="110236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342900" indent="-342900">
              <a:lnSpc>
                <a:spcPct val="95000"/>
              </a:lnSpc>
              <a:spcBef>
                <a:spcPts val="600"/>
              </a:spcBef>
              <a:buFont typeface="Arial"/>
              <a:buChar char="•"/>
            </a:pPr>
            <a:r>
              <a:rPr lang="it-IT" sz="2400" b="1" dirty="0">
                <a:solidFill>
                  <a:srgbClr val="1A2533"/>
                </a:solidFill>
              </a:rPr>
              <a:t>costo</a:t>
            </a:r>
            <a:r>
              <a:rPr lang="it-IT" sz="2400" dirty="0">
                <a:solidFill>
                  <a:srgbClr val="1A2533"/>
                </a:solidFill>
              </a:rPr>
              <a:t>: divergenza di Jeffreys sulle matrici + KL con peso unitario</a:t>
            </a:r>
          </a:p>
          <a:p>
            <a:pPr marL="342900" indent="-342900">
              <a:lnSpc>
                <a:spcPct val="95000"/>
              </a:lnSpc>
              <a:spcBef>
                <a:spcPts val="600"/>
              </a:spcBef>
              <a:buFont typeface="Arial"/>
              <a:buChar char="•"/>
            </a:pPr>
            <a:r>
              <a:rPr lang="it-IT" sz="2400" b="1" dirty="0">
                <a:solidFill>
                  <a:srgbClr val="1A2533"/>
                </a:solidFill>
              </a:rPr>
              <a:t>K = 20</a:t>
            </a:r>
            <a:r>
              <a:rPr lang="it-IT" sz="2400" dirty="0">
                <a:solidFill>
                  <a:srgbClr val="1A2533"/>
                </a:solidFill>
              </a:rPr>
              <a:t> dal gomito delle curve d’errore dei modelli deterministici</a:t>
            </a:r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AA18D8F4-E3C8-4C6C-B504-84105E8928FD}"/>
              </a:ext>
            </a:extLst>
          </p:cNvPr>
          <p:cNvSpPr txBox="1"/>
          <p:nvPr/>
        </p:nvSpPr>
        <p:spPr>
          <a:xfrm>
            <a:off x="10871200" y="6451600"/>
            <a:ext cx="8636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it-IT">
                <a:solidFill>
                  <a:srgbClr val="1A2533"/>
                </a:solidFill>
              </a:rPr>
              <a:t>10</a:t>
            </a:r>
          </a:p>
        </p:txBody>
      </p:sp>
      <p:sp>
        <p:nvSpPr>
          <p:cNvPr id="5" name="figcap">
            <a:extLst>
              <a:ext uri="{FF2B5EF4-FFF2-40B4-BE49-F238E27FC236}">
                <a16:creationId xmlns:a16="http://schemas.microsoft.com/office/drawing/2014/main" id="{330A240F-B36D-4A8F-9DFB-C5F62E9AF544}"/>
              </a:ext>
            </a:extLst>
          </p:cNvPr>
          <p:cNvSpPr txBox="1"/>
          <p:nvPr/>
        </p:nvSpPr>
        <p:spPr>
          <a:xfrm>
            <a:off x="584200" y="5867400"/>
            <a:ext cx="110236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>
              <a:buNone/>
            </a:pPr>
            <a:r>
              <a:rPr lang="it-IT" sz="2000" dirty="0">
                <a:solidFill>
                  <a:srgbClr val="1A2533"/>
                </a:solidFill>
              </a:rPr>
              <a:t>varianza empirica dei codici z = μ sulle 288 matrici di training</a:t>
            </a:r>
          </a:p>
        </p:txBody>
      </p:sp>
    </p:spTree>
    <p:extLst>
      <p:ext uri="{BB962C8B-B14F-4D97-AF65-F5344CB8AC3E}">
        <p14:creationId xmlns:p14="http://schemas.microsoft.com/office/powerpoint/2010/main" val="1194658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4F3795-0C58-BC93-0964-F309CDFA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79400"/>
            <a:ext cx="11023600" cy="889000"/>
          </a:xfrm>
        </p:spPr>
        <p:txBody>
          <a:bodyPr/>
          <a:lstStyle/>
          <a:p>
            <a:pPr algn="l"/>
            <a:r>
              <a:rPr lang="it-IT" sz="3200" b="1" dirty="0"/>
              <a:t>Generazione di matrici sintetiche tramite VAE</a:t>
            </a:r>
          </a:p>
        </p:txBody>
      </p:sp>
      <p:sp>
        <p:nvSpPr>
          <p:cNvPr id="3" name="sub">
            <a:extLst>
              <a:ext uri="{FF2B5EF4-FFF2-40B4-BE49-F238E27FC236}">
                <a16:creationId xmlns:a16="http://schemas.microsoft.com/office/drawing/2014/main" id="{1B396E92-193D-447E-B896-595E7C3CAF88}"/>
              </a:ext>
            </a:extLst>
          </p:cNvPr>
          <p:cNvSpPr txBox="1"/>
          <p:nvPr/>
        </p:nvSpPr>
        <p:spPr>
          <a:xfrm>
            <a:off x="584200" y="1219200"/>
            <a:ext cx="11023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it-IT" sz="2400" dirty="0">
                <a:solidFill>
                  <a:srgbClr val="156082"/>
                </a:solidFill>
              </a:rPr>
              <a:t>block-bootstrap storico nello spazio latente</a:t>
            </a:r>
          </a:p>
        </p:txBody>
      </p:sp>
      <p:sp>
        <p:nvSpPr>
          <p:cNvPr id="4" name="step1">
            <a:extLst>
              <a:ext uri="{FF2B5EF4-FFF2-40B4-BE49-F238E27FC236}">
                <a16:creationId xmlns:a16="http://schemas.microsoft.com/office/drawing/2014/main" id="{918F8947-CA77-4B9B-A167-F2AEEA83C092}"/>
              </a:ext>
            </a:extLst>
          </p:cNvPr>
          <p:cNvSpPr/>
          <p:nvPr/>
        </p:nvSpPr>
        <p:spPr>
          <a:xfrm>
            <a:off x="584200" y="1905000"/>
            <a:ext cx="3606800" cy="1041400"/>
          </a:xfrm>
          <a:prstGeom prst="roundRect">
            <a:avLst/>
          </a:prstGeom>
          <a:solidFill>
            <a:srgbClr val="EDF2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marL="285750" indent="-285750" algn="l">
              <a:lnSpc>
                <a:spcPts val="2100"/>
              </a:lnSpc>
              <a:tabLst>
                <a:tab pos="285750" algn="l"/>
              </a:tabLst>
            </a:pPr>
            <a:r>
              <a:rPr lang="it-IT" sz="2000" b="1" dirty="0">
                <a:solidFill>
                  <a:srgbClr val="E97132"/>
                </a:solidFill>
              </a:rPr>
              <a:t>1	</a:t>
            </a:r>
            <a:r>
              <a:rPr lang="it-IT" sz="1800" dirty="0">
                <a:solidFill>
                  <a:srgbClr val="1A2533"/>
                </a:solidFill>
              </a:rPr>
              <a:t>codifica delle matrici storiche a passo giornaliero</a:t>
            </a:r>
          </a:p>
        </p:txBody>
      </p:sp>
      <p:sp>
        <p:nvSpPr>
          <p:cNvPr id="5" name="step2">
            <a:extLst>
              <a:ext uri="{FF2B5EF4-FFF2-40B4-BE49-F238E27FC236}">
                <a16:creationId xmlns:a16="http://schemas.microsoft.com/office/drawing/2014/main" id="{48C8306F-3BCF-4F57-AD6C-552578064688}"/>
              </a:ext>
            </a:extLst>
          </p:cNvPr>
          <p:cNvSpPr/>
          <p:nvPr/>
        </p:nvSpPr>
        <p:spPr>
          <a:xfrm>
            <a:off x="584200" y="3365500"/>
            <a:ext cx="3606800" cy="1041400"/>
          </a:xfrm>
          <a:prstGeom prst="roundRect">
            <a:avLst/>
          </a:prstGeom>
          <a:solidFill>
            <a:srgbClr val="EDF2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marL="285750" indent="-285750" algn="l">
              <a:lnSpc>
                <a:spcPts val="2100"/>
              </a:lnSpc>
              <a:tabLst>
                <a:tab pos="285750" algn="l"/>
              </a:tabLst>
            </a:pPr>
            <a:r>
              <a:rPr lang="it-IT" sz="2000" b="1" dirty="0">
                <a:solidFill>
                  <a:srgbClr val="E97132"/>
                </a:solidFill>
              </a:rPr>
              <a:t>2	</a:t>
            </a:r>
            <a:r>
              <a:rPr lang="it-IT" sz="1800" dirty="0">
                <a:solidFill>
                  <a:srgbClr val="1A2533"/>
                </a:solidFill>
              </a:rPr>
              <a:t>incrementi latenti Δz e blocchi di 21 giorni consecutivi</a:t>
            </a:r>
          </a:p>
        </p:txBody>
      </p:sp>
      <p:sp>
        <p:nvSpPr>
          <p:cNvPr id="6" name="step3">
            <a:extLst>
              <a:ext uri="{FF2B5EF4-FFF2-40B4-BE49-F238E27FC236}">
                <a16:creationId xmlns:a16="http://schemas.microsoft.com/office/drawing/2014/main" id="{8DCB056F-E742-41BD-AD27-2EEEDBBC22C7}"/>
              </a:ext>
            </a:extLst>
          </p:cNvPr>
          <p:cNvSpPr/>
          <p:nvPr/>
        </p:nvSpPr>
        <p:spPr>
          <a:xfrm>
            <a:off x="584200" y="4826000"/>
            <a:ext cx="3606800" cy="1041400"/>
          </a:xfrm>
          <a:prstGeom prst="roundRect">
            <a:avLst/>
          </a:prstGeom>
          <a:solidFill>
            <a:srgbClr val="EDF2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marL="285750" indent="-285750" algn="l">
              <a:lnSpc>
                <a:spcPts val="2100"/>
              </a:lnSpc>
              <a:tabLst>
                <a:tab pos="285750" algn="l"/>
              </a:tabLst>
            </a:pPr>
            <a:r>
              <a:rPr lang="it-IT" sz="2000" b="1" dirty="0">
                <a:solidFill>
                  <a:srgbClr val="E97132"/>
                </a:solidFill>
              </a:rPr>
              <a:t>3	</a:t>
            </a:r>
            <a:r>
              <a:rPr lang="it-IT" sz="1800" dirty="0">
                <a:solidFill>
                  <a:srgbClr val="1A2533"/>
                </a:solidFill>
              </a:rPr>
              <a:t>somma sullo stato latente di oggi e decodifica, ripetuta 1.000 volte</a:t>
            </a:r>
          </a:p>
        </p:txBody>
      </p:sp>
      <p:pic>
        <p:nvPicPr>
          <p:cNvPr id="14" name="Copied Picture 14">
            <a:extLst>
              <a:ext uri="{FF2B5EF4-FFF2-40B4-BE49-F238E27FC236}">
                <a16:creationId xmlns:a16="http://schemas.microsoft.com/office/drawing/2014/main" id="{E68781D4-7BC4-3F69-0FAE-3607D2DC24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05"/>
          <a:stretch>
            <a:fillRect/>
          </a:stretch>
        </p:blipFill>
        <p:spPr>
          <a:xfrm>
            <a:off x="4227830" y="1775459"/>
            <a:ext cx="7597140" cy="4555599"/>
          </a:xfrm>
          <a:prstGeom prst="rect">
            <a:avLst/>
          </a:prstGeom>
        </p:spPr>
      </p:pic>
      <p:sp>
        <p:nvSpPr>
          <p:cNvPr id="7" name="PageNumber">
            <a:extLst>
              <a:ext uri="{FF2B5EF4-FFF2-40B4-BE49-F238E27FC236}">
                <a16:creationId xmlns:a16="http://schemas.microsoft.com/office/drawing/2014/main" id="{AE7FF4F8-3C72-48AA-ADB0-D5930C5513A1}"/>
              </a:ext>
            </a:extLst>
          </p:cNvPr>
          <p:cNvSpPr txBox="1"/>
          <p:nvPr/>
        </p:nvSpPr>
        <p:spPr>
          <a:xfrm>
            <a:off x="10871200" y="6451600"/>
            <a:ext cx="8636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it-IT">
                <a:solidFill>
                  <a:srgbClr val="1A253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3493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5CA1FF-1C7E-0BAA-4659-F5DA43C28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79400"/>
            <a:ext cx="11023600" cy="889000"/>
          </a:xfrm>
        </p:spPr>
        <p:txBody>
          <a:bodyPr/>
          <a:lstStyle/>
          <a:p>
            <a:pPr algn="l"/>
            <a:r>
              <a:rPr lang="it-IT" sz="3200" b="1" dirty="0"/>
              <a:t>Validazione, limiti e conclusione</a:t>
            </a:r>
          </a:p>
        </p:txBody>
      </p:sp>
      <p:sp>
        <p:nvSpPr>
          <p:cNvPr id="4" name="kpi0">
            <a:extLst>
              <a:ext uri="{FF2B5EF4-FFF2-40B4-BE49-F238E27FC236}">
                <a16:creationId xmlns:a16="http://schemas.microsoft.com/office/drawing/2014/main" id="{1B14B78F-A544-4768-9ABB-32E2D4819322}"/>
              </a:ext>
            </a:extLst>
          </p:cNvPr>
          <p:cNvSpPr/>
          <p:nvPr/>
        </p:nvSpPr>
        <p:spPr>
          <a:xfrm>
            <a:off x="584200" y="1549400"/>
            <a:ext cx="11023600" cy="1422400"/>
          </a:xfrm>
          <a:prstGeom prst="roundRect">
            <a:avLst/>
          </a:prstGeom>
          <a:solidFill>
            <a:srgbClr val="EDF2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it-IT" sz="2000" b="1" dirty="0">
                <a:solidFill>
                  <a:srgbClr val="156082"/>
                </a:solidFill>
              </a:rPr>
              <a:t>validazione</a:t>
            </a:r>
          </a:p>
          <a:p>
            <a:pPr marL="228600" indent="-228600">
              <a:lnSpc>
                <a:spcPts val="2100"/>
              </a:lnSpc>
              <a:spcBef>
                <a:spcPts val="200"/>
              </a:spcBef>
              <a:buFont typeface="Arial"/>
              <a:buChar char="•"/>
            </a:pPr>
            <a:r>
              <a:rPr lang="it-IT" sz="1800" dirty="0">
                <a:solidFill>
                  <a:srgbClr val="1A2533"/>
                </a:solidFill>
              </a:rPr>
              <a:t>1.000/1.000 scenari conformi ai cinque fatti stilizzati</a:t>
            </a:r>
          </a:p>
          <a:p>
            <a:pPr marL="228600" indent="-228600">
              <a:lnSpc>
                <a:spcPts val="2100"/>
              </a:lnSpc>
              <a:spcBef>
                <a:spcPts val="200"/>
              </a:spcBef>
              <a:buFont typeface="Arial"/>
              <a:buChar char="•"/>
            </a:pPr>
            <a:r>
              <a:rPr lang="it-IT" sz="1800" dirty="0">
                <a:solidFill>
                  <a:srgbClr val="1A2533"/>
                </a:solidFill>
              </a:rPr>
              <a:t>matrici sintetiche </a:t>
            </a:r>
            <a:r>
              <a:rPr lang="it-IT" sz="1800">
                <a:solidFill>
                  <a:srgbClr val="1A2533"/>
                </a:solidFill>
              </a:rPr>
              <a:t>semidefinite</a:t>
            </a:r>
            <a:r>
              <a:rPr lang="it-IT" sz="1800" dirty="0">
                <a:solidFill>
                  <a:srgbClr val="1A2533"/>
                </a:solidFill>
              </a:rPr>
              <a:t> positive per costruzione (Cholesky)</a:t>
            </a:r>
          </a:p>
        </p:txBody>
      </p:sp>
      <p:sp>
        <p:nvSpPr>
          <p:cNvPr id="7" name="detCard">
            <a:extLst>
              <a:ext uri="{FF2B5EF4-FFF2-40B4-BE49-F238E27FC236}">
                <a16:creationId xmlns:a16="http://schemas.microsoft.com/office/drawing/2014/main" id="{FA7BBF4F-5FEC-4E59-86BD-46707F2FE023}"/>
              </a:ext>
            </a:extLst>
          </p:cNvPr>
          <p:cNvSpPr/>
          <p:nvPr/>
        </p:nvSpPr>
        <p:spPr>
          <a:xfrm>
            <a:off x="584200" y="3251200"/>
            <a:ext cx="5384800" cy="2946400"/>
          </a:xfrm>
          <a:prstGeom prst="roundRect">
            <a:avLst/>
          </a:prstGeom>
          <a:solidFill>
            <a:srgbClr val="EDF2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it-IT" sz="2000" b="1" dirty="0">
                <a:solidFill>
                  <a:srgbClr val="C00000"/>
                </a:solidFill>
              </a:rPr>
              <a:t>limiti</a:t>
            </a:r>
          </a:p>
          <a:p>
            <a:pPr marL="228600" indent="-228600">
              <a:lnSpc>
                <a:spcPts val="2100"/>
              </a:lnSpc>
              <a:spcBef>
                <a:spcPts val="200"/>
              </a:spcBef>
              <a:buFont typeface="Arial"/>
              <a:buChar char="•"/>
            </a:pPr>
            <a:r>
              <a:rPr lang="it-IT" sz="1800" dirty="0">
                <a:solidFill>
                  <a:srgbClr val="1A2533"/>
                </a:solidFill>
              </a:rPr>
              <a:t>survivorship bias del campione</a:t>
            </a:r>
          </a:p>
          <a:p>
            <a:pPr marL="228600" indent="-228600">
              <a:lnSpc>
                <a:spcPts val="2100"/>
              </a:lnSpc>
              <a:spcBef>
                <a:spcPts val="200"/>
              </a:spcBef>
              <a:buFont typeface="Arial"/>
              <a:buChar char="•"/>
            </a:pPr>
            <a:r>
              <a:rPr lang="it-IT" sz="1800" dirty="0">
                <a:solidFill>
                  <a:srgbClr val="1A2533"/>
                </a:solidFill>
              </a:rPr>
              <a:t>un solo stato iniziale e indicatori aggregati</a:t>
            </a:r>
          </a:p>
          <a:p>
            <a:pPr marL="228600" indent="-228600">
              <a:lnSpc>
                <a:spcPts val="2100"/>
              </a:lnSpc>
              <a:spcBef>
                <a:spcPts val="200"/>
              </a:spcBef>
              <a:buFont typeface="Arial"/>
              <a:buChar char="•"/>
            </a:pPr>
            <a:r>
              <a:rPr lang="it-IT" sz="1800" dirty="0">
                <a:solidFill>
                  <a:srgbClr val="1A2533"/>
                </a:solidFill>
              </a:rPr>
              <a:t>blocchi e finestre sovrapposti fino al 98,6%</a:t>
            </a:r>
          </a:p>
          <a:p>
            <a:pPr marL="228600" indent="-228600">
              <a:lnSpc>
                <a:spcPts val="2100"/>
              </a:lnSpc>
              <a:spcBef>
                <a:spcPts val="200"/>
              </a:spcBef>
              <a:buFont typeface="Arial"/>
              <a:buChar char="•"/>
            </a:pPr>
            <a:r>
              <a:rPr lang="it-IT" sz="1800" dirty="0">
                <a:solidFill>
                  <a:srgbClr val="1A2533"/>
                </a:solidFill>
              </a:rPr>
              <a:t>K non esplorato agli estremi per il VAE</a:t>
            </a:r>
          </a:p>
          <a:p>
            <a:pPr marL="228600" indent="-228600">
              <a:lnSpc>
                <a:spcPts val="2100"/>
              </a:lnSpc>
              <a:spcBef>
                <a:spcPts val="200"/>
              </a:spcBef>
              <a:buFont typeface="Arial"/>
              <a:buChar char="•"/>
            </a:pPr>
            <a:r>
              <a:rPr lang="it-IT" sz="1800" dirty="0">
                <a:solidFill>
                  <a:srgbClr val="1A2533"/>
                </a:solidFill>
              </a:rPr>
              <a:t>validità limitata ai regimi di </a:t>
            </a:r>
            <a:r>
              <a:rPr lang="it-IT" sz="1800">
                <a:solidFill>
                  <a:srgbClr val="1A2533"/>
                </a:solidFill>
              </a:rPr>
              <a:t>mercato standard</a:t>
            </a:r>
            <a:endParaRPr lang="it-IT" sz="1800" dirty="0">
              <a:solidFill>
                <a:srgbClr val="1A2533"/>
              </a:solidFill>
            </a:endParaRPr>
          </a:p>
          <a:p>
            <a:pPr marL="228600" indent="-228600">
              <a:lnSpc>
                <a:spcPts val="2100"/>
              </a:lnSpc>
              <a:spcBef>
                <a:spcPts val="200"/>
              </a:spcBef>
              <a:buFont typeface="Arial"/>
              <a:buChar char="•"/>
            </a:pPr>
            <a:r>
              <a:rPr lang="it-IT" sz="1800" dirty="0">
                <a:solidFill>
                  <a:srgbClr val="1A2533"/>
                </a:solidFill>
              </a:rPr>
              <a:t>settori GICS da modello linguistico</a:t>
            </a:r>
          </a:p>
        </p:txBody>
      </p:sp>
      <p:sp>
        <p:nvSpPr>
          <p:cNvPr id="8" name="stressCard">
            <a:extLst>
              <a:ext uri="{FF2B5EF4-FFF2-40B4-BE49-F238E27FC236}">
                <a16:creationId xmlns:a16="http://schemas.microsoft.com/office/drawing/2014/main" id="{2B698CFB-A789-4B88-843D-04B4052DAB2A}"/>
              </a:ext>
            </a:extLst>
          </p:cNvPr>
          <p:cNvSpPr/>
          <p:nvPr/>
        </p:nvSpPr>
        <p:spPr>
          <a:xfrm>
            <a:off x="6223000" y="3251200"/>
            <a:ext cx="5384800" cy="2946400"/>
          </a:xfrm>
          <a:prstGeom prst="roundRect">
            <a:avLst/>
          </a:prstGeom>
          <a:solidFill>
            <a:srgbClr val="EDF2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it-IT" sz="2000" b="1" dirty="0">
                <a:solidFill>
                  <a:srgbClr val="156082"/>
                </a:solidFill>
              </a:rPr>
              <a:t>sviluppi futuri</a:t>
            </a:r>
          </a:p>
          <a:p>
            <a:pPr marL="228600" indent="-228600">
              <a:lnSpc>
                <a:spcPts val="1900"/>
              </a:lnSpc>
              <a:spcBef>
                <a:spcPts val="100"/>
              </a:spcBef>
              <a:buFont typeface="Arial"/>
              <a:buChar char="•"/>
            </a:pPr>
            <a:r>
              <a:rPr lang="it-IT" sz="1800" dirty="0">
                <a:solidFill>
                  <a:srgbClr val="1A2533"/>
                </a:solidFill>
              </a:rPr>
              <a:t>rischio di portafoglio su portafogli reali</a:t>
            </a:r>
          </a:p>
          <a:p>
            <a:pPr marL="228600" indent="-228600">
              <a:lnSpc>
                <a:spcPts val="1900"/>
              </a:lnSpc>
              <a:spcBef>
                <a:spcPts val="100"/>
              </a:spcBef>
              <a:buFont typeface="Arial"/>
              <a:buChar char="•"/>
            </a:pPr>
            <a:r>
              <a:rPr lang="it-IT" sz="1800" dirty="0">
                <a:solidFill>
                  <a:srgbClr val="1A2533"/>
                </a:solidFill>
              </a:rPr>
              <a:t>più stati iniziali e test distributivi formali</a:t>
            </a:r>
          </a:p>
          <a:p>
            <a:pPr marL="228600" indent="-228600">
              <a:lnSpc>
                <a:spcPts val="1900"/>
              </a:lnSpc>
              <a:spcBef>
                <a:spcPts val="100"/>
              </a:spcBef>
              <a:buFont typeface="Arial"/>
              <a:buChar char="•"/>
            </a:pPr>
            <a:r>
              <a:rPr lang="it-IT" sz="1800" dirty="0">
                <a:solidFill>
                  <a:srgbClr val="1A2533"/>
                </a:solidFill>
              </a:rPr>
              <a:t>confronto con CorrGAN e modelli di diffusione</a:t>
            </a:r>
          </a:p>
          <a:p>
            <a:pPr marL="228600" indent="-228600">
              <a:lnSpc>
                <a:spcPts val="1900"/>
              </a:lnSpc>
              <a:spcBef>
                <a:spcPts val="100"/>
              </a:spcBef>
              <a:buFont typeface="Arial"/>
              <a:buChar char="•"/>
            </a:pPr>
            <a:r>
              <a:rPr lang="it-IT" sz="1800" dirty="0">
                <a:solidFill>
                  <a:srgbClr val="1A2533"/>
                </a:solidFill>
              </a:rPr>
              <a:t>rimozione del survivorship bias (panel variabile)</a:t>
            </a:r>
          </a:p>
          <a:p>
            <a:pPr marL="228600" indent="-228600">
              <a:lnSpc>
                <a:spcPts val="1900"/>
              </a:lnSpc>
              <a:spcBef>
                <a:spcPts val="100"/>
              </a:spcBef>
              <a:buFont typeface="Arial"/>
              <a:buChar char="•"/>
            </a:pPr>
            <a:r>
              <a:rPr lang="it-IT" sz="1800" dirty="0">
                <a:solidFill>
                  <a:srgbClr val="1A2533"/>
                </a:solidFill>
              </a:rPr>
              <a:t>altre asset class (valute, materie prime)</a:t>
            </a:r>
          </a:p>
          <a:p>
            <a:pPr marL="228600" indent="-228600">
              <a:lnSpc>
                <a:spcPts val="1900"/>
              </a:lnSpc>
              <a:spcBef>
                <a:spcPts val="100"/>
              </a:spcBef>
              <a:buFont typeface="Arial"/>
              <a:buChar char="•"/>
            </a:pPr>
            <a:r>
              <a:rPr lang="it-IT" sz="1800" dirty="0">
                <a:solidFill>
                  <a:srgbClr val="1A2533"/>
                </a:solidFill>
              </a:rPr>
              <a:t>separazione temporale tra i set</a:t>
            </a:r>
          </a:p>
        </p:txBody>
      </p:sp>
      <p:sp>
        <p:nvSpPr>
          <p:cNvPr id="3" name="PageNumber">
            <a:extLst>
              <a:ext uri="{FF2B5EF4-FFF2-40B4-BE49-F238E27FC236}">
                <a16:creationId xmlns:a16="http://schemas.microsoft.com/office/drawing/2014/main" id="{55356FF4-0A56-4703-92C0-C2AA9F8453DE}"/>
              </a:ext>
            </a:extLst>
          </p:cNvPr>
          <p:cNvSpPr txBox="1"/>
          <p:nvPr/>
        </p:nvSpPr>
        <p:spPr>
          <a:xfrm>
            <a:off x="10871200" y="6451600"/>
            <a:ext cx="863600" cy="330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it-IT">
                <a:solidFill>
                  <a:srgbClr val="1A253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07931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2DFF6C-0EE4-17F9-7C77-F79137930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sz="4000" b="1" dirty="0"/>
              <a:t>Grazie per l’attenzione</a:t>
            </a:r>
          </a:p>
        </p:txBody>
      </p:sp>
      <p:sp>
        <p:nvSpPr>
          <p:cNvPr id="3" name="thanks">
            <a:extLst>
              <a:ext uri="{FF2B5EF4-FFF2-40B4-BE49-F238E27FC236}">
                <a16:creationId xmlns:a16="http://schemas.microsoft.com/office/drawing/2014/main" id="{B2B1A6EE-80E6-4689-9F37-AA399134B200}"/>
              </a:ext>
            </a:extLst>
          </p:cNvPr>
          <p:cNvSpPr txBox="1"/>
          <p:nvPr/>
        </p:nvSpPr>
        <p:spPr>
          <a:xfrm>
            <a:off x="508000" y="3048000"/>
            <a:ext cx="111760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spcBef>
                <a:spcPts val="600"/>
              </a:spcBef>
              <a:buNone/>
            </a:pPr>
            <a:r>
              <a:rPr lang="it-IT" sz="2400" dirty="0">
                <a:solidFill>
                  <a:srgbClr val="1A2533"/>
                </a:solidFill>
              </a:rPr>
              <a:t>un ringraziamento al prof. Flavio Giobergia</a:t>
            </a:r>
          </a:p>
          <a:p>
            <a:pPr algn="ctr">
              <a:spcBef>
                <a:spcPts val="600"/>
              </a:spcBef>
              <a:buNone/>
            </a:pPr>
            <a:r>
              <a:rPr lang="it-IT" sz="2400" dirty="0">
                <a:solidFill>
                  <a:srgbClr val="1A2533"/>
                </a:solidFill>
              </a:rPr>
              <a:t>e ai dott. Sergio Caprioli ed Emanuele Cagliero di Intesa Sanpaolo</a:t>
            </a:r>
          </a:p>
          <a:p>
            <a:pPr algn="ctr">
              <a:spcBef>
                <a:spcPts val="600"/>
              </a:spcBef>
              <a:buNone/>
            </a:pPr>
            <a:r>
              <a:rPr lang="it-IT" sz="2400" b="1" dirty="0">
                <a:solidFill>
                  <a:srgbClr val="156082"/>
                </a:solidFill>
              </a:rPr>
              <a:t>sono a disposizione per le vostre domande</a:t>
            </a:r>
          </a:p>
        </p:txBody>
      </p:sp>
    </p:spTree>
    <p:extLst>
      <p:ext uri="{BB962C8B-B14F-4D97-AF65-F5344CB8AC3E}">
        <p14:creationId xmlns:p14="http://schemas.microsoft.com/office/powerpoint/2010/main" val="36934917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 [1788168264693]">
  <a:themeElements>
    <a:clrScheme name="Office">
      <a:dk1>
        <a:srgbClr val="1A2533"/>
      </a:dk1>
      <a:lt1>
        <a:srgbClr val="FFFFFF"/>
      </a:lt1>
      <a:dk2>
        <a:srgbClr val="0E2841"/>
      </a:dk2>
      <a:lt2>
        <a:srgbClr val="EDF2F7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Franklin Gothic Medium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22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E59CA54-215F-4E5F-9B48-B7A8C88F0766}">
  <we:reference id="wa200010725" version="1.0.0.1" store="it-IT" storeType="OMEX"/>
  <we:alternateReferences>
    <we:reference id="WA200010725" version="1.0.0.1" store="WA200010725" storeType="OMEX"/>
  </we:alternateReferences>
  <we:properties>
    <we:property name="claude.fileId" value="&quot;35b0f363-2090-4dd2-8dc7-bae7165deb4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677</Words>
  <Application>Microsoft Office PowerPoint</Application>
  <PresentationFormat>Widescreen</PresentationFormat>
  <Paragraphs>113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0" baseType="lpstr">
      <vt:lpstr>Arial</vt:lpstr>
      <vt:lpstr>Cambria Math</vt:lpstr>
      <vt:lpstr>Franklin Gothic Medium</vt:lpstr>
      <vt:lpstr>Segoe UI</vt:lpstr>
      <vt:lpstr>Tema di Office [1788168264693]</vt:lpstr>
      <vt:lpstr>Dai pixel ai portafogli finanziari: generare scenari di mercato realistici tramite variational autoencoder</vt:lpstr>
      <vt:lpstr>Indice</vt:lpstr>
      <vt:lpstr>Il problema e l’obiettivo</vt:lpstr>
      <vt:lpstr>La matrice di correlazione finanziaria</vt:lpstr>
      <vt:lpstr>Fatto 1 · correlazioni spostate verso il positivo</vt:lpstr>
      <vt:lpstr>Fatto 2 · spettro oltre la banda di Marchenko-Pastur</vt:lpstr>
      <vt:lpstr>Fatto 3 · Perron-Frobenius empirica: il market mode</vt:lpstr>
      <vt:lpstr>Fatto 4 · struttura gerarchica a blocchi settoriali</vt:lpstr>
      <vt:lpstr>Fatto 5 · minimum spanning tree invariante di scala</vt:lpstr>
      <vt:lpstr>Il dataset e il pre-processing</vt:lpstr>
      <vt:lpstr>Analisi dei modelli ricostruttivi</vt:lpstr>
      <vt:lpstr>Lo spazio latente del VAE</vt:lpstr>
      <vt:lpstr>Generazione di matrici sintetiche tramite VAE</vt:lpstr>
      <vt:lpstr>Validazione, limiti e conclusione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Magliano  Dylan</dc:creator>
  <cp:lastModifiedBy>Magliano  Dylan</cp:lastModifiedBy>
  <cp:revision>33</cp:revision>
  <dcterms:created xsi:type="dcterms:W3CDTF">2026-08-31T09:24:24Z</dcterms:created>
  <dcterms:modified xsi:type="dcterms:W3CDTF">2026-09-02T15:20:31Z</dcterms:modified>
</cp:coreProperties>
</file>